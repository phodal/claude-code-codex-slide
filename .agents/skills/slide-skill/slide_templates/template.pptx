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68580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79408" y="0"/>
            <a:ext cx="3212287" cy="68580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58368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Routa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1353312"/>
            <a:ext cx="603504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E8F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Color Token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E2E8F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Presentation Template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58368" y="2907792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一套基于 Routa 设计令牌自动生成的 16:9 演示模板。适合产品概览、方案提案、状态汇报与流程说明。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637776" y="1133856"/>
            <a:ext cx="1627632" cy="658368"/>
          </a:xfrm>
          <a:prstGeom prst="roundRect">
            <a:avLst>
              <a:gd name="adj" fmla="val 22222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93808" y="1362456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Coordinator Blue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9637776" y="2139696"/>
            <a:ext cx="1627632" cy="658368"/>
          </a:xfrm>
          <a:prstGeom prst="roundRect">
            <a:avLst>
              <a:gd name="adj" fmla="val 22222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93808" y="2368296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Crafter Amber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9637776" y="3145536"/>
            <a:ext cx="1627632" cy="658368"/>
          </a:xfrm>
          <a:prstGeom prst="roundRect">
            <a:avLst>
              <a:gd name="adj" fmla="val 22222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93808" y="3374136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 Emerald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637776" y="4151376"/>
            <a:ext cx="1627632" cy="658368"/>
          </a:xfrm>
          <a:prstGeom prst="roundRect">
            <a:avLst>
              <a:gd name="adj" fmla="val 22222"/>
            </a:avLst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93808" y="4379976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Signal Purple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58368" y="6437376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Copyright (c) Routa contributors. Released under the MIT License.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0088575" y="6455664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  ·  01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1679631" y="6437376"/>
            <a:ext cx="164592" cy="1645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786384"/>
            <a:ext cx="5413248" cy="532180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0" y="786384"/>
            <a:ext cx="4855464" cy="53218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" y="106070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78992" y="1536192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E8F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Workflow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E2E8F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Overview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78992" y="294436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用章节页隔断内容，适合切换主题、阶段、模块或目标。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321040" y="2212848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552944" y="3456432"/>
            <a:ext cx="3017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A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Coordinator blue drives section transitions.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EA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Amber can be swapped in for execution-heavy chapters.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" y="6437376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6C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Copyright (c) Routa contributors. Released under the MIT License.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0088575" y="6455664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6C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 ·  02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1679631" y="6437376"/>
            <a:ext cx="164592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"/>
            <a:ext cx="12191695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164592"/>
            <a:ext cx="1444752" cy="310896"/>
          </a:xfrm>
          <a:prstGeom prst="rect">
            <a:avLst/>
          </a:prstGeom>
          <a:solidFill>
            <a:srgbClr val="3B82F6"/>
          </a:solidFill>
          <a:ln>
            <a:solidFill>
              <a:srgbClr val="3B82F6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475488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模板结构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58368" y="1207008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这页适合目录、议程、路线图，也可以替换成项目范围或交付边界。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58368" y="2029968"/>
            <a:ext cx="5212080" cy="36758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032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96112" y="2286000"/>
            <a:ext cx="164592" cy="316382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2249424"/>
            <a:ext cx="4443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Sections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2724912"/>
            <a:ext cx="4443984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背景与目标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当前状态与关键问题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方案设计与执行路径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 风险、资源与下一步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89904" y="2029968"/>
            <a:ext cx="5440680" cy="3675888"/>
          </a:xfrm>
          <a:prstGeom prst="roundRect">
            <a:avLst>
              <a:gd name="adj" fmla="val 348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032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27648" y="2286000"/>
            <a:ext cx="164592" cy="31638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0256" y="2249424"/>
            <a:ext cx="4672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Layout Guidance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20256" y="2724912"/>
            <a:ext cx="4672584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保持标题短促，正文每块不超过 4 条。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优先用浅色底的卡片承载信息，再用蓝 / 橙 / 绿做状态强调。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章节页和封面可以切换到深色背景形成节奏变化。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58368" y="6217920"/>
            <a:ext cx="10874959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6437376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Copyright (c) Routa contributors. Released under the MIT License.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0088575" y="6455664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  ·  03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1679631" y="6437376"/>
            <a:ext cx="164592" cy="1645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"/>
            <a:ext cx="12191695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164592"/>
            <a:ext cx="1444752" cy="310896"/>
          </a:xfrm>
          <a:prstGeom prst="rect">
            <a:avLst/>
          </a:prstGeom>
          <a:solidFill>
            <a:srgbClr val="10B981"/>
          </a:solidFill>
          <a:ln>
            <a:solidFill>
              <a:srgbClr val="10B981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475488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双栏内容页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58368" y="1207008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左侧放论点和步骤，右侧放引用、图示、关键结论或风险说明。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58368" y="2029968"/>
            <a:ext cx="4892040" cy="3803904"/>
          </a:xfrm>
          <a:prstGeom prst="roundRect">
            <a:avLst>
              <a:gd name="adj" fmla="val 336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032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96112" y="2286000"/>
            <a:ext cx="164592" cy="32918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2249424"/>
            <a:ext cx="4123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Narrative Flow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2724912"/>
            <a:ext cx="4123944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69264" y="2761488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2688336"/>
            <a:ext cx="4059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用 3 到 4 个层级清晰的小标题组织论证。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69264" y="3182112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108960"/>
            <a:ext cx="4059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每一点保持单一语义，避免一行里塞入多个结论。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69264" y="3602736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3529584"/>
            <a:ext cx="4059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关键动作使用蓝 / 橙色强调，验证结果使用绿色强调。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69264" y="4023360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0432" y="3950208"/>
            <a:ext cx="4059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如果内容偏密，可以把右侧改成图示区或截图区。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650992" y="2029968"/>
            <a:ext cx="5870448" cy="3803904"/>
          </a:xfrm>
          <a:prstGeom prst="roundRect">
            <a:avLst>
              <a:gd name="adj" fmla="val 3365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16752" y="245059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Callout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016752" y="2834640"/>
            <a:ext cx="4937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“用深色引用区承载一句主结论，可以迅速建立页面视觉重心。”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016752" y="4992624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适用场景：方案总结、用户洞察、项目原则、评审结论。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58368" y="6217920"/>
            <a:ext cx="10874959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6437376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Copyright (c) Routa contributors. Released under the MIT License.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0088575" y="6455664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  ·  04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1679631" y="6437376"/>
            <a:ext cx="164592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"/>
            <a:ext cx="12191695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164592"/>
            <a:ext cx="1444752" cy="310896"/>
          </a:xfrm>
          <a:prstGeom prst="rect">
            <a:avLst/>
          </a:prstGeom>
          <a:solidFill>
            <a:srgbClr val="F59E0B"/>
          </a:solidFill>
          <a:ln>
            <a:solidFill>
              <a:srgbClr val="F59E0B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475488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指标 / 状态页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58368" y="1207008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用于项目周报、运营概览、交付状态或多角色协作看板。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58368" y="1993392"/>
            <a:ext cx="2670048" cy="1335024"/>
          </a:xfrm>
          <a:prstGeom prst="roundRect">
            <a:avLst>
              <a:gd name="adj" fmla="val 8219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2157984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Coordinator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9536" y="2432304"/>
            <a:ext cx="2267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59536" y="2926080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active sessions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547872" y="1993392"/>
            <a:ext cx="2670048" cy="1335024"/>
          </a:xfrm>
          <a:prstGeom prst="roundRect">
            <a:avLst>
              <a:gd name="adj" fmla="val 8219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0" y="2157984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Crafter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49040" y="2432304"/>
            <a:ext cx="2267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08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749040" y="2926080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tasks in progress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37376" y="1993392"/>
            <a:ext cx="2670048" cy="1335024"/>
          </a:xfrm>
          <a:prstGeom prst="roundRect">
            <a:avLst>
              <a:gd name="adj" fmla="val 8219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38544" y="2157984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638544" y="2432304"/>
            <a:ext cx="2267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96%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638544" y="2926080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verification pass rate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326880" y="1993392"/>
            <a:ext cx="2670048" cy="1335024"/>
          </a:xfrm>
          <a:prstGeom prst="roundRect">
            <a:avLst>
              <a:gd name="adj" fmla="val 8219"/>
            </a:avLst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28048" y="2157984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528048" y="2432304"/>
            <a:ext cx="2267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528048" y="2926080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blocked items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58368" y="3566160"/>
            <a:ext cx="5687568" cy="2212848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0320" dist="127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96112" y="3822192"/>
            <a:ext cx="164592" cy="170078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88720" y="3785616"/>
            <a:ext cx="4919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Status Summary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88720" y="4261104"/>
            <a:ext cx="491947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用左下大卡片承接趋势、说明、结论或风险动作。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如果要放图表，可以直接用这块区域替换成柱状图、漏斗图或时间线。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961888" y="3566160"/>
            <a:ext cx="2706624" cy="2212848"/>
          </a:xfrm>
          <a:prstGeom prst="roundRect">
            <a:avLst>
              <a:gd name="adj" fmla="val 578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0320" dist="12700" dir="27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99632" y="3822192"/>
            <a:ext cx="164592" cy="17007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0" y="3785616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Up Next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92240" y="4261104"/>
            <a:ext cx="193852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锁定负责人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清理阻塞项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推进评审闭环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942832" y="3566160"/>
            <a:ext cx="2596896" cy="2212848"/>
          </a:xfrm>
          <a:prstGeom prst="roundRect">
            <a:avLst>
              <a:gd name="adj" fmla="val 5785"/>
            </a:avLst>
          </a:prstGeom>
          <a:solidFill>
            <a:srgbClr val="FAF5FF"/>
          </a:solidFill>
          <a:ln w="12700">
            <a:solidFill>
              <a:srgbClr val="E9D5FF"/>
            </a:solidFill>
            <a:prstDash val="solid"/>
          </a:ln>
          <a:effectLst>
            <a:outerShdw sx="100000" sy="100000" kx="0" ky="0" algn="bl" rotWithShape="0" blurRad="20320" dist="12700" dir="27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180576" y="3822192"/>
            <a:ext cx="164592" cy="170078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473184" y="378561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Signal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473184" y="4261104"/>
            <a:ext cx="182880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用紫色卡片专门承载亮点、AI 提示或需要被记住的一句结论。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58368" y="6217920"/>
            <a:ext cx="10874959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" y="6437376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Copyright (c) Routa contributors. Released under the MIT License.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0088575" y="6455664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Metrics  ·  05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1679631" y="6437376"/>
            <a:ext cx="164592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"/>
            <a:ext cx="12191695" cy="7315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164592"/>
            <a:ext cx="1444752" cy="310896"/>
          </a:xfrm>
          <a:prstGeom prst="rect">
            <a:avLst/>
          </a:prstGeom>
          <a:solidFill>
            <a:srgbClr val="A855F7"/>
          </a:solidFill>
          <a:ln>
            <a:solidFill>
              <a:srgbClr val="A855F7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475488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色板参考页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58368" y="1207008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所有主色和语义别名都来自 `src/color-tokens.mjs`，可以作为后续模板二次开发的基准。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8368" y="23774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Coordinator Blue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993392" y="2340864"/>
            <a:ext cx="676656" cy="402336"/>
          </a:xfrm>
          <a:prstGeom prst="roundRect">
            <a:avLst>
              <a:gd name="adj" fmla="val 18182"/>
            </a:avLst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93392" y="2798064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50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798064" y="2340864"/>
            <a:ext cx="676656" cy="402336"/>
          </a:xfrm>
          <a:prstGeom prst="roundRect">
            <a:avLst>
              <a:gd name="adj" fmla="val 18182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98064" y="2798064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100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602736" y="2340864"/>
            <a:ext cx="676656" cy="402336"/>
          </a:xfrm>
          <a:prstGeom prst="roundRect">
            <a:avLst>
              <a:gd name="adj" fmla="val 18182"/>
            </a:avLst>
          </a:prstGeom>
          <a:solidFill>
            <a:srgbClr val="BFDBFE"/>
          </a:solidFill>
          <a:ln w="12700">
            <a:solidFill>
              <a:srgbClr val="BFDBF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02736" y="2798064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200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407408" y="2340864"/>
            <a:ext cx="676656" cy="402336"/>
          </a:xfrm>
          <a:prstGeom prst="roundRect">
            <a:avLst>
              <a:gd name="adj" fmla="val 18182"/>
            </a:avLst>
          </a:prstGeom>
          <a:solidFill>
            <a:srgbClr val="93C5FD"/>
          </a:solidFill>
          <a:ln w="12700">
            <a:solidFill>
              <a:srgbClr val="93C5F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07408" y="2798064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300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5212080" y="2340864"/>
            <a:ext cx="676656" cy="402336"/>
          </a:xfrm>
          <a:prstGeom prst="roundRect">
            <a:avLst>
              <a:gd name="adj" fmla="val 18182"/>
            </a:avLst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0" y="2798064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400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6016752" y="2340864"/>
            <a:ext cx="676656" cy="402336"/>
          </a:xfrm>
          <a:prstGeom prst="roundRect">
            <a:avLst>
              <a:gd name="adj" fmla="val 18182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16752" y="2798064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500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821424" y="2340864"/>
            <a:ext cx="676656" cy="402336"/>
          </a:xfrm>
          <a:prstGeom prst="roundRect">
            <a:avLst>
              <a:gd name="adj" fmla="val 18182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21424" y="2798064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600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626096" y="2340864"/>
            <a:ext cx="676656" cy="402336"/>
          </a:xfrm>
          <a:prstGeom prst="roundRect">
            <a:avLst>
              <a:gd name="adj" fmla="val 18182"/>
            </a:avLst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26096" y="2798064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700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8430768" y="2340864"/>
            <a:ext cx="676656" cy="402336"/>
          </a:xfrm>
          <a:prstGeom prst="roundRect">
            <a:avLst>
              <a:gd name="adj" fmla="val 18182"/>
            </a:avLst>
          </a:prstGeom>
          <a:solidFill>
            <a:srgbClr val="1E40AF"/>
          </a:solidFill>
          <a:ln w="12700">
            <a:solidFill>
              <a:srgbClr val="1E40A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30768" y="2798064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800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9235440" y="2340864"/>
            <a:ext cx="676656" cy="402336"/>
          </a:xfrm>
          <a:prstGeom prst="roundRect">
            <a:avLst>
              <a:gd name="adj" fmla="val 18182"/>
            </a:avLst>
          </a:prstGeom>
          <a:solidFill>
            <a:srgbClr val="1E3A8A"/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35440" y="2798064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900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58368" y="29992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Crafter Amber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993392" y="2962656"/>
            <a:ext cx="676656" cy="402336"/>
          </a:xfrm>
          <a:prstGeom prst="roundRect">
            <a:avLst>
              <a:gd name="adj" fmla="val 18182"/>
            </a:avLst>
          </a:prstGeom>
          <a:solidFill>
            <a:srgbClr val="FFFBEB"/>
          </a:solidFill>
          <a:ln w="12700">
            <a:solidFill>
              <a:srgbClr val="FFFBEB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93392" y="3419856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50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798064" y="2962656"/>
            <a:ext cx="676656" cy="402336"/>
          </a:xfrm>
          <a:prstGeom prst="roundRect">
            <a:avLst>
              <a:gd name="adj" fmla="val 18182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98064" y="3419856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100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602736" y="2962656"/>
            <a:ext cx="676656" cy="402336"/>
          </a:xfrm>
          <a:prstGeom prst="roundRect">
            <a:avLst>
              <a:gd name="adj" fmla="val 18182"/>
            </a:avLst>
          </a:prstGeom>
          <a:solidFill>
            <a:srgbClr val="FDE68A"/>
          </a:solidFill>
          <a:ln w="12700">
            <a:solidFill>
              <a:srgbClr val="FDE68A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02736" y="3419856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200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407408" y="2962656"/>
            <a:ext cx="676656" cy="402336"/>
          </a:xfrm>
          <a:prstGeom prst="roundRect">
            <a:avLst>
              <a:gd name="adj" fmla="val 18182"/>
            </a:avLst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07408" y="3419856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300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5212080" y="2962656"/>
            <a:ext cx="676656" cy="402336"/>
          </a:xfrm>
          <a:prstGeom prst="roundRect">
            <a:avLst>
              <a:gd name="adj" fmla="val 18182"/>
            </a:avLst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12080" y="3419856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400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6016752" y="2962656"/>
            <a:ext cx="676656" cy="402336"/>
          </a:xfrm>
          <a:prstGeom prst="roundRect">
            <a:avLst>
              <a:gd name="adj" fmla="val 18182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16752" y="3419856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500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6821424" y="2962656"/>
            <a:ext cx="676656" cy="402336"/>
          </a:xfrm>
          <a:prstGeom prst="roundRect">
            <a:avLst>
              <a:gd name="adj" fmla="val 18182"/>
            </a:avLst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21424" y="3419856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600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7626096" y="2962656"/>
            <a:ext cx="676656" cy="402336"/>
          </a:xfrm>
          <a:prstGeom prst="roundRect">
            <a:avLst>
              <a:gd name="adj" fmla="val 18182"/>
            </a:avLst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626096" y="3419856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700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8430768" y="2962656"/>
            <a:ext cx="676656" cy="402336"/>
          </a:xfrm>
          <a:prstGeom prst="roundRect">
            <a:avLst>
              <a:gd name="adj" fmla="val 18182"/>
            </a:avLst>
          </a:prstGeom>
          <a:solidFill>
            <a:srgbClr val="92400E"/>
          </a:solidFill>
          <a:ln w="12700">
            <a:solidFill>
              <a:srgbClr val="92400E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430768" y="3419856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800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9235440" y="2962656"/>
            <a:ext cx="676656" cy="402336"/>
          </a:xfrm>
          <a:prstGeom prst="roundRect">
            <a:avLst>
              <a:gd name="adj" fmla="val 18182"/>
            </a:avLst>
          </a:prstGeom>
          <a:solidFill>
            <a:srgbClr val="78350F"/>
          </a:solidFill>
          <a:ln w="12700">
            <a:solidFill>
              <a:srgbClr val="78350F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235440" y="3419856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900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658368" y="362102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 Emerald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1993392" y="3584448"/>
            <a:ext cx="676656" cy="402336"/>
          </a:xfrm>
          <a:prstGeom prst="roundRect">
            <a:avLst>
              <a:gd name="adj" fmla="val 18182"/>
            </a:avLst>
          </a:prstGeom>
          <a:solidFill>
            <a:srgbClr val="ECFDF5"/>
          </a:solidFill>
          <a:ln w="12700">
            <a:solidFill>
              <a:srgbClr val="ECFDF5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993392" y="4041648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50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2798064" y="3584448"/>
            <a:ext cx="676656" cy="402336"/>
          </a:xfrm>
          <a:prstGeom prst="roundRect">
            <a:avLst>
              <a:gd name="adj" fmla="val 18182"/>
            </a:avLst>
          </a:prstGeom>
          <a:solidFill>
            <a:srgbClr val="D1FAE5"/>
          </a:solidFill>
          <a:ln w="12700">
            <a:solidFill>
              <a:srgbClr val="D1FAE5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798064" y="4041648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100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3602736" y="3584448"/>
            <a:ext cx="676656" cy="402336"/>
          </a:xfrm>
          <a:prstGeom prst="roundRect">
            <a:avLst>
              <a:gd name="adj" fmla="val 18182"/>
            </a:avLst>
          </a:prstGeom>
          <a:solidFill>
            <a:srgbClr val="A7F3D0"/>
          </a:solidFill>
          <a:ln w="12700">
            <a:solidFill>
              <a:srgbClr val="A7F3D0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602736" y="4041648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200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4407408" y="3584448"/>
            <a:ext cx="676656" cy="402336"/>
          </a:xfrm>
          <a:prstGeom prst="roundRect">
            <a:avLst>
              <a:gd name="adj" fmla="val 18182"/>
            </a:avLst>
          </a:prstGeom>
          <a:solidFill>
            <a:srgbClr val="6EE7B7"/>
          </a:solidFill>
          <a:ln w="12700">
            <a:solidFill>
              <a:srgbClr val="6EE7B7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407408" y="4041648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300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5212080" y="3584448"/>
            <a:ext cx="676656" cy="402336"/>
          </a:xfrm>
          <a:prstGeom prst="roundRect">
            <a:avLst>
              <a:gd name="adj" fmla="val 18182"/>
            </a:avLst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212080" y="4041648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400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6016752" y="3584448"/>
            <a:ext cx="676656" cy="402336"/>
          </a:xfrm>
          <a:prstGeom prst="roundRect">
            <a:avLst>
              <a:gd name="adj" fmla="val 18182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016752" y="4041648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500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6821424" y="3584448"/>
            <a:ext cx="676656" cy="402336"/>
          </a:xfrm>
          <a:prstGeom prst="roundRect">
            <a:avLst>
              <a:gd name="adj" fmla="val 18182"/>
            </a:avLst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821424" y="4041648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600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7626096" y="3584448"/>
            <a:ext cx="676656" cy="402336"/>
          </a:xfrm>
          <a:prstGeom prst="roundRect">
            <a:avLst>
              <a:gd name="adj" fmla="val 1818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626096" y="4041648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700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8430768" y="3584448"/>
            <a:ext cx="676656" cy="402336"/>
          </a:xfrm>
          <a:prstGeom prst="roundRect">
            <a:avLst>
              <a:gd name="adj" fmla="val 18182"/>
            </a:avLst>
          </a:prstGeom>
          <a:solidFill>
            <a:srgbClr val="065F46"/>
          </a:solidFill>
          <a:ln w="12700">
            <a:solidFill>
              <a:srgbClr val="065F46">
                <a:alpha val="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430768" y="4041648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800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9235440" y="3584448"/>
            <a:ext cx="676656" cy="402336"/>
          </a:xfrm>
          <a:prstGeom prst="roundRect">
            <a:avLst>
              <a:gd name="adj" fmla="val 18182"/>
            </a:avLst>
          </a:prstGeom>
          <a:solidFill>
            <a:srgbClr val="064E3B"/>
          </a:solidFill>
          <a:ln w="12700">
            <a:solidFill>
              <a:srgbClr val="064E3B">
                <a:alpha val="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235440" y="4041648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900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658368" y="424281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Signal Purple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1993392" y="4206240"/>
            <a:ext cx="676656" cy="402336"/>
          </a:xfrm>
          <a:prstGeom prst="roundRect">
            <a:avLst>
              <a:gd name="adj" fmla="val 18182"/>
            </a:avLst>
          </a:prstGeom>
          <a:solidFill>
            <a:srgbClr val="FAF5FF"/>
          </a:solidFill>
          <a:ln w="12700">
            <a:solidFill>
              <a:srgbClr val="FAF5FF">
                <a:alpha val="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993392" y="4663440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50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2798064" y="4206240"/>
            <a:ext cx="676656" cy="402336"/>
          </a:xfrm>
          <a:prstGeom prst="roundRect">
            <a:avLst>
              <a:gd name="adj" fmla="val 18182"/>
            </a:avLst>
          </a:prstGeom>
          <a:solidFill>
            <a:srgbClr val="F3E8FF"/>
          </a:solidFill>
          <a:ln w="12700">
            <a:solidFill>
              <a:srgbClr val="F3E8FF">
                <a:alpha val="0"/>
              </a:srgbClr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798064" y="4663440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100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3602736" y="4206240"/>
            <a:ext cx="676656" cy="402336"/>
          </a:xfrm>
          <a:prstGeom prst="roundRect">
            <a:avLst>
              <a:gd name="adj" fmla="val 18182"/>
            </a:avLst>
          </a:prstGeom>
          <a:solidFill>
            <a:srgbClr val="E9D5FF"/>
          </a:solidFill>
          <a:ln w="12700">
            <a:solidFill>
              <a:srgbClr val="E9D5FF">
                <a:alpha val="0"/>
              </a:srgbClr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602736" y="4663440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200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4407408" y="4206240"/>
            <a:ext cx="676656" cy="402336"/>
          </a:xfrm>
          <a:prstGeom prst="roundRect">
            <a:avLst>
              <a:gd name="adj" fmla="val 18182"/>
            </a:avLst>
          </a:prstGeom>
          <a:solidFill>
            <a:srgbClr val="D8B4FE"/>
          </a:solidFill>
          <a:ln w="12700">
            <a:solidFill>
              <a:srgbClr val="D8B4FE">
                <a:alpha val="0"/>
              </a:srgbClr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407408" y="4663440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300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5212080" y="4206240"/>
            <a:ext cx="676656" cy="402336"/>
          </a:xfrm>
          <a:prstGeom prst="roundRect">
            <a:avLst>
              <a:gd name="adj" fmla="val 18182"/>
            </a:avLst>
          </a:prstGeom>
          <a:solidFill>
            <a:srgbClr val="C084FC"/>
          </a:solidFill>
          <a:ln w="12700">
            <a:solidFill>
              <a:srgbClr val="C084FC">
                <a:alpha val="0"/>
              </a:srgbClr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212080" y="4663440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400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6016752" y="4206240"/>
            <a:ext cx="676656" cy="402336"/>
          </a:xfrm>
          <a:prstGeom prst="roundRect">
            <a:avLst>
              <a:gd name="adj" fmla="val 18182"/>
            </a:avLst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016752" y="4663440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500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6821424" y="4206240"/>
            <a:ext cx="676656" cy="402336"/>
          </a:xfrm>
          <a:prstGeom prst="roundRect">
            <a:avLst>
              <a:gd name="adj" fmla="val 18182"/>
            </a:avLst>
          </a:prstGeom>
          <a:solidFill>
            <a:srgbClr val="9333EA"/>
          </a:solidFill>
          <a:ln w="12700">
            <a:solidFill>
              <a:srgbClr val="9333EA">
                <a:alpha val="0"/>
              </a:srgbClr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821424" y="4663440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600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7626096" y="4206240"/>
            <a:ext cx="676656" cy="402336"/>
          </a:xfrm>
          <a:prstGeom prst="roundRect">
            <a:avLst>
              <a:gd name="adj" fmla="val 18182"/>
            </a:avLst>
          </a:prstGeom>
          <a:solidFill>
            <a:srgbClr val="7E22CE"/>
          </a:solidFill>
          <a:ln w="12700">
            <a:solidFill>
              <a:srgbClr val="7E22CE">
                <a:alpha val="0"/>
              </a:srgbClr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626096" y="4663440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700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8430768" y="4206240"/>
            <a:ext cx="676656" cy="402336"/>
          </a:xfrm>
          <a:prstGeom prst="roundRect">
            <a:avLst>
              <a:gd name="adj" fmla="val 18182"/>
            </a:avLst>
          </a:prstGeom>
          <a:solidFill>
            <a:srgbClr val="6B21A8"/>
          </a:solidFill>
          <a:ln w="12700">
            <a:solidFill>
              <a:srgbClr val="6B21A8">
                <a:alpha val="0"/>
              </a:srgbClr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8430768" y="4663440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800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9235440" y="4206240"/>
            <a:ext cx="676656" cy="402336"/>
          </a:xfrm>
          <a:prstGeom prst="roundRect">
            <a:avLst>
              <a:gd name="adj" fmla="val 18182"/>
            </a:avLst>
          </a:prstGeom>
          <a:solidFill>
            <a:srgbClr val="581C87"/>
          </a:solidFill>
          <a:ln w="12700">
            <a:solidFill>
              <a:srgbClr val="581C87">
                <a:alpha val="0"/>
              </a:srgbClr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9235440" y="4663440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900</a:t>
            </a:r>
            <a:endParaRPr lang="en-US" sz="750" dirty="0"/>
          </a:p>
        </p:txBody>
      </p:sp>
      <p:sp>
        <p:nvSpPr>
          <p:cNvPr id="90" name="Text 88"/>
          <p:cNvSpPr/>
          <p:nvPr/>
        </p:nvSpPr>
        <p:spPr>
          <a:xfrm>
            <a:off x="658368" y="486460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Slate Neutral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1993392" y="4828032"/>
            <a:ext cx="676656" cy="402336"/>
          </a:xfrm>
          <a:prstGeom prst="roundRect">
            <a:avLst>
              <a:gd name="adj" fmla="val 18182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993392" y="5285232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50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2798064" y="4828032"/>
            <a:ext cx="676656" cy="402336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2798064" y="5285232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100</a:t>
            </a:r>
            <a:endParaRPr lang="en-US" sz="750" dirty="0"/>
          </a:p>
        </p:txBody>
      </p:sp>
      <p:sp>
        <p:nvSpPr>
          <p:cNvPr id="95" name="Shape 93"/>
          <p:cNvSpPr/>
          <p:nvPr/>
        </p:nvSpPr>
        <p:spPr>
          <a:xfrm>
            <a:off x="3602736" y="4828032"/>
            <a:ext cx="676656" cy="402336"/>
          </a:xfrm>
          <a:prstGeom prst="roundRect">
            <a:avLst>
              <a:gd name="adj" fmla="val 1818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3602736" y="5285232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200</a:t>
            </a:r>
            <a:endParaRPr lang="en-US" sz="750" dirty="0"/>
          </a:p>
        </p:txBody>
      </p:sp>
      <p:sp>
        <p:nvSpPr>
          <p:cNvPr id="97" name="Shape 95"/>
          <p:cNvSpPr/>
          <p:nvPr/>
        </p:nvSpPr>
        <p:spPr>
          <a:xfrm>
            <a:off x="4407408" y="4828032"/>
            <a:ext cx="676656" cy="402336"/>
          </a:xfrm>
          <a:prstGeom prst="roundRect">
            <a:avLst>
              <a:gd name="adj" fmla="val 18182"/>
            </a:avLst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407408" y="5285232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300</a:t>
            </a:r>
            <a:endParaRPr lang="en-US" sz="750" dirty="0"/>
          </a:p>
        </p:txBody>
      </p:sp>
      <p:sp>
        <p:nvSpPr>
          <p:cNvPr id="99" name="Shape 97"/>
          <p:cNvSpPr/>
          <p:nvPr/>
        </p:nvSpPr>
        <p:spPr>
          <a:xfrm>
            <a:off x="5212080" y="4828032"/>
            <a:ext cx="676656" cy="402336"/>
          </a:xfrm>
          <a:prstGeom prst="roundRect">
            <a:avLst>
              <a:gd name="adj" fmla="val 18182"/>
            </a:avLst>
          </a:prstGeom>
          <a:solidFill>
            <a:srgbClr val="94A3B8"/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5212080" y="5285232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400</a:t>
            </a:r>
            <a:endParaRPr lang="en-US" sz="750" dirty="0"/>
          </a:p>
        </p:txBody>
      </p:sp>
      <p:sp>
        <p:nvSpPr>
          <p:cNvPr id="101" name="Shape 99"/>
          <p:cNvSpPr/>
          <p:nvPr/>
        </p:nvSpPr>
        <p:spPr>
          <a:xfrm>
            <a:off x="6016752" y="4828032"/>
            <a:ext cx="676656" cy="402336"/>
          </a:xfrm>
          <a:prstGeom prst="roundRect">
            <a:avLst>
              <a:gd name="adj" fmla="val 18182"/>
            </a:avLst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6016752" y="5285232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500</a:t>
            </a:r>
            <a:endParaRPr lang="en-US" sz="750" dirty="0"/>
          </a:p>
        </p:txBody>
      </p:sp>
      <p:sp>
        <p:nvSpPr>
          <p:cNvPr id="103" name="Shape 101"/>
          <p:cNvSpPr/>
          <p:nvPr/>
        </p:nvSpPr>
        <p:spPr>
          <a:xfrm>
            <a:off x="6821424" y="4828032"/>
            <a:ext cx="676656" cy="402336"/>
          </a:xfrm>
          <a:prstGeom prst="roundRect">
            <a:avLst>
              <a:gd name="adj" fmla="val 18182"/>
            </a:avLst>
          </a:prstGeom>
          <a:solidFill>
            <a:srgbClr val="475569"/>
          </a:solidFill>
          <a:ln w="12700">
            <a:solidFill>
              <a:srgbClr val="475569">
                <a:alpha val="0"/>
              </a:srgbClr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6821424" y="5285232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600</a:t>
            </a:r>
            <a:endParaRPr lang="en-US" sz="750" dirty="0"/>
          </a:p>
        </p:txBody>
      </p:sp>
      <p:sp>
        <p:nvSpPr>
          <p:cNvPr id="105" name="Shape 103"/>
          <p:cNvSpPr/>
          <p:nvPr/>
        </p:nvSpPr>
        <p:spPr>
          <a:xfrm>
            <a:off x="7626096" y="4828032"/>
            <a:ext cx="676656" cy="402336"/>
          </a:xfrm>
          <a:prstGeom prst="roundRect">
            <a:avLst>
              <a:gd name="adj" fmla="val 18182"/>
            </a:avLst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7626096" y="5285232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700</a:t>
            </a:r>
            <a:endParaRPr lang="en-US" sz="750" dirty="0"/>
          </a:p>
        </p:txBody>
      </p:sp>
      <p:sp>
        <p:nvSpPr>
          <p:cNvPr id="107" name="Shape 105"/>
          <p:cNvSpPr/>
          <p:nvPr/>
        </p:nvSpPr>
        <p:spPr>
          <a:xfrm>
            <a:off x="8430768" y="4828032"/>
            <a:ext cx="676656" cy="402336"/>
          </a:xfrm>
          <a:prstGeom prst="roundRect">
            <a:avLst>
              <a:gd name="adj" fmla="val 18182"/>
            </a:avLst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8430768" y="5285232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800</a:t>
            </a:r>
            <a:endParaRPr lang="en-US" sz="750" dirty="0"/>
          </a:p>
        </p:txBody>
      </p:sp>
      <p:sp>
        <p:nvSpPr>
          <p:cNvPr id="109" name="Shape 107"/>
          <p:cNvSpPr/>
          <p:nvPr/>
        </p:nvSpPr>
        <p:spPr>
          <a:xfrm>
            <a:off x="9235440" y="4828032"/>
            <a:ext cx="676656" cy="402336"/>
          </a:xfrm>
          <a:prstGeom prst="roundRect">
            <a:avLst>
              <a:gd name="adj" fmla="val 18182"/>
            </a:avLst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9235440" y="5285232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900</a:t>
            </a:r>
            <a:endParaRPr lang="en-US" sz="750" dirty="0"/>
          </a:p>
        </p:txBody>
      </p:sp>
      <p:sp>
        <p:nvSpPr>
          <p:cNvPr id="111" name="Shape 109"/>
          <p:cNvSpPr/>
          <p:nvPr/>
        </p:nvSpPr>
        <p:spPr>
          <a:xfrm>
            <a:off x="658368" y="6217920"/>
            <a:ext cx="10874959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658368" y="6437376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Copyright (c) Routa contributors. Released under the MIT License.</a:t>
            </a:r>
            <a:endParaRPr lang="en-US" sz="750" dirty="0"/>
          </a:p>
        </p:txBody>
      </p:sp>
      <p:sp>
        <p:nvSpPr>
          <p:cNvPr id="113" name="Text 111"/>
          <p:cNvSpPr/>
          <p:nvPr/>
        </p:nvSpPr>
        <p:spPr>
          <a:xfrm>
            <a:off x="10088575" y="6455664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Palette  ·  06</a:t>
            </a:r>
            <a:endParaRPr lang="en-US" sz="800" dirty="0"/>
          </a:p>
        </p:txBody>
      </p:sp>
      <p:sp>
        <p:nvSpPr>
          <p:cNvPr id="114" name="Shape 112"/>
          <p:cNvSpPr/>
          <p:nvPr/>
        </p:nvSpPr>
        <p:spPr>
          <a:xfrm>
            <a:off x="11679631" y="6437376"/>
            <a:ext cx="164592" cy="16459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31536"/>
            <a:ext cx="12191695" cy="1426464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932688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58368" y="1719072"/>
            <a:ext cx="4663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这个模板已经把 Routa 的品牌语义色和汇报常用版式打包好了。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后续只需要替换文案、图表和截图。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3749040"/>
            <a:ext cx="1261872" cy="310896"/>
          </a:xfrm>
          <a:prstGeom prst="rect">
            <a:avLst/>
          </a:prstGeom>
          <a:solidFill>
            <a:srgbClr val="3B82F6"/>
          </a:solidFill>
          <a:ln>
            <a:solidFill>
              <a:srgbClr val="3B82F6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primary-action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103120" y="3749040"/>
            <a:ext cx="1261872" cy="310896"/>
          </a:xfrm>
          <a:prstGeom prst="rect">
            <a:avLst/>
          </a:prstGeom>
          <a:solidFill>
            <a:srgbClr val="F59E0B"/>
          </a:solidFill>
          <a:ln>
            <a:solidFill>
              <a:srgbClr val="F59E0B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547872" y="3749040"/>
            <a:ext cx="1261872" cy="310896"/>
          </a:xfrm>
          <a:prstGeom prst="rect">
            <a:avLst/>
          </a:prstGeom>
          <a:solidFill>
            <a:srgbClr val="10B981"/>
          </a:solidFill>
          <a:ln>
            <a:solidFill>
              <a:srgbClr val="10B981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992624" y="3749040"/>
            <a:ext cx="1261872" cy="310896"/>
          </a:xfrm>
          <a:prstGeom prst="rect">
            <a:avLst/>
          </a:prstGeom>
          <a:solidFill>
            <a:srgbClr val="A855F7"/>
          </a:solidFill>
          <a:ln>
            <a:solidFill>
              <a:srgbClr val="A855F7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8368" y="5870448"/>
            <a:ext cx="5577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routa-js/tools/ppt-template/dist/routa-color-template.pptx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58368" y="6437376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Copyright (c) Routa contributors. Released under the MIT License.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0088575" y="6455664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Closing  ·  07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1679631" y="6437376"/>
            <a:ext cx="164592" cy="1645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Routa.js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Routa Color Token Template</dc:title>
  <dc:subject>Routa color token PowerPoint template</dc:subject>
  <dc:creator>OpenAI Codex</dc:creator>
  <cp:lastModifiedBy>OpenAI Codex</cp:lastModifiedBy>
  <cp:revision>1</cp:revision>
  <dcterms:created xsi:type="dcterms:W3CDTF">2026-03-27T09:06:56Z</dcterms:created>
  <dcterms:modified xsi:type="dcterms:W3CDTF">2026-03-27T09:06:56Z</dcterms:modified>
</cp:coreProperties>
</file>