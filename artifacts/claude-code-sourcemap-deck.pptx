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README.md
- extract-sources.js
- /Users/phodal/Downloads/claude-code-sourcemap-main/artifacts/qrcode_for_gh_2afe73fc7b4a_258.jpg
- /Users/phodal/Downloads/claude-code-sourcemap-main/.agents/skills/slide-skill/slide_templates/template.pptx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README.md
- extract-sources.js
- package/package.json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README.md
- restored-src/src/ directory census
- find restored-src/src -name '*.ts' -o -name '*.tsx' | wc -l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/Users/phodal/Downloads/claude-code-sourcemap-main/.agents/skills/slide-skill/slide_templates/template.pptx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restored-src/src/entrypoints/cli.tsx
- restored-src/src/main.tsx
- restored-src/src/QueryEngine.ts
- restored-src/src/query.ts
- restored-src/src/services/tools/toolExecution.ts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restored-src/src/QueryEngine.ts
- restored-src/src/query.ts
- restored-src/src/services/tools/toolExecution.ts
- restored-src/src/tools/AgentTool/runAgent.ts
- restored-src/src/utils/swarm/inProcessRunner.ts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/Users/phodal/Downloads/claude-code-sourcemap-main/.agents/skills/slide-skill/slide_templates/template.pptx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restored-src/src/QueryEngine.ts
- restored-src/src/query.ts
- restored-src/src/query/config.ts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restored-src/src/query.ts
- restored-src/src/QueryEngine.ts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restored-src/src/query.ts
- restored-src/src/services/compact/autoCompact.ts
- restored-src/src/services/compact/microCompact.ts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/Users/phodal/Downloads/claude-code-sourcemap-main/.agents/skills/slide-skill/slide_templates/template.pptx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restored-src/src/tools/
- restored-src/src/Tool.ts
- restored-src/src/tools.ts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restored-src/src/services/tools/toolExecution.ts
- restored-src/src/services/tools/toolHooks.ts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restored-src/src/utils/permissions/PermissionMode.ts
- restored-src/src/utils/permissions/permissionRuleParser.ts
- restored-src/src/utils/permissions/bashClassifier.ts
- restored-src/src/utils/permissions/filesystem.ts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/Users/phodal/Downloads/claude-code-sourcemap-main/.agents/skills/slide-skill/slide_templates/template.pptx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restored-src/src/tools/AgentTool/AgentTool.tsx
- restored-src/src/tools/AgentTool/runAgent.ts
- restored-src/src/utils/swarm/inProcessRunner.ts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restored-src/src/utils/swarm/inProcessRunner.ts
- restored-src/src/utils/swarm/permissionSync.ts
- restored-src/src/utils/teammateMailbox.ts
- restored-src/src/utils/tasks.ts
- restored-src/src/tools/AgentTool/builtInAgents.ts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/Users/phodal/Downloads/claude-code-sourcemap-main/.agents/skills/slide-skill/slide_templates/template.pptx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restored-src/src/utils/plugins/pluginLoader.ts
- restored-src/src/skills/loadSkillsDir.ts
- restored-src/src/commands.ts
- restored-src/src/services/mcp/client.ts
- restored-src/src/tools.ts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restored-src/src/ink/components/App.tsx
- restored-src/src/cli/print.ts
- restored-src/src/bridge/bridgeMain.ts
- restored-src/src/bridge/initReplBridge.ts
- restored-src/src/remote/
- restored-src/src/QueryEngine.ts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restored-src/src/voice/
- restored-src/src/vim/
- restored-src/src/buddy/
- restored-src/src/memdir/
- restored-src/src/services/SessionMemory/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restored-src/src/entrypoints/cli.tsx
- restored-src/src/main.tsx
- restored-src/src/QueryEngine.ts
- restored-src/src/query.ts
- restored-src/src/services/tools/toolExecution.ts
- restored-src/src/tools/AgentTool/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restored-src/src/QueryEngine.ts
- restored-src/src/query.ts
- restored-src/src/services/tools/toolExecution.ts
- restored-src/src/tools/AgentTool/runAgent.ts
- restored-src/src/utils/swarm/inProcessRunner.ts
- https://code.claude.com/docs/en/overview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README.md
- /Users/phodal/Downloads/claude-code-sourcemap-main/artifacts/qrcode_for_gh_2afe73fc7b4a_258.jpg
- /Users/phodal/Downloads/claude-code-sourcemap-main/.agents/skills/slide-skill/slide_templates/template.pptx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0D1829"/>
          </a:solidFill>
          <a:ln w="12700">
            <a:solidFill>
              <a:srgbClr val="0D182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777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</a:rPr>
              <a:t>Claude Code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E8EDF5"/>
                </a:solidFill>
              </a:rPr>
              <a:t>从 Source Map 看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E8EDF5"/>
                </a:solidFill>
              </a:rPr>
              <a:t>一个 AI Agent Runtime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E8EDF5"/>
                </a:solidFill>
              </a:rPr>
              <a:t>的内部构造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85800" y="31089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A9BB5"/>
                </a:solidFill>
              </a:rPr>
              <a:t>基于 npm 包 @anthropic-ai/claude-code v2.1.88</a:t>
            </a: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A9BB5"/>
                </a:solidFill>
              </a:rPr>
              <a:t>通过 cli.js.map 还原的 4,756 个源文件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85800" y="3822192"/>
            <a:ext cx="5212080" cy="566928"/>
          </a:xfrm>
          <a:prstGeom prst="roundRect">
            <a:avLst>
              <a:gd name="adj" fmla="val 9677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913632"/>
            <a:ext cx="4892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DF5"/>
                </a:solidFill>
              </a:rPr>
              <a:t>核心论点：这不是“带工具的聊天程序”，而是一个完整的 Terminal Agent Runtime Platform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949440" y="1371600"/>
            <a:ext cx="438912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49440" y="1371600"/>
            <a:ext cx="137160" cy="658368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0" y="146304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B8EF5"/>
                </a:solidFill>
              </a:rPr>
              <a:t>Query Loop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223760" y="170078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5"/>
                </a:solidFill>
              </a:rPr>
              <a:t>递归执行内核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949440" y="2194560"/>
            <a:ext cx="438912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49440" y="2194560"/>
            <a:ext cx="137160" cy="65836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0" y="22860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</a:rPr>
              <a:t>Tool Runtime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223760" y="252374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5"/>
                </a:solidFill>
              </a:rPr>
              <a:t>40+ 内置工具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949440" y="3017520"/>
            <a:ext cx="438912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9440" y="3017520"/>
            <a:ext cx="137160" cy="6583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0" y="31089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Permission System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223760" y="334670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5"/>
                </a:solidFill>
              </a:rPr>
              <a:t>多层治理架构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949440" y="3840480"/>
            <a:ext cx="438912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0" y="3840480"/>
            <a:ext cx="137160" cy="6583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23760" y="393192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</a:rPr>
              <a:t>Multi-Agent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23760" y="416966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5"/>
                </a:solidFill>
              </a:rPr>
              <a:t>Swarm 协作模式</a:t>
            </a:r>
            <a:endParaRPr lang="en-US" sz="1050" dirty="0"/>
          </a:p>
        </p:txBody>
      </p:sp>
      <p:pic>
        <p:nvPicPr>
          <p:cNvPr id="25" name="Image 0" descr="/Users/phodal/Downloads/claude-code-sourcemap-main/artifacts/qrcode_for_gh_2afe73fc7b4a_2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5074920"/>
            <a:ext cx="1280160" cy="128016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046720" y="6400800"/>
            <a:ext cx="1280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BB5"/>
                </a:solidFill>
              </a:rPr>
              <a:t>phodal 公众号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01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909828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D3EE"/>
                </a:solidFill>
              </a:rPr>
              <a:t>背景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这是从 npm 包 Source Map 还原的高保真快照，而不是官方 monorepo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理解来源，是正确解读架构的前提。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02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5376672" cy="3913632"/>
          </a:xfrm>
          <a:prstGeom prst="roundRect">
            <a:avLst>
              <a:gd name="adj" fmla="val 1636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64208"/>
            <a:ext cx="50109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</a:rPr>
              <a:t>还原过程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1956816"/>
            <a:ext cx="5010912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npm 包内包含完整 cli.js.map（Source Map）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extract-sources.js 提取 sourcesContent 字段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逐文件写回 restored-src/，做 webpack 路径清洗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还原版本：v2.1.88，共 4,756 个文件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包含 1,884 个 .ts/.tsx 源文件，总计 512,664 行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6153912" y="1536192"/>
            <a:ext cx="5376672" cy="3913632"/>
          </a:xfrm>
          <a:prstGeom prst="roundRect">
            <a:avLst>
              <a:gd name="adj" fmla="val 1636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36792" y="1664208"/>
            <a:ext cx="50109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</a:rPr>
              <a:t>分析可信度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36792" y="1956816"/>
            <a:ext cx="5010912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运行时主链、类型签名、注释：高度可信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目录结构、模块边界：与发布版一致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构建脚本、测试框架：可能不完整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内部工具链、CI 配置：不在 source map 范围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结论：足够支撑架构与设计决策分析</a:t>
            </a:r>
            <a:endParaRPr lang="en-US" sz="11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909828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D3EE"/>
                </a:solidFill>
              </a:rPr>
              <a:t>背景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规模数据一眼就能判断：这是平台级产品，不是小工具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从文件数量、目录分布和功能模块密度，可以还原出系统的真实复杂度。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03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72768"/>
            <a:ext cx="2139696" cy="1170432"/>
          </a:xfrm>
          <a:prstGeom prst="roundRect">
            <a:avLst>
              <a:gd name="adj" fmla="val 4688"/>
            </a:avLst>
          </a:prstGeom>
          <a:solidFill>
            <a:srgbClr val="1A264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1719072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A623"/>
                </a:solidFill>
              </a:rPr>
              <a:t>4,756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13232" y="2139696"/>
            <a:ext cx="19568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EDF5"/>
                </a:solidFill>
              </a:rPr>
              <a:t>还原文件总数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2359152"/>
            <a:ext cx="19568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含各类资源与配置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71216" y="1572768"/>
            <a:ext cx="2139696" cy="1170432"/>
          </a:xfrm>
          <a:prstGeom prst="roundRect">
            <a:avLst>
              <a:gd name="adj" fmla="val 4688"/>
            </a:avLst>
          </a:prstGeom>
          <a:solidFill>
            <a:srgbClr val="1A2640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08376" y="1719072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B8EF5"/>
                </a:solidFill>
              </a:rPr>
              <a:t>1,884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962656" y="2139696"/>
            <a:ext cx="19568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EDF5"/>
                </a:solidFill>
              </a:rPr>
              <a:t>.ts / .tsx 文件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62656" y="2359152"/>
            <a:ext cx="19568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纯 TypeScript 源码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120640" y="1572768"/>
            <a:ext cx="2139696" cy="1170432"/>
          </a:xfrm>
          <a:prstGeom prst="roundRect">
            <a:avLst>
              <a:gd name="adj" fmla="val 4688"/>
            </a:avLst>
          </a:prstGeom>
          <a:solidFill>
            <a:srgbClr val="1A26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57800" y="1719072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D399"/>
                </a:solidFill>
              </a:rPr>
              <a:t>512K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212080" y="2139696"/>
            <a:ext cx="19568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EDF5"/>
                </a:solidFill>
              </a:rPr>
              <a:t>代码行数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12080" y="2359152"/>
            <a:ext cx="19568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TypeScript 总计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370064" y="1572768"/>
            <a:ext cx="2139696" cy="1170432"/>
          </a:xfrm>
          <a:prstGeom prst="roundRect">
            <a:avLst>
              <a:gd name="adj" fmla="val 4688"/>
            </a:avLst>
          </a:prstGeom>
          <a:solidFill>
            <a:srgbClr val="1A264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07224" y="1719072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78BFA"/>
                </a:solidFill>
              </a:rPr>
              <a:t>40+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461504" y="2139696"/>
            <a:ext cx="19568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EDF5"/>
                </a:solidFill>
              </a:rPr>
              <a:t>内置工具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61504" y="2359152"/>
            <a:ext cx="19568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tools/ 目录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619488" y="1572768"/>
            <a:ext cx="2139696" cy="1170432"/>
          </a:xfrm>
          <a:prstGeom prst="roundRect">
            <a:avLst>
              <a:gd name="adj" fmla="val 4688"/>
            </a:avLst>
          </a:prstGeom>
          <a:solidFill>
            <a:srgbClr val="1A2640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1719072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B923C"/>
                </a:solidFill>
              </a:rPr>
              <a:t>101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710928" y="2139696"/>
            <a:ext cx="19568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EDF5"/>
                </a:solidFill>
              </a:rPr>
              <a:t>内置命令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710928" y="2359152"/>
            <a:ext cx="19568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commands/ 目录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1792" y="2926080"/>
            <a:ext cx="10954512" cy="2414016"/>
          </a:xfrm>
          <a:prstGeom prst="roundRect">
            <a:avLst>
              <a:gd name="adj" fmla="val 265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04672" y="3054096"/>
            <a:ext cx="105887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</a:rPr>
              <a:t>关键目录分布（按功能层划分）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04672" y="3255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</a:rPr>
              <a:t>核心运行时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4672" y="3493008"/>
            <a:ext cx="2011680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QueryEngine.ts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query.ts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main.tsx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entrypoints/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2834640" y="3255264"/>
            <a:ext cx="13716" cy="192024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80944" y="3255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B8EF5"/>
                </a:solidFill>
              </a:rPr>
              <a:t>工具层 (40+)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980944" y="3493008"/>
            <a:ext cx="2011680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BashTool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FileEditTool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AgentTool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WebSearchTool + 37 more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5010912" y="3255264"/>
            <a:ext cx="13716" cy="192024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157216" y="3255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</a:rPr>
              <a:t>服务层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57216" y="3493008"/>
            <a:ext cx="2011680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services/mcp/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services/compact/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services/api/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services/lsp/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187184" y="3255264"/>
            <a:ext cx="13716" cy="192024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33488" y="3255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</a:rPr>
              <a:t>扩展与能力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333488" y="3493008"/>
            <a:ext cx="2011680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plugins/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skills/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commands/ (101)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coordinator/</a:t>
            </a:r>
            <a:endParaRPr lang="en-US" sz="980" dirty="0"/>
          </a:p>
        </p:txBody>
      </p:sp>
      <p:sp>
        <p:nvSpPr>
          <p:cNvPr id="44" name="Shape 42"/>
          <p:cNvSpPr/>
          <p:nvPr/>
        </p:nvSpPr>
        <p:spPr>
          <a:xfrm>
            <a:off x="9363456" y="3255264"/>
            <a:ext cx="13716" cy="192024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09760" y="3255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923C"/>
                </a:solidFill>
              </a:rPr>
              <a:t>非典型功能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9509760" y="3493008"/>
            <a:ext cx="2011680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voice/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vim/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buddy/</a:t>
            </a:r>
            <a:endParaRPr lang="en-US" sz="98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memdir/</a:t>
            </a:r>
            <a:endParaRPr lang="en-US" sz="980" dirty="0"/>
          </a:p>
        </p:txBody>
      </p:sp>
      <p:sp>
        <p:nvSpPr>
          <p:cNvPr id="47" name="Shape 45"/>
          <p:cNvSpPr/>
          <p:nvPr/>
        </p:nvSpPr>
        <p:spPr>
          <a:xfrm>
            <a:off x="11539728" y="3255264"/>
            <a:ext cx="13716" cy="192024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D1829"/>
          </a:solidFill>
          <a:ln w="12700">
            <a:solidFill>
              <a:srgbClr val="0D182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6248095" cy="685800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9601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0" y="19202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0" y="288036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0" y="384048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0" y="480060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0" y="57607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0" y="67208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0972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5A623"/>
                </a:solidFill>
              </a:rPr>
              <a:t>SECTION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14173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架构全景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" y="310896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BB5"/>
                </a:solidFill>
              </a:rPr>
              <a:t>从入口分流到 Agent 协作，梳理这套系统的五层结构。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0" y="16459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>
                    <a:alpha val="80000"/>
                  </a:srgbClr>
                </a:solidFill>
              </a:rPr>
              <a:t>01</a:t>
            </a:r>
            <a:endParaRPr lang="en-US" sz="8000" dirty="0"/>
          </a:p>
        </p:txBody>
      </p:sp>
      <p:sp>
        <p:nvSpPr>
          <p:cNvPr id="16" name="Text 14"/>
          <p:cNvSpPr/>
          <p:nvPr/>
        </p:nvSpPr>
        <p:spPr>
          <a:xfrm>
            <a:off x="6583680" y="32004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先建立大图，再逐层拆解。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不要在细节里迷路。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04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065276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B8EF5"/>
                </a:solidFill>
              </a:rPr>
              <a:t>架构全景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五层架构：从「用户输入」到「模型递归执行」的完整通路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这五层不是简单的功能列表，而是被 Query Loop 串起来的有序执行体系。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05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08760"/>
            <a:ext cx="512064" cy="768096"/>
          </a:xfrm>
          <a:prstGeom prst="roundRect">
            <a:avLst>
              <a:gd name="adj" fmla="val 10714"/>
            </a:avLst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691640"/>
            <a:ext cx="512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111F"/>
                </a:solidFill>
              </a:rPr>
              <a:t>01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1545336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D3EE"/>
                </a:solidFill>
              </a:rPr>
              <a:t>入口层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280160" y="189280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entrypoints/cli.tsx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轻量分发器：版本快路径 / 模式分流 / 懒加载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rot="5400000">
            <a:off x="781812" y="2331720"/>
            <a:ext cx="173736" cy="201168"/>
          </a:xfrm>
          <a:prstGeom prst="chevron">
            <a:avLst/>
          </a:prstGeom>
          <a:solidFill>
            <a:srgbClr val="22D3EE">
              <a:alpha val="6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2642616"/>
            <a:ext cx="512064" cy="768096"/>
          </a:xfrm>
          <a:prstGeom prst="roundRect">
            <a:avLst>
              <a:gd name="adj" fmla="val 10714"/>
            </a:avLst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2825496"/>
            <a:ext cx="512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111F"/>
                </a:solidFill>
              </a:rPr>
              <a:t>02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267919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B8EF5"/>
                </a:solidFill>
              </a:rPr>
              <a:t>启动编排层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280160" y="302666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main.tsx (4,683 行)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初始化 Config · Auth · MCP · Agents · UI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781812" y="3465576"/>
            <a:ext cx="173736" cy="201168"/>
          </a:xfrm>
          <a:prstGeom prst="chevron">
            <a:avLst/>
          </a:prstGeom>
          <a:solidFill>
            <a:srgbClr val="4B8EF5">
              <a:alpha val="60000"/>
            </a:srgbClr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" y="3776472"/>
            <a:ext cx="512064" cy="768096"/>
          </a:xfrm>
          <a:prstGeom prst="roundRect">
            <a:avLst>
              <a:gd name="adj" fmla="val 10714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3959352"/>
            <a:ext cx="512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111F"/>
                </a:solidFill>
              </a:rPr>
              <a:t>03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3813048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A623"/>
                </a:solidFill>
              </a:rPr>
              <a:t>会话核心层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280160" y="41605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QueryEngine.ts + query.ts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会话状态 · 递归 Turn Loop · Budget 管理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rot="5400000">
            <a:off x="781812" y="4599432"/>
            <a:ext cx="173736" cy="201168"/>
          </a:xfrm>
          <a:prstGeom prst="chevron">
            <a:avLst/>
          </a:prstGeom>
          <a:solidFill>
            <a:srgbClr val="F5A623">
              <a:alpha val="60000"/>
            </a:srgbClr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910328"/>
            <a:ext cx="512064" cy="768096"/>
          </a:xfrm>
          <a:prstGeom prst="roundRect">
            <a:avLst>
              <a:gd name="adj" fmla="val 10714"/>
            </a:avLst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" y="5093208"/>
            <a:ext cx="512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111F"/>
                </a:solidFill>
              </a:rPr>
              <a:t>04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80160" y="4946904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923C"/>
                </a:solidFill>
              </a:rPr>
              <a:t>执行治理层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280160" y="5294376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toolExecution.ts + toolHooks.ts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Pre/Post Hook · 权限多层决策 · 追踪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 rot="5400000">
            <a:off x="781812" y="5733288"/>
            <a:ext cx="173736" cy="201168"/>
          </a:xfrm>
          <a:prstGeom prst="chevron">
            <a:avLst/>
          </a:prstGeom>
          <a:solidFill>
            <a:srgbClr val="FB923C">
              <a:alpha val="60000"/>
            </a:srgbClr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1792" y="6044184"/>
            <a:ext cx="512064" cy="768096"/>
          </a:xfrm>
          <a:prstGeom prst="roundRect">
            <a:avLst>
              <a:gd name="adj" fmla="val 10714"/>
            </a:avLst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" y="6227064"/>
            <a:ext cx="512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111F"/>
                </a:solidFill>
              </a:rPr>
              <a:t>05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80160" y="60807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78BFA"/>
                </a:solidFill>
              </a:rPr>
              <a:t>扩展与能力层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280160" y="642823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Agents · MCP · Skills · Commands · Plugins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BB5"/>
                </a:solidFill>
              </a:rPr>
              <a:t>多 Agent Swarm · 外部能力接入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35040" y="1508760"/>
            <a:ext cx="5532120" cy="4462272"/>
          </a:xfrm>
          <a:prstGeom prst="roundRect">
            <a:avLst>
              <a:gd name="adj" fmla="val 1434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217920" y="1636776"/>
            <a:ext cx="5166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8EF5"/>
                </a:solidFill>
              </a:rPr>
              <a:t>为什么这五层很重要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217920" y="1929384"/>
            <a:ext cx="5166360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C4CDD8"/>
                </a:solidFill>
              </a:rPr>
              <a:t>• 入口层做到「极速分流」：--version 等命令不需要加载 main.js，大幅减少启动延迟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4CDD8"/>
                </a:solidFill>
              </a:rPr>
              <a:t>• main.tsx 是平台级 orchestration，4,683 行的 startup 涵盖了 Auth / Feature Gates / MCP / LSP / Session Restore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4CDD8"/>
                </a:solidFill>
              </a:rPr>
              <a:t>• QueryEngine 与 query.ts 职责分离：前者管会话生命周期，后者管单轮递归状态机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4CDD8"/>
                </a:solidFill>
              </a:rPr>
              <a:t>• 执行治理层不是可选 middleware，而是工具调用的必经主路径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4CDD8"/>
                </a:solidFill>
              </a:rPr>
              <a:t>• 扩展层可以从 Plugin / Skill / MCP 三条通道接入，但最终都折叠进共享 Tool Surface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4CDD8"/>
                </a:solidFill>
              </a:rPr>
              <a:t>• 不同 Surface（Terminal / Bridge / SDK）只改变入口和输出，不改变中间三层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065276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B8EF5"/>
                </a:solidFill>
              </a:rPr>
              <a:t>架构全景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模块关系图：被 Query Loop 串起来的多层系统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真正的架构边界不是文件夹，而是这些模块之间的依赖方向和数据流。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06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200400" cy="1097280"/>
          </a:xfrm>
          <a:prstGeom prst="roundRect">
            <a:avLst>
              <a:gd name="adj" fmla="val 8333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  <a:effectLst>
            <a:outerShdw sx="100000" sy="100000" kx="0" ky="0" algn="bl" rotWithShape="0" blurRad="50800" dist="6350" dir="2700000">
              <a:srgbClr val="F5A623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80560" y="2606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9111F"/>
                </a:solidFill>
              </a:rPr>
              <a:t>Query Loop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480560" y="294436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829"/>
                </a:solidFill>
              </a:rPr>
              <a:t>QueryEngine + query.ts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155448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162763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</a:rPr>
              <a:t>CLI / entrypoints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188366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cli.tsx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 rot="5400000">
            <a:off x="1353312" y="2267712"/>
            <a:ext cx="457200" cy="237744"/>
          </a:xfrm>
          <a:prstGeom prst="chevron">
            <a:avLst/>
          </a:prstGeom>
          <a:solidFill>
            <a:srgbClr val="22D3EE">
              <a:alpha val="65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4640" y="155448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26080" y="162763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B8EF5"/>
                </a:solidFill>
              </a:rPr>
              <a:t>Bridge / Remote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26080" y="188366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bridgeMain.ts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 rot="5400000">
            <a:off x="3547872" y="2267712"/>
            <a:ext cx="457200" cy="237744"/>
          </a:xfrm>
          <a:prstGeom prst="chevron">
            <a:avLst/>
          </a:prstGeom>
          <a:solidFill>
            <a:srgbClr val="4B8EF5">
              <a:alpha val="65000"/>
            </a:srgbClr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0" y="155448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0" y="162763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</a:rPr>
              <a:t>SDK / Headless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120640" y="188366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cli/print.ts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 rot="5400000">
            <a:off x="5742432" y="2267712"/>
            <a:ext cx="457200" cy="237744"/>
          </a:xfrm>
          <a:prstGeom prst="chevron">
            <a:avLst/>
          </a:prstGeom>
          <a:solidFill>
            <a:srgbClr val="A78BFA">
              <a:alpha val="65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155448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0" y="162763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923C"/>
                </a:solidFill>
              </a:rPr>
              <a:t>main.tsx startup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315200" y="188366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orchestration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 rot="5400000">
            <a:off x="7936992" y="2267712"/>
            <a:ext cx="457200" cy="237744"/>
          </a:xfrm>
          <a:prstGeom prst="chevron">
            <a:avLst/>
          </a:prstGeom>
          <a:solidFill>
            <a:srgbClr val="FB923C">
              <a:alpha val="65000"/>
            </a:srgbClr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418320" y="155448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1A264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09760" y="162763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</a:rPr>
              <a:t>AppState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509760" y="188366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shared state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 rot="5400000">
            <a:off x="10131552" y="2267712"/>
            <a:ext cx="457200" cy="237744"/>
          </a:xfrm>
          <a:prstGeom prst="chevron">
            <a:avLst/>
          </a:prstGeom>
          <a:solidFill>
            <a:srgbClr val="34D399">
              <a:alpha val="65000"/>
            </a:srgbClr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5400000">
            <a:off x="1353312" y="3657600"/>
            <a:ext cx="457200" cy="237744"/>
          </a:xfrm>
          <a:prstGeom prst="chevron">
            <a:avLst/>
          </a:prstGeom>
          <a:solidFill>
            <a:srgbClr val="FB923C">
              <a:alpha val="65000"/>
            </a:srgbClr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4023360"/>
            <a:ext cx="1920240" cy="749808"/>
          </a:xfrm>
          <a:prstGeom prst="roundRect">
            <a:avLst>
              <a:gd name="adj" fmla="val 7317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40965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923C"/>
                </a:solidFill>
              </a:rPr>
              <a:t>Tool Runtime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" y="435254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toolExecution.ts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40+ 工具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 rot="5400000">
            <a:off x="3547872" y="3657600"/>
            <a:ext cx="457200" cy="237744"/>
          </a:xfrm>
          <a:prstGeom prst="chevron">
            <a:avLst/>
          </a:prstGeom>
          <a:solidFill>
            <a:srgbClr val="F87171">
              <a:alpha val="65000"/>
            </a:srgbClr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34640" y="4023360"/>
            <a:ext cx="1920240" cy="749808"/>
          </a:xfrm>
          <a:prstGeom prst="roundRect">
            <a:avLst>
              <a:gd name="adj" fmla="val 7317"/>
            </a:avLst>
          </a:prstGeom>
          <a:solidFill>
            <a:srgbClr val="162035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26080" y="40965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</a:rPr>
              <a:t>Permission System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926080" y="435254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hooks + rules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多层决策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 rot="5400000">
            <a:off x="5742432" y="3657600"/>
            <a:ext cx="457200" cy="237744"/>
          </a:xfrm>
          <a:prstGeom prst="chevron">
            <a:avLst/>
          </a:prstGeom>
          <a:solidFill>
            <a:srgbClr val="A78BFA">
              <a:alpha val="65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4023360"/>
            <a:ext cx="1920240" cy="749808"/>
          </a:xfrm>
          <a:prstGeom prst="roundRect">
            <a:avLst>
              <a:gd name="adj" fmla="val 7317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0" y="40965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</a:rPr>
              <a:t>Agent / Swarm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120640" y="435254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runAgent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inProcessRunner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 rot="5400000">
            <a:off x="7936992" y="3657600"/>
            <a:ext cx="457200" cy="237744"/>
          </a:xfrm>
          <a:prstGeom prst="chevron">
            <a:avLst/>
          </a:prstGeom>
          <a:solidFill>
            <a:srgbClr val="22D3EE">
              <a:alpha val="65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223760" y="4023360"/>
            <a:ext cx="1920240" cy="749808"/>
          </a:xfrm>
          <a:prstGeom prst="roundRect">
            <a:avLst>
              <a:gd name="adj" fmla="val 7317"/>
            </a:avLst>
          </a:prstGeom>
          <a:solidFill>
            <a:srgbClr val="162035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0" y="40965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</a:rPr>
              <a:t>MCP / Plugins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315200" y="435254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外部能力接入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client.ts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 rot="5400000">
            <a:off x="10131552" y="3657600"/>
            <a:ext cx="457200" cy="237744"/>
          </a:xfrm>
          <a:prstGeom prst="chevron">
            <a:avLst/>
          </a:prstGeom>
          <a:solidFill>
            <a:srgbClr val="34D399">
              <a:alpha val="65000"/>
            </a:srgbClr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418320" y="4023360"/>
            <a:ext cx="1920240" cy="749808"/>
          </a:xfrm>
          <a:prstGeom prst="roundRect">
            <a:avLst>
              <a:gd name="adj" fmla="val 7317"/>
            </a:avLst>
          </a:prstGeom>
          <a:solidFill>
            <a:srgbClr val="162035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509760" y="4096512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</a:rPr>
              <a:t>compact / budget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9509760" y="435254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上下文管理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9BB5"/>
                </a:solidFill>
              </a:rPr>
              <a:t>成本控制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D1829"/>
          </a:solidFill>
          <a:ln w="12700">
            <a:solidFill>
              <a:srgbClr val="0D182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6248095" cy="6858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9601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0" y="19202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0" y="288036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0" y="384048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0" y="480060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0" y="57607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0" y="67208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0972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5A623"/>
                </a:solidFill>
              </a:rPr>
              <a:t>SECTION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14173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Query Loop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执行内核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" y="310896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BB5"/>
                </a:solidFill>
              </a:rPr>
              <a:t>从用户按下回车，到 agent 递归执行，系统究竟怎么串起来的？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0" y="16459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>
                    <a:alpha val="80000"/>
                  </a:srgbClr>
                </a:solidFill>
              </a:rPr>
              <a:t>02</a:t>
            </a:r>
            <a:endParaRPr lang="en-US" sz="8000" dirty="0"/>
          </a:p>
        </p:txBody>
      </p:sp>
      <p:sp>
        <p:nvSpPr>
          <p:cNvPr id="16" name="Text 14"/>
          <p:cNvSpPr/>
          <p:nvPr/>
        </p:nvSpPr>
        <p:spPr>
          <a:xfrm>
            <a:off x="6583680" y="32004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这里才是系统真正的大脑，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而不是 UI 或 CLI 入口。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07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531620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</a:rPr>
              <a:t>Query Loop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QueryEngine 与 query.ts：会话生命周期 vs 单轮状态机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这是理解整套系统最关键的一对概念。两者职责完全不同，却又紧密配合。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08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5376672" cy="4206240"/>
          </a:xfrm>
          <a:prstGeom prst="roundRect">
            <a:avLst>
              <a:gd name="adj" fmla="val 152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64208"/>
            <a:ext cx="50109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QueryEngine（会话对象）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1956816"/>
            <a:ext cx="5010912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one QueryEngine per conversation（注释明确说明）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维护 mutableMessages：整个会话累积的全部消息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管理 abortController：支持终止单轮或整个会话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记录 permissionDenials / totalUsage / readFileState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封装 SDK/headless 接口，对外提供稳定 API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处理 orphaned permission / skill discovery / session persist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submitMessage() 启动新一轮 turn，把实际递归交给 query()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6153912" y="1536192"/>
            <a:ext cx="5376672" cy="4206240"/>
          </a:xfrm>
          <a:prstGeom prst="roundRect">
            <a:avLst>
              <a:gd name="adj" fmla="val 1522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36792" y="1664208"/>
            <a:ext cx="50109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8EF5"/>
                </a:solidFill>
              </a:rPr>
              <a:t>query.ts（单轮状态机）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36792" y="1956816"/>
            <a:ext cx="5010912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buildQueryConfig()：将当次 turn 所需配置快照下来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调用模型 API，流式消费 stream_event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并行维护三个集合：assistantMessages / toolResults / toolUseBlocks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检测到 tool_use → 不结束，而是切入执行阶段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runTools() / StreamingToolExecutor 执行所有工具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tool results 回注为新的 user messages → 进入下一轮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C4CDD8"/>
                </a:solidFill>
              </a:rPr>
              <a:t>• needsFollowUp / maxTurns / compact 共同控制边界</a:t>
            </a:r>
            <a:endParaRPr lang="en-US" sz="11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531620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</a:rPr>
              <a:t>Query Loop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一次 Turn 的完整执行时序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从 submitMessage() 到「继续还是停止」——每一步都在 query.ts 中有对应代码。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09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-48920" y="1627632"/>
            <a:ext cx="1536192" cy="960120"/>
          </a:xfrm>
          <a:prstGeom prst="roundRect">
            <a:avLst>
              <a:gd name="adj" fmla="val 6667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-48920" y="1627632"/>
            <a:ext cx="1536192" cy="1097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4" y="1792224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A623"/>
                </a:solidFill>
              </a:rPr>
              <a:t>submitMessage()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4" y="2103120"/>
            <a:ext cx="14264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QueryEngine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会话层入口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496416" y="2020824"/>
            <a:ext cx="256032" cy="182880"/>
          </a:xfrm>
          <a:prstGeom prst="chevron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43304" y="1627632"/>
            <a:ext cx="1536192" cy="960120"/>
          </a:xfrm>
          <a:prstGeom prst="roundRect">
            <a:avLst>
              <a:gd name="adj" fmla="val 6667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43304" y="1627632"/>
            <a:ext cx="1536192" cy="109728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98168" y="1792224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8EF5"/>
                </a:solidFill>
              </a:rPr>
              <a:t>buildQueryConfig()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798168" y="2103120"/>
            <a:ext cx="14264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快照运行时配置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避免状态漂移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88640" y="2020824"/>
            <a:ext cx="256032" cy="182880"/>
          </a:xfrm>
          <a:prstGeom prst="chevron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35528" y="1627632"/>
            <a:ext cx="1536192" cy="960120"/>
          </a:xfrm>
          <a:prstGeom prst="roundRect">
            <a:avLst>
              <a:gd name="adj" fmla="val 6667"/>
            </a:avLst>
          </a:prstGeom>
          <a:solidFill>
            <a:srgbClr val="162035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35528" y="1627632"/>
            <a:ext cx="1536192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0392" y="1792224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D3EE"/>
                </a:solidFill>
              </a:rPr>
              <a:t>Stream Model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0392" y="2103120"/>
            <a:ext cx="14264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流式消费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stream_event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080864" y="2020824"/>
            <a:ext cx="256032" cy="182880"/>
          </a:xfrm>
          <a:prstGeom prst="chevron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27752" y="1627632"/>
            <a:ext cx="1536192" cy="960120"/>
          </a:xfrm>
          <a:prstGeom prst="roundRect">
            <a:avLst>
              <a:gd name="adj" fmla="val 6667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7752" y="1627632"/>
            <a:ext cx="1536192" cy="10972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82616" y="1792224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923C"/>
                </a:solidFill>
              </a:rPr>
              <a:t>Collect tool_use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82616" y="2103120"/>
            <a:ext cx="14264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显式收集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toolUseBlocks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873088" y="2020824"/>
            <a:ext cx="256032" cy="182880"/>
          </a:xfrm>
          <a:prstGeom prst="chevron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19976" y="1627632"/>
            <a:ext cx="1536192" cy="960120"/>
          </a:xfrm>
          <a:prstGeom prst="roundRect">
            <a:avLst>
              <a:gd name="adj" fmla="val 6667"/>
            </a:avLst>
          </a:prstGeom>
          <a:solidFill>
            <a:srgbClr val="162035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19976" y="1627632"/>
            <a:ext cx="1536192" cy="10972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74840" y="1792224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7171"/>
                </a:solidFill>
              </a:rPr>
              <a:t>runTools()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74840" y="2103120"/>
            <a:ext cx="14264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并行 / 串行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执行所有工具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665312" y="2020824"/>
            <a:ext cx="256032" cy="182880"/>
          </a:xfrm>
          <a:prstGeom prst="chevron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12200" y="1627632"/>
            <a:ext cx="1536192" cy="960120"/>
          </a:xfrm>
          <a:prstGeom prst="roundRect">
            <a:avLst>
              <a:gd name="adj" fmla="val 6667"/>
            </a:avLst>
          </a:prstGeom>
          <a:solidFill>
            <a:srgbClr val="162035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912200" y="1627632"/>
            <a:ext cx="1536192" cy="1097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7064" y="1792224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Inject Results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967064" y="2103120"/>
            <a:ext cx="14264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结果回注为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new user message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0457536" y="2020824"/>
            <a:ext cx="256032" cy="182880"/>
          </a:xfrm>
          <a:prstGeom prst="chevron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04424" y="1627632"/>
            <a:ext cx="1536192" cy="960120"/>
          </a:xfrm>
          <a:prstGeom prst="roundRect">
            <a:avLst>
              <a:gd name="adj" fmla="val 6667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704424" y="1627632"/>
            <a:ext cx="1536192" cy="1097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759288" y="1792224"/>
            <a:ext cx="142646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8BFA"/>
                </a:solidFill>
              </a:rPr>
              <a:t>Continue / Stop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759288" y="2103120"/>
            <a:ext cx="14264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needsFollowUp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</a:rPr>
              <a:t>maxTurns / hooks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1792" y="2907792"/>
            <a:ext cx="10954512" cy="2633472"/>
          </a:xfrm>
          <a:prstGeom prst="roundRect">
            <a:avLst>
              <a:gd name="adj" fmla="val 2431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804672" y="3035808"/>
            <a:ext cx="105887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关键设计信号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804672" y="3218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</a:rPr>
              <a:t>stop_reason 不可靠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04672" y="3456432"/>
            <a:ext cx="254203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stop_reason=tool_use 在流式场景下有缺陷，因此 query.ts 在流式过程中显式收集 toolUseBlocks 作为判断依据</a:t>
            </a:r>
            <a:endParaRPr lang="en-US" sz="980" dirty="0"/>
          </a:p>
        </p:txBody>
      </p:sp>
      <p:sp>
        <p:nvSpPr>
          <p:cNvPr id="49" name="Shape 47"/>
          <p:cNvSpPr/>
          <p:nvPr/>
        </p:nvSpPr>
        <p:spPr>
          <a:xfrm>
            <a:off x="3364992" y="3218688"/>
            <a:ext cx="13716" cy="219456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29584" y="3218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</a:rPr>
              <a:t>工具结果不是副作用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529584" y="3456432"/>
            <a:ext cx="254203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tool results 被编码成新的 user/attachment messages 回注对话，成为下一轮推理的输入——这是 agent loop 的核心机制</a:t>
            </a:r>
            <a:endParaRPr lang="en-US" sz="980" dirty="0"/>
          </a:p>
        </p:txBody>
      </p:sp>
      <p:sp>
        <p:nvSpPr>
          <p:cNvPr id="52" name="Shape 50"/>
          <p:cNvSpPr/>
          <p:nvPr/>
        </p:nvSpPr>
        <p:spPr>
          <a:xfrm>
            <a:off x="6089904" y="3218688"/>
            <a:ext cx="13716" cy="219456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54496" y="3218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</a:rPr>
              <a:t>StreamingToolExecutor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6254496" y="3456432"/>
            <a:ext cx="254203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feature gate 打开时，启用 StreamingToolExecutor 允许工具在模型仍在输出时并行开始执行，降低端到端延迟</a:t>
            </a:r>
            <a:endParaRPr lang="en-US" sz="980" dirty="0"/>
          </a:p>
        </p:txBody>
      </p:sp>
      <p:sp>
        <p:nvSpPr>
          <p:cNvPr id="55" name="Shape 53"/>
          <p:cNvSpPr/>
          <p:nvPr/>
        </p:nvSpPr>
        <p:spPr>
          <a:xfrm>
            <a:off x="8814816" y="3218688"/>
            <a:ext cx="13716" cy="2194560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979408" y="3218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</a:rPr>
              <a:t>Budget &amp; Compact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979408" y="3456432"/>
            <a:ext cx="254203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C4CDD8"/>
                </a:solidFill>
              </a:rPr>
              <a:t>taskBudget / compactWarning / microCompact 共同保证长时任务不会因 context 膨胀而崩溃</a:t>
            </a:r>
            <a:endParaRPr lang="en-US" sz="9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531620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</a:rPr>
              <a:t>Query Loop · 03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长任务稳定性：Fallback 恢复、Context 压缩与预算管理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这部分代码量不小，但它们是 Claude Code 能真正跑完大型任务的基础设施。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10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3493008" cy="4206240"/>
          </a:xfrm>
          <a:prstGeom prst="roundRect">
            <a:avLst>
              <a:gd name="adj" fmla="val 183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64208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7171"/>
                </a:solidFill>
              </a:rPr>
              <a:t>流式 Fallback 恢复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1956816"/>
            <a:ext cx="3127248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prompt-too-long / media-size /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max-output-tokens 错误会先被 withheld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recovery 逻辑判断是否能自救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如需 fallback：给旧 assistant message 发 tombstone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清空旧的 toolUse / toolResult 暂存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重建 StreamingToolExecutor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（避免旧 tool_use_id 泄漏进 retry）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4261104" y="1536192"/>
            <a:ext cx="3493008" cy="4206240"/>
          </a:xfrm>
          <a:prstGeom prst="roundRect">
            <a:avLst>
              <a:gd name="adj" fmla="val 1832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43984" y="1664208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Context 压缩策略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43984" y="1956816"/>
            <a:ext cx="3127248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autoCompact：自动触发上下文压缩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microCompact：轻量级压缩，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保留最近 turns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compact：完整会话摘要替换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sessionMemoryCompact：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跨会话记忆压缩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compactWarning：提前预警，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给用户调整机会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7900416" y="1536192"/>
            <a:ext cx="3493008" cy="4206240"/>
          </a:xfrm>
          <a:prstGeom prst="roundRect">
            <a:avLst>
              <a:gd name="adj" fmla="val 183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083296" y="1664208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</a:rPr>
              <a:t>预算与续跑控制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083296" y="1956816"/>
            <a:ext cx="3127248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taskBudget：整个 agentic turn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的 API 调用预算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动态计算 token budget /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output tokens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continuation 计数防止无限递归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fallback model 切换（降级到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更便宜的模型）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maxTurns 硬限制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作为最后防线</a:t>
            </a:r>
            <a:endParaRPr lang="en-US" sz="10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D1829"/>
          </a:solidFill>
          <a:ln w="12700">
            <a:solidFill>
              <a:srgbClr val="0D182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6248095" cy="68580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9601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0" y="19202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0" y="288036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0" y="384048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0" y="480060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0" y="57607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0" y="67208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0972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5A623"/>
                </a:solidFill>
              </a:rPr>
              <a:t>SECTION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14173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Tool Runtime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&amp; Permission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" y="310896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BB5"/>
                </a:solidFill>
              </a:rPr>
              <a:t>模型提出动作，runtime 决定能不能做、怎么做——这才是真正的「受控执行」。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0" y="16459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>
                    <a:alpha val="80000"/>
                  </a:srgbClr>
                </a:solidFill>
              </a:rPr>
              <a:t>03</a:t>
            </a:r>
            <a:endParaRPr lang="en-US" sz="8000" dirty="0"/>
          </a:p>
        </p:txBody>
      </p:sp>
      <p:sp>
        <p:nvSpPr>
          <p:cNvPr id="16" name="Text 14"/>
          <p:cNvSpPr/>
          <p:nvPr/>
        </p:nvSpPr>
        <p:spPr>
          <a:xfrm>
            <a:off x="6583680" y="32004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权限不是外围 UI，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而是工具执行主路径的组成部分。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11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687068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923C"/>
                </a:solidFill>
              </a:rPr>
              <a:t>Tool Runtime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40+ 内置工具：覆盖从代码编辑到系统管理的完整工作流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工具不是简单的函数，而是带有 schema、权限声明、hook 交互能力的可治理执行单元。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12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54480"/>
            <a:ext cx="3639312" cy="1938528"/>
          </a:xfrm>
          <a:prstGeom prst="roundRect">
            <a:avLst>
              <a:gd name="adj" fmla="val 3302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1554480"/>
            <a:ext cx="3639312" cy="9144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1700784"/>
            <a:ext cx="3364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8EF5"/>
                </a:solidFill>
              </a:rPr>
              <a:t>文件操作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58952" y="1993392"/>
            <a:ext cx="3364992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FileReadTool  ·  FileWriteTool  ·  FileEditTool  ·  GlobTool  ·  GrepTool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43984" y="1554480"/>
            <a:ext cx="3639312" cy="1938528"/>
          </a:xfrm>
          <a:prstGeom prst="roundRect">
            <a:avLst>
              <a:gd name="adj" fmla="val 3302"/>
            </a:avLst>
          </a:prstGeom>
          <a:solidFill>
            <a:srgbClr val="162035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43984" y="1554480"/>
            <a:ext cx="3639312" cy="914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1144" y="1700784"/>
            <a:ext cx="3364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7171"/>
                </a:solidFill>
              </a:rPr>
              <a:t>代码执行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81144" y="1993392"/>
            <a:ext cx="3364992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BashTool  ·  PowerShellTool  ·  REPLTool (JS)  ·  NotebookEditTool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66176" y="1554480"/>
            <a:ext cx="3639312" cy="1938528"/>
          </a:xfrm>
          <a:prstGeom prst="roundRect">
            <a:avLst>
              <a:gd name="adj" fmla="val 3302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66176" y="1554480"/>
            <a:ext cx="3639312" cy="91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03336" y="1700784"/>
            <a:ext cx="3364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</a:rPr>
              <a:t>Agent 协作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03336" y="1993392"/>
            <a:ext cx="3364992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AgentTool  ·  TaskCreateTool  ·  TaskGetTool  ·  TaskListTool  ·  TeamCreateTool  ·  SendMessageTool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" y="3794760"/>
            <a:ext cx="3639312" cy="1938528"/>
          </a:xfrm>
          <a:prstGeom prst="roundRect">
            <a:avLst>
              <a:gd name="adj" fmla="val 3302"/>
            </a:avLst>
          </a:prstGeom>
          <a:solidFill>
            <a:srgbClr val="162035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3794760"/>
            <a:ext cx="3639312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8952" y="3941064"/>
            <a:ext cx="3364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D3EE"/>
                </a:solidFill>
              </a:rPr>
              <a:t>外部集成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58952" y="4233672"/>
            <a:ext cx="3364992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MCPTool  ·  WebSearchTool  ·  WebFetchTool  ·  McpAuthTool  ·  ListMcpResourcesTool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443984" y="3794760"/>
            <a:ext cx="3639312" cy="1938528"/>
          </a:xfrm>
          <a:prstGeom prst="roundRect">
            <a:avLst>
              <a:gd name="adj" fmla="val 3302"/>
            </a:avLst>
          </a:prstGeom>
          <a:solidFill>
            <a:srgbClr val="162035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43984" y="3794760"/>
            <a:ext cx="3639312" cy="91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81144" y="3941064"/>
            <a:ext cx="3364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</a:rPr>
              <a:t>开发辅助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81144" y="4233672"/>
            <a:ext cx="3364992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LSPTool  ·  AskUserQuestionTool  ·  SkillTool  ·  BriefTool  ·  TodoWriteTool  ·  ToolSearchTool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66176" y="3794760"/>
            <a:ext cx="3639312" cy="1938528"/>
          </a:xfrm>
          <a:prstGeom prst="roundRect">
            <a:avLst>
              <a:gd name="adj" fmla="val 3302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66176" y="3794760"/>
            <a:ext cx="3639312" cy="914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03336" y="3941064"/>
            <a:ext cx="3364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923C"/>
                </a:solidFill>
              </a:rPr>
              <a:t>流程控制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403336" y="4233672"/>
            <a:ext cx="3364992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EnterPlanModeTool  ·  ExitPlanModeTool  ·  EnterWorktreeTool  ·  SleepTool  ·  ScheduleCronTool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687068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923C"/>
                </a:solidFill>
              </a:rPr>
              <a:t>Tool Runtime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Hook 不是扩展点，而是执行主路径的组成部分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Pre Hook / 权限决策 / Post Hook / Failure Hook 贯穿工具执行的全生命周期。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13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594360" y="1600200"/>
            <a:ext cx="1664208" cy="896112"/>
          </a:xfrm>
          <a:prstGeom prst="roundRect">
            <a:avLst>
              <a:gd name="adj" fmla="val 7143"/>
            </a:avLst>
          </a:prstGeom>
          <a:solidFill>
            <a:srgbClr val="162035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600200"/>
            <a:ext cx="1664208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746504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</a:rPr>
              <a:t>Input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</a:rPr>
              <a:t>Validate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" y="2167128"/>
            <a:ext cx="1517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zod schema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76856" y="1938528"/>
            <a:ext cx="256032" cy="182880"/>
          </a:xfrm>
          <a:prstGeom prst="chevron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14600" y="1600200"/>
            <a:ext cx="1664208" cy="896112"/>
          </a:xfrm>
          <a:prstGeom prst="roundRect">
            <a:avLst>
              <a:gd name="adj" fmla="val 7143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1600200"/>
            <a:ext cx="1664208" cy="91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87752" y="1746504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Pre-Tool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Hooks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587752" y="2167128"/>
            <a:ext cx="1517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策略注入点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97096" y="1938528"/>
            <a:ext cx="256032" cy="182880"/>
          </a:xfrm>
          <a:prstGeom prst="chevron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34840" y="1600200"/>
            <a:ext cx="1664208" cy="896112"/>
          </a:xfrm>
          <a:prstGeom prst="roundRect">
            <a:avLst>
              <a:gd name="adj" fmla="val 7143"/>
            </a:avLst>
          </a:prstGeom>
          <a:solidFill>
            <a:srgbClr val="162035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1600200"/>
            <a:ext cx="1664208" cy="914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07992" y="1746504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</a:rPr>
              <a:t>Permission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</a:rPr>
              <a:t>Resolve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07992" y="2167128"/>
            <a:ext cx="1517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多层决策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17336" y="1938528"/>
            <a:ext cx="256032" cy="182880"/>
          </a:xfrm>
          <a:prstGeom prst="chevron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55080" y="1600200"/>
            <a:ext cx="1664208" cy="896112"/>
          </a:xfrm>
          <a:prstGeom prst="roundRect">
            <a:avLst>
              <a:gd name="adj" fmla="val 7143"/>
            </a:avLst>
          </a:prstGeom>
          <a:solidFill>
            <a:srgbClr val="162035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55080" y="1600200"/>
            <a:ext cx="1664208" cy="91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28232" y="1746504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</a:rPr>
              <a:t>tool.call()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28232" y="2167128"/>
            <a:ext cx="1517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实际执行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037576" y="1938528"/>
            <a:ext cx="256032" cy="182880"/>
          </a:xfrm>
          <a:prstGeom prst="chevron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75320" y="1600200"/>
            <a:ext cx="1664208" cy="896112"/>
          </a:xfrm>
          <a:prstGeom prst="roundRect">
            <a:avLst>
              <a:gd name="adj" fmla="val 7143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75320" y="1600200"/>
            <a:ext cx="1664208" cy="9144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48472" y="1746504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Post-Tool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Hooks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48472" y="2167128"/>
            <a:ext cx="1517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结果改写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957816" y="1938528"/>
            <a:ext cx="256032" cy="182880"/>
          </a:xfrm>
          <a:prstGeom prst="chevron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195560" y="1600200"/>
            <a:ext cx="1664208" cy="896112"/>
          </a:xfrm>
          <a:prstGeom prst="roundRect">
            <a:avLst>
              <a:gd name="adj" fmla="val 7143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95560" y="1600200"/>
            <a:ext cx="1664208" cy="914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68712" y="1746504"/>
            <a:ext cx="15179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923C"/>
                </a:solidFill>
              </a:rPr>
              <a:t>Failure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B923C"/>
                </a:solidFill>
              </a:rPr>
              <a:t>Hooks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268712" y="2167128"/>
            <a:ext cx="1517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错误处理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" y="2761488"/>
            <a:ext cx="3566160" cy="3017520"/>
          </a:xfrm>
          <a:prstGeom prst="roundRect">
            <a:avLst>
              <a:gd name="adj" fmla="val 2121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04672" y="288950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Pre Hook 能返回什么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804672" y="3182112"/>
            <a:ext cx="320040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message：直接注入 UI / transcript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hookPermissionResult：allow / ask / deny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hookUpdatedInput：只改输入，不改权限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preventContinuation：阻断后续控制流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additionalContext：附加上下文给模型</a:t>
            </a:r>
            <a:endParaRPr lang="en-US" sz="1080" dirty="0"/>
          </a:p>
        </p:txBody>
      </p:sp>
      <p:sp>
        <p:nvSpPr>
          <p:cNvPr id="43" name="Shape 41"/>
          <p:cNvSpPr/>
          <p:nvPr/>
        </p:nvSpPr>
        <p:spPr>
          <a:xfrm>
            <a:off x="4315968" y="2761488"/>
            <a:ext cx="3566160" cy="3017520"/>
          </a:xfrm>
          <a:prstGeom prst="roundRect">
            <a:avLst>
              <a:gd name="adj" fmla="val 2121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498848" y="288950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7171"/>
                </a:solidFill>
              </a:rPr>
              <a:t>权限决策优先级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4498848" y="3182112"/>
            <a:ext cx="320040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① Hook deny → 直接拒绝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② Hook allow → 再跑 checkRuleBasedPermissions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③ Rule deny/ask → 可覆盖 hook allow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④ 无 hook 决策 → 进入 canUseTool() 流程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结论：权限是 hook + rule + UI 三层叠加</a:t>
            </a:r>
            <a:endParaRPr lang="en-US" sz="1080" dirty="0"/>
          </a:p>
        </p:txBody>
      </p:sp>
      <p:sp>
        <p:nvSpPr>
          <p:cNvPr id="46" name="Shape 44"/>
          <p:cNvSpPr/>
          <p:nvPr/>
        </p:nvSpPr>
        <p:spPr>
          <a:xfrm>
            <a:off x="8010144" y="2761488"/>
            <a:ext cx="3566160" cy="3017520"/>
          </a:xfrm>
          <a:prstGeom prst="roundRect">
            <a:avLst>
              <a:gd name="adj" fmla="val 2121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8193024" y="288950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8EF5"/>
                </a:solidFill>
              </a:rPr>
              <a:t>Post / Failure Hook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8193024" y="3182112"/>
            <a:ext cx="320040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成功：可产出额外 attachment / message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成功：可 preventContinuation 阻止继续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MCP tool：可 updatedMCPToolOutput 改写输出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失败：runPostToolUseFailureHooks() 策略化处理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4CDD8"/>
                </a:solidFill>
              </a:rPr>
              <a:t>• 因此成功与失败都被统一纳入 hook 协议</a:t>
            </a:r>
            <a:endParaRPr lang="en-US" sz="10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687068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923C"/>
                </a:solidFill>
              </a:rPr>
              <a:t>Tool Runtime · 03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权限系统：不是一个 bool，而是 Mode + Rules + Classifier + Shell Analysis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这套系统让 Claude Code 可以被企业策略、本地规则和用户偏好共同治理。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14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3310128" cy="4206240"/>
          </a:xfrm>
          <a:prstGeom prst="roundRect">
            <a:avLst>
              <a:gd name="adj" fmla="val 1934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64208"/>
            <a:ext cx="2944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Permission Modes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1956816"/>
            <a:ext cx="2944368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default：默认交互模式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plan：只规划，不执行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acceptEdits：自动接受文件修改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bypassPermissions：受信任模式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dontAsk：静默模式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auto：自动（feature gated）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每个 mode 都有 title / symbol 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color / external 映射，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同时服务策略、UI 和对外接口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078224" y="1536192"/>
            <a:ext cx="3310128" cy="4206240"/>
          </a:xfrm>
          <a:prstGeom prst="roundRect">
            <a:avLst>
              <a:gd name="adj" fmla="val 1934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61104" y="1664208"/>
            <a:ext cx="2944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7171"/>
                </a:solidFill>
              </a:rPr>
              <a:t>规则系统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261104" y="1956816"/>
            <a:ext cx="2944368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permissionRuleParser.ts 解析规则字符串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例：Bash(npm install) / Edit(src/**)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shellRuleMatching.ts 匹配 shell 命令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filesystem.ts 处理读写范围与路径分析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shadowedRuleDetection.ts 检测冗余规则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规则可来自：CLAUDE.md / 企业策略 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用户设置 / 会话临时授权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34656" y="1536192"/>
            <a:ext cx="4041648" cy="4206240"/>
          </a:xfrm>
          <a:prstGeom prst="roundRect">
            <a:avLst>
              <a:gd name="adj" fmla="val 1584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17536" y="1664208"/>
            <a:ext cx="36758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Bash Classifier（自动审批）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17536" y="1956816"/>
            <a:ext cx="3675888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bashClassifier.ts 对 shell 命令做风险分类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yoloClassifier.ts 在 bypass 模式下处理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dangerousPatterns.ts 维护危险命令模式库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classifierDecision.ts 给出审批建议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高置信度安全命令可跳过用户确认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这使 agent 在 auto 模式下能高效运行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CDD8"/>
                </a:solidFill>
              </a:rPr>
              <a:t>• 同时保留对高风险命令的拦截能力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D1829"/>
          </a:solidFill>
          <a:ln w="12700">
            <a:solidFill>
              <a:srgbClr val="0D182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6248095" cy="68580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9601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0" y="19202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0" y="288036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0" y="384048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0" y="480060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0" y="57607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0" y="67208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0972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5A623"/>
                </a:solidFill>
              </a:rPr>
              <a:t>SECTION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14173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Multi-Agent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Swarm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" y="310896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BB5"/>
                </a:solidFill>
              </a:rPr>
              <a:t>多 Agent 不是演示特性，而是带状态、可追踪、可治理的 Actor 子系统。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0" y="16459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>
                    <a:alpha val="80000"/>
                  </a:srgbClr>
                </a:solidFill>
              </a:rPr>
              <a:t>04</a:t>
            </a:r>
            <a:endParaRPr lang="en-US" sz="8000" dirty="0"/>
          </a:p>
        </p:txBody>
      </p:sp>
      <p:sp>
        <p:nvSpPr>
          <p:cNvPr id="16" name="Text 14"/>
          <p:cNvSpPr/>
          <p:nvPr/>
        </p:nvSpPr>
        <p:spPr>
          <a:xfrm>
            <a:off x="6583680" y="32004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主 agent 只是第一个 agent，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系统从一开始就允许递归生成更多。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15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609344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78BFA"/>
                </a:solidFill>
              </a:rPr>
              <a:t>Multi-Agent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AgentTool → runAgent → inProcessRunner：从工具调用到子 Agent 运行时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这条链路证明：多 Agent 是 Query Loop 的内生能力，不是外部 orchestration shell。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16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566928" y="1600200"/>
            <a:ext cx="2103120" cy="1005840"/>
          </a:xfrm>
          <a:prstGeom prst="roundRect">
            <a:avLst>
              <a:gd name="adj" fmla="val 6364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1600200"/>
            <a:ext cx="2103120" cy="9144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173736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模型调用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AgentTool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15798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像调用普通工具一样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2679192" y="2029968"/>
            <a:ext cx="256032" cy="182880"/>
          </a:xfrm>
          <a:prstGeom prst="chevron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98648" y="1600200"/>
            <a:ext cx="2103120" cy="1005840"/>
          </a:xfrm>
          <a:prstGeom prst="roundRect">
            <a:avLst>
              <a:gd name="adj" fmla="val 6364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98648" y="1600200"/>
            <a:ext cx="2103120" cy="91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90088" y="173736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AgentTool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解析参数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90088" y="215798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prompt / type / mode</a:t>
            </a:r>
            <a:endParaRPr lang="en-US" sz="8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isolation / cwd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010912" y="2029968"/>
            <a:ext cx="256032" cy="182880"/>
          </a:xfrm>
          <a:prstGeom prst="chevron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30368" y="1600200"/>
            <a:ext cx="2103120" cy="1005840"/>
          </a:xfrm>
          <a:prstGeom prst="roundRect">
            <a:avLst>
              <a:gd name="adj" fmla="val 6364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1600200"/>
            <a:ext cx="2103120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21808" y="173736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runAgent()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构建子运行时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21808" y="215798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agentId / transcript</a:t>
            </a:r>
            <a:endParaRPr lang="en-US" sz="8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裁剪上下文 / 初始化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7342632" y="2029968"/>
            <a:ext cx="256032" cy="182880"/>
          </a:xfrm>
          <a:prstGeom prst="chevron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62088" y="1600200"/>
            <a:ext cx="2103120" cy="1005840"/>
          </a:xfrm>
          <a:prstGeom prst="roundRect">
            <a:avLst>
              <a:gd name="adj" fmla="val 6364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62088" y="1600200"/>
            <a:ext cx="2103120" cy="914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53528" y="173736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923C"/>
                </a:solidFill>
              </a:rPr>
              <a:t>inProcessRunner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B923C"/>
                </a:solidFill>
              </a:rPr>
              <a:t>或 background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53528" y="215798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context 隔离</a:t>
            </a:r>
            <a:endParaRPr lang="en-US" sz="8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共享终端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9674352" y="2029968"/>
            <a:ext cx="256032" cy="182880"/>
          </a:xfrm>
          <a:prstGeom prst="chevron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93808" y="1600200"/>
            <a:ext cx="2103120" cy="1005840"/>
          </a:xfrm>
          <a:prstGeom prst="roundRect">
            <a:avLst>
              <a:gd name="adj" fmla="val 6364"/>
            </a:avLst>
          </a:prstGeom>
          <a:solidFill>
            <a:srgbClr val="162035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93808" y="1600200"/>
            <a:ext cx="2103120" cy="914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85248" y="173736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</a:rPr>
              <a:t>query.ts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</a:rPr>
              <a:t>子代理循环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985248" y="215798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完整 agent loop</a:t>
            </a:r>
            <a:endParaRPr lang="en-US" sz="8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</a:rPr>
              <a:t>复用主内核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621792" y="2926080"/>
            <a:ext cx="5376672" cy="2798064"/>
          </a:xfrm>
          <a:prstGeom prst="roundRect">
            <a:avLst>
              <a:gd name="adj" fmla="val 2288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04672" y="3054096"/>
            <a:ext cx="50109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runAgent() 关键逻辑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04672" y="3346704"/>
            <a:ext cx="5010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计算子代理使用的 model（可与父代理不同）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创建 agentId，设置 transcript 子目录与 trace 层级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构造 initialMessages，过滤 incomplete tool calls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根据 agent type 裁剪 claudeMd / gitStatus 等上下文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子代理不继承父代理所有上下文——这是关键设计决策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最终调用 query()，形成子代理递归 loop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53912" y="2926080"/>
            <a:ext cx="5413248" cy="2798064"/>
          </a:xfrm>
          <a:prstGeom prst="roundRect">
            <a:avLst>
              <a:gd name="adj" fmla="val 2288"/>
            </a:avLst>
          </a:prstGeom>
          <a:solidFill>
            <a:srgbClr val="1A2640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336792" y="3054096"/>
            <a:ext cx="50474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inProcessRunner 额外职责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336792" y="3346704"/>
            <a:ext cx="504748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AsyncLocalStorage / teammate context 做上下文隔离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把进度更新和 AppState 写回 leader 可见状态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完成后给 leader 发 idle notification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支持 plan mode approval flow / abort cleanup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4CDD8"/>
                </a:solidFill>
              </a:rPr>
              <a:t>• 权限申请优先通过 leader UI bridge，不可用时降级为 mailbox sync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609344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78BFA"/>
                </a:solidFill>
              </a:rPr>
              <a:t>Multi-Agent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Teammate 是持续存活的 Actor，而不是一次性函数调用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waitForNextPromptOrShutdown() 实现的 idle 循环，让 subagent 能响应多轮任务。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17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13232" y="1691640"/>
            <a:ext cx="1645920" cy="841248"/>
          </a:xfrm>
          <a:prstGeom prst="roundRect">
            <a:avLst>
              <a:gd name="adj" fmla="val 7609"/>
            </a:avLst>
          </a:prstGeom>
          <a:solidFill>
            <a:srgbClr val="162035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1892808"/>
            <a:ext cx="14996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</a:rPr>
              <a:t>idle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95728" y="2002536"/>
            <a:ext cx="256032" cy="182880"/>
          </a:xfrm>
          <a:prstGeom prst="chevron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42032" y="1691640"/>
            <a:ext cx="1645920" cy="841248"/>
          </a:xfrm>
          <a:prstGeom prst="roundRect">
            <a:avLst>
              <a:gd name="adj" fmla="val 7609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15184" y="1892808"/>
            <a:ext cx="14996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4B8EF5"/>
                </a:solidFill>
              </a:rPr>
              <a:t>pending msgs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24528" y="2002536"/>
            <a:ext cx="256032" cy="182880"/>
          </a:xfrm>
          <a:prstGeom prst="chevron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70832" y="1691640"/>
            <a:ext cx="1645920" cy="841248"/>
          </a:xfrm>
          <a:prstGeom prst="roundRect">
            <a:avLst>
              <a:gd name="adj" fmla="val 7609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43984" y="1892808"/>
            <a:ext cx="14996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poll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</a:rPr>
              <a:t>mailbox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53328" y="2002536"/>
            <a:ext cx="256032" cy="182880"/>
          </a:xfrm>
          <a:prstGeom prst="chevron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9632" y="1691640"/>
            <a:ext cx="1645920" cy="841248"/>
          </a:xfrm>
          <a:prstGeom prst="roundRect">
            <a:avLst>
              <a:gd name="adj" fmla="val 7609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72784" y="1892808"/>
            <a:ext cx="14996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claim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team task?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82128" y="2002536"/>
            <a:ext cx="256032" cy="182880"/>
          </a:xfrm>
          <a:prstGeom prst="chevron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28432" y="1691640"/>
            <a:ext cx="1645920" cy="841248"/>
          </a:xfrm>
          <a:prstGeom prst="roundRect">
            <a:avLst>
              <a:gd name="adj" fmla="val 7609"/>
            </a:avLst>
          </a:prstGeom>
          <a:solidFill>
            <a:srgbClr val="162035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01584" y="1892808"/>
            <a:ext cx="14996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</a:rPr>
              <a:t>run prompt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7171"/>
                </a:solidFill>
              </a:rPr>
              <a:t>shutdown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2724912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BB5"/>
                </a:solidFill>
              </a:rPr>
              <a:t>每 500ms 轮询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21792" y="2880360"/>
            <a:ext cx="2743200" cy="2871216"/>
          </a:xfrm>
          <a:prstGeom prst="roundRect">
            <a:avLst>
              <a:gd name="adj" fmla="val 2333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04672" y="3008376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Mailbox 通信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04672" y="3300984"/>
            <a:ext cx="237744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leader / teammate 通过 mailbox 交换消息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优先处理 shutdown request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再处理 team lead 消息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teammateMailbox.ts 管理消息队列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11296" y="2880360"/>
            <a:ext cx="2743200" cy="2871216"/>
          </a:xfrm>
          <a:prstGeom prst="roundRect">
            <a:avLst>
              <a:gd name="adj" fmla="val 2333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694176" y="3008376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Task Claim 系统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694176" y="3300984"/>
            <a:ext cx="237744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tasks.ts 维护团队任务列表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空闲时主动尝试 claim 可用任务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任务有 owner 概念，防止重复执行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完成后写回 task output，持久化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00800" y="2880360"/>
            <a:ext cx="2743200" cy="2871216"/>
          </a:xfrm>
          <a:prstGeom prst="roundRect">
            <a:avLst>
              <a:gd name="adj" fmla="val 2333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83680" y="3008376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7171"/>
                </a:solidFill>
              </a:rPr>
              <a:t>Permission Bridge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583680" y="3300984"/>
            <a:ext cx="237744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worker ask 权限 → 先尝试 leader UI queue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leader UI 不可用 → 降级为 mailbox sync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成功时写回 permission updates 到 leader 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worker 不会绕开权限系统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290304" y="2880360"/>
            <a:ext cx="2743200" cy="2871216"/>
          </a:xfrm>
          <a:prstGeom prst="roundRect">
            <a:avLst>
              <a:gd name="adj" fmla="val 2333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9473184" y="3008376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8EF5"/>
                </a:solidFill>
              </a:rPr>
              <a:t>Built-in Agents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473184" y="3300984"/>
            <a:ext cx="237744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builtInAgents.ts：feature-gated agent registry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Explore / Plan / Verification / Code Guide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SDK 场景可通过环境变量禁用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4CDD8"/>
                </a:solidFill>
              </a:rPr>
              <a:t>• coordinator mode 下使用 workerAgent.js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D1829"/>
          </a:solidFill>
          <a:ln w="12700">
            <a:solidFill>
              <a:srgbClr val="0D182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6248095" cy="68580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9601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0" y="19202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0" y="288036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0" y="384048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0" y="480060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0" y="576072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0" y="6720840"/>
            <a:ext cx="6248095" cy="13716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0972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5A623"/>
                </a:solidFill>
              </a:rPr>
              <a:t>SECTION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14173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扩展层与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</a:rPr>
              <a:t>多 Surface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" y="310896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BB5"/>
                </a:solidFill>
              </a:rPr>
              <a:t>MCP / Skills / Plugins / Commands 如何汇合；Terminal / Bridge / SDK 如何共用一套引擎。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0" y="16459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>
                    <a:alpha val="80000"/>
                  </a:srgbClr>
                </a:solidFill>
              </a:rPr>
              <a:t>05</a:t>
            </a:r>
            <a:endParaRPr lang="en-US" sz="8000" dirty="0"/>
          </a:p>
        </p:txBody>
      </p:sp>
      <p:sp>
        <p:nvSpPr>
          <p:cNvPr id="16" name="Text 14"/>
          <p:cNvSpPr/>
          <p:nvPr/>
        </p:nvSpPr>
        <p:spPr>
          <a:xfrm>
            <a:off x="6583680" y="32004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不同入口改变的只是 ingress/egress，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</a:rPr>
              <a:t>推理内核始终是同一套。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18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987552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D3EE"/>
                </a:solidFill>
              </a:rPr>
              <a:t>扩展层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Plugin / Skill / Command / MCP：四条通道，最终折叠进同一个 Tool Surface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这四层经常被混淆，但在源码里边界非常清晰，职责完全不同。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19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72768"/>
            <a:ext cx="2523744" cy="914400"/>
          </a:xfrm>
          <a:prstGeom prst="roundRect">
            <a:avLst>
              <a:gd name="adj" fmla="val 7000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68249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Plugin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1956816"/>
            <a:ext cx="2304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pluginLoader.ts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安装 / manifest / 分发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 rot="5400000">
            <a:off x="1572768" y="2560320"/>
            <a:ext cx="566928" cy="292608"/>
          </a:xfrm>
          <a:prstGeom prst="chevron">
            <a:avLst/>
          </a:prstGeom>
          <a:solidFill>
            <a:srgbClr val="A78BFA">
              <a:alpha val="7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73552" y="1572768"/>
            <a:ext cx="2523744" cy="914400"/>
          </a:xfrm>
          <a:prstGeom prst="roundRect">
            <a:avLst>
              <a:gd name="adj" fmla="val 7000"/>
            </a:avLst>
          </a:prstGeom>
          <a:solidFill>
            <a:srgbClr val="162035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168249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</a:rPr>
              <a:t>Skill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83280" y="1956816"/>
            <a:ext cx="2304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loadSkillsDir.ts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工作流模板 / 经验封装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 rot="5400000">
            <a:off x="4224528" y="2560320"/>
            <a:ext cx="566928" cy="292608"/>
          </a:xfrm>
          <a:prstGeom prst="chevron">
            <a:avLst/>
          </a:prstGeom>
          <a:solidFill>
            <a:srgbClr val="34D399">
              <a:alpha val="70000"/>
            </a:srgbClr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25312" y="1572768"/>
            <a:ext cx="2523744" cy="914400"/>
          </a:xfrm>
          <a:prstGeom prst="roundRect">
            <a:avLst>
              <a:gd name="adj" fmla="val 7000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168249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8EF5"/>
                </a:solidFill>
              </a:rPr>
              <a:t>Command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35040" y="1956816"/>
            <a:ext cx="2304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commands.ts (101个)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用户显式入口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 rot="5400000">
            <a:off x="6876288" y="2560320"/>
            <a:ext cx="566928" cy="292608"/>
          </a:xfrm>
          <a:prstGeom prst="chevron">
            <a:avLst/>
          </a:prstGeom>
          <a:solidFill>
            <a:srgbClr val="4B8EF5">
              <a:alpha val="70000"/>
            </a:srgbClr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77072" y="1572768"/>
            <a:ext cx="2523744" cy="914400"/>
          </a:xfrm>
          <a:prstGeom prst="roundRect">
            <a:avLst>
              <a:gd name="adj" fmla="val 7000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0" y="168249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</a:rPr>
              <a:t>MCP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686800" y="1956816"/>
            <a:ext cx="23042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services/mcp/client.ts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A9BB5"/>
                </a:solidFill>
              </a:rPr>
              <a:t>外部 server 能力桥接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 rot="5400000">
            <a:off x="9528048" y="2560320"/>
            <a:ext cx="566928" cy="292608"/>
          </a:xfrm>
          <a:prstGeom prst="chevron">
            <a:avLst/>
          </a:prstGeom>
          <a:solidFill>
            <a:srgbClr val="F5A623">
              <a:alpha val="70000"/>
            </a:srgbClr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86000" y="2999232"/>
            <a:ext cx="7589520" cy="841248"/>
          </a:xfrm>
          <a:prstGeom prst="roundRect">
            <a:avLst>
              <a:gd name="adj" fmla="val 8696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  <a:effectLst>
            <a:outerShdw sx="100000" sy="100000" kx="0" ky="0" algn="bl" rotWithShape="0" blurRad="38100" dist="6350" dir="2700000">
              <a:srgbClr val="F5A623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286000" y="3200400"/>
            <a:ext cx="7589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111F"/>
                </a:solidFill>
              </a:rPr>
              <a:t>Shared Tool Surface  +  Command Surface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286000" y="3602736"/>
            <a:ext cx="7589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1829"/>
                </a:solidFill>
              </a:rPr>
              <a:t>tools.ts · toolExecution.ts · permissions · hooks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" y="4023360"/>
            <a:ext cx="265176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4133088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78BFA"/>
                </a:solidFill>
              </a:rPr>
              <a:t>Plugin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21792" y="438912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管分发、安装、manifest，最终转化为可用工具或命令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438144" y="4023360"/>
            <a:ext cx="2651760" cy="5486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8144" y="4133088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</a:rPr>
              <a:t>Skill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438144" y="438912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封装工作流模板，很多情况下最终下沉为 command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54496" y="4023360"/>
            <a:ext cx="2651760" cy="54864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54496" y="4133088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B8EF5"/>
                </a:solidFill>
              </a:rPr>
              <a:t>Command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254496" y="438912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用户显式调用入口，101 个命令覆盖开发全流程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070848" y="4023360"/>
            <a:ext cx="265176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70848" y="4133088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</a:rPr>
              <a:t>MCP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9070848" y="4389120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把外部 server 的 tools / resources 映射进本地 runtime，仍受本地治理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987552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D3EE"/>
                </a:solidFill>
              </a:rPr>
              <a:t>扩展层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Terminal / Bridge / SDK：不同 Surface 共用同一套推理引擎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这是「same engine across surfaces」在源码层面的真实落点。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20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3602736" cy="4553712"/>
          </a:xfrm>
          <a:prstGeom prst="roundRect">
            <a:avLst>
              <a:gd name="adj" fmla="val 1777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64208"/>
            <a:ext cx="32369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8EF5"/>
                </a:solidFill>
              </a:rPr>
              <a:t>Terminal REPL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" y="1536192"/>
            <a:ext cx="3602736" cy="9144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1901952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ink/components/App.tsx</a:t>
            </a:r>
            <a:endParaRPr lang="en-US" sz="8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AppStateProvider</a:t>
            </a:r>
            <a:endParaRPr lang="en-US" sz="8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cli/print.ts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786384" y="2423160"/>
            <a:ext cx="3273552" cy="9144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2487168"/>
            <a:ext cx="327355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Ink (React 终端 UI) 渲染交互界面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AppState 共享运行时状态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支持 Vim 模式 (vim/ 目录)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权限弹窗直接在终端 UI 显示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支持 voice/ 语音交互（实验性）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443984" y="1536192"/>
            <a:ext cx="3602736" cy="4553712"/>
          </a:xfrm>
          <a:prstGeom prst="roundRect">
            <a:avLst>
              <a:gd name="adj" fmla="val 1777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26864" y="1664208"/>
            <a:ext cx="32369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Bridge / Remote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443984" y="1536192"/>
            <a:ext cx="3602736" cy="91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08576" y="1901952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bridge/bridgeMain.ts</a:t>
            </a:r>
            <a:endParaRPr lang="en-US" sz="8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initReplBridge.ts</a:t>
            </a:r>
            <a:endParaRPr lang="en-US" sz="8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bridgeUI.ts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4608576" y="2423160"/>
            <a:ext cx="3273552" cy="9144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08576" y="2487168"/>
            <a:ext cx="327355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把远端消息重新注入本地消息队列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replBridge.ts 建立双向通道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bridgeUI.ts 在 bridge 模式显示 UI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sessionRunner.ts 管理远程会话生命周期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trustedDevice.ts 处理远端认证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66176" y="1536192"/>
            <a:ext cx="3602736" cy="4553712"/>
          </a:xfrm>
          <a:prstGeom prst="roundRect">
            <a:avLst>
              <a:gd name="adj" fmla="val 1777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449056" y="1664208"/>
            <a:ext cx="32369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</a:rPr>
              <a:t>SDK / Headless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266176" y="1536192"/>
            <a:ext cx="3602736" cy="91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30768" y="1901952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QueryEngine.ts SDK 接口</a:t>
            </a:r>
            <a:endParaRPr lang="en-US" sz="8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cli/print.ts 结构化输出</a:t>
            </a:r>
            <a:endParaRPr lang="en-US" sz="8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remote/ 目录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430768" y="2423160"/>
            <a:ext cx="3273552" cy="9144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30768" y="2487168"/>
            <a:ext cx="327355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QueryEngine 对外提供稳定 SDK API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cli/print.ts 格式化结构化输出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可通过环境变量禁用 built-in agents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sdkMessageAdapter.ts 适配消息格式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C4CDD8"/>
                </a:solidFill>
              </a:rPr>
              <a:t>• SessionsWebSocket.ts 管理 SDK 会话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1065276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</a:rPr>
              <a:t>特色功能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这些你可能没想到它会有：Voice、Vim、Buddy、KAIROS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这些不是边角功能——它们暗示了产品对「AI 工作方式」更深远的设想。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21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54480"/>
            <a:ext cx="5559552" cy="2011680"/>
          </a:xfrm>
          <a:prstGeom prst="roundRect">
            <a:avLst>
              <a:gd name="adj" fmla="val 318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1682496"/>
            <a:ext cx="5193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</a:rPr>
              <a:t>Voice 模式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" y="1554480"/>
            <a:ext cx="5559552" cy="91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201168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services/voice.ts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services/voiceStreamSTT.ts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39312" y="2011680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流式语音转文字（STT）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voiceModeEnabled.ts 控制开关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voiceKeyterms.ts 关键词识别优化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集成进主 UI 交互流程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64224" y="1554480"/>
            <a:ext cx="5559552" cy="2011680"/>
          </a:xfrm>
          <a:prstGeom prst="roundRect">
            <a:avLst>
              <a:gd name="adj" fmla="val 318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47104" y="1682496"/>
            <a:ext cx="5193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</a:rPr>
              <a:t>Vim 模式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64224" y="1554480"/>
            <a:ext cx="5559552" cy="91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28816" y="201168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vim/motions.ts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vim/operators.ts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vim/textObjects.ts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381744" y="2011680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完整的 Vim 动作系统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motions / operators / textObjects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transitions.ts 管理模式切换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在终端编辑器内提供 Vim 体验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" y="3794760"/>
            <a:ext cx="5559552" cy="2011680"/>
          </a:xfrm>
          <a:prstGeom prst="roundRect">
            <a:avLst>
              <a:gd name="adj" fmla="val 318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04672" y="3922776"/>
            <a:ext cx="5193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AI Buddy（伴侣 UI）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1792" y="3794760"/>
            <a:ext cx="5559552" cy="914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425196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buddy/companion.ts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buddy/CompanionSprite.tsx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buddy/sprites.ts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39312" y="4251960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像素风格 AI 伴侣动画精灵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useBuddyNotification 推送通知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companion.ts 管理伴侣状态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通过精灵动画表达工作状态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64224" y="3794760"/>
            <a:ext cx="5559552" cy="2011680"/>
          </a:xfrm>
          <a:prstGeom prst="roundRect">
            <a:avLst>
              <a:gd name="adj" fmla="val 3182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  <a:effectLst>
            <a:outerShdw sx="100000" sy="100000" kx="0" ky="0" algn="bl" rotWithShape="0" blurRad="19050" dist="4445" dir="27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47104" y="3922776"/>
            <a:ext cx="51937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623"/>
                </a:solidFill>
              </a:rPr>
              <a:t>Memory / memdir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64224" y="3794760"/>
            <a:ext cx="5559552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28816" y="4251960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memdir/memdir.ts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memdir/findRelevantMemories.ts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8A9BB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services/SessionMemory/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381744" y="4251960"/>
            <a:ext cx="23774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结构化记忆文件目录系统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findRelevantMemories 语义搜索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teamMemPrompts 团队共享记忆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C4CDD8"/>
                </a:solidFill>
              </a:rPr>
              <a:t>• 跨会话持久化 agent 经验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909828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B8EF5"/>
                </a:solidFill>
              </a:rPr>
              <a:t>总结 ·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如何继续阅读源码：建议按这条顺序推进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先建立全局模型，再逐层下钻——避免在细节里迷失。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4B8EF5"/>
          </a:solidFill>
          <a:ln w="12700">
            <a:solidFill>
              <a:srgbClr val="4B8EF5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22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36192"/>
            <a:ext cx="5623560" cy="4480560"/>
          </a:xfrm>
          <a:prstGeom prst="roundRect">
            <a:avLst>
              <a:gd name="adj" fmla="val 1633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166420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</a:rPr>
              <a:t>第一轮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04672" y="1956816"/>
            <a:ext cx="5257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5"/>
                </a:solidFill>
              </a:rPr>
              <a:t>建立系统大图（理解 70% 行为）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2249424"/>
            <a:ext cx="5257800" cy="9144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340864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5A6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entrypoints/cli.tsx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822960" y="2569464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入口分流逻辑与启动策略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822960" y="3054096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5A6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main.tsx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822960" y="32826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startup 编排全景（4,683 行，建议用 outline view）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822960" y="376732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5A6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QueryEngine.ts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822960" y="399592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会话对象设计与 SDK 接口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822960" y="4480560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5A6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query.ts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822960" y="47091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agent loop 的真正核心，递归状态机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822960" y="5193792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5A6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Tool.ts + tools.ts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822960" y="542239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tool 抽象模型与 registry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492240" y="1536192"/>
            <a:ext cx="5623560" cy="4480560"/>
          </a:xfrm>
          <a:prstGeom prst="roundRect">
            <a:avLst>
              <a:gd name="adj" fmla="val 1633"/>
            </a:avLst>
          </a:prstGeom>
          <a:solidFill>
            <a:srgbClr val="162035"/>
          </a:solidFill>
          <a:ln w="12700">
            <a:solidFill>
              <a:srgbClr val="4B8E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166420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8EF5"/>
                </a:solidFill>
              </a:rPr>
              <a:t>第二轮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1956816"/>
            <a:ext cx="5257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B5"/>
                </a:solidFill>
              </a:rPr>
              <a:t>攻克执行与扩展层（理解剩余 30%）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675120" y="2249424"/>
            <a:ext cx="5257800" cy="9144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93408" y="2340864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4B8EF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services/tools/toolExecution.ts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6693408" y="2569464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工具执行主路径与 hook 编排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6693408" y="3054096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4B8EF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services/tools/toolHooks.ts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6693408" y="32826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Pre/Post hook 协议细节</a:t>
            </a:r>
            <a:endParaRPr lang="en-US" sz="980" dirty="0"/>
          </a:p>
        </p:txBody>
      </p:sp>
      <p:sp>
        <p:nvSpPr>
          <p:cNvPr id="33" name="Text 31"/>
          <p:cNvSpPr/>
          <p:nvPr/>
        </p:nvSpPr>
        <p:spPr>
          <a:xfrm>
            <a:off x="6693408" y="3767328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4B8EF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tools/AgentTool/ + utils/swarm/</a:t>
            </a:r>
            <a:endParaRPr lang="en-US" sz="1020" dirty="0"/>
          </a:p>
        </p:txBody>
      </p:sp>
      <p:sp>
        <p:nvSpPr>
          <p:cNvPr id="34" name="Text 32"/>
          <p:cNvSpPr/>
          <p:nvPr/>
        </p:nvSpPr>
        <p:spPr>
          <a:xfrm>
            <a:off x="6693408" y="399592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多 Agent 运行时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6693408" y="4480560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4B8EF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services/mcp/client.ts</a:t>
            </a:r>
            <a:endParaRPr lang="en-US" sz="1020" dirty="0"/>
          </a:p>
        </p:txBody>
      </p:sp>
      <p:sp>
        <p:nvSpPr>
          <p:cNvPr id="36" name="Text 34"/>
          <p:cNvSpPr/>
          <p:nvPr/>
        </p:nvSpPr>
        <p:spPr>
          <a:xfrm>
            <a:off x="6693408" y="47091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外部能力接入协议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6693408" y="5193792"/>
            <a:ext cx="5212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4B8EF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utils/permissions/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6693408" y="542239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4CDD8"/>
                </a:solidFill>
              </a:rPr>
              <a:t>权限系统全景</a:t>
            </a:r>
            <a:endParaRPr lang="en-US" sz="9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274320"/>
            <a:ext cx="909828" cy="201168"/>
          </a:xfrm>
          <a:prstGeom prst="roundRect">
            <a:avLst>
              <a:gd name="adj" fmla="val 18182"/>
            </a:avLst>
          </a:prstGeom>
          <a:solidFill>
            <a:srgbClr val="1E2E4A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88036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</a:rPr>
              <a:t>总结 · 02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548640"/>
            <a:ext cx="1051560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</a:rPr>
              <a:t>三个可以直接带走的结论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58368" y="1115568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B5"/>
                </a:solidFill>
              </a:rPr>
              <a:t>这些结论由源码事实支撑，不是主观评价。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23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621792" y="1554480"/>
            <a:ext cx="10954512" cy="1389888"/>
          </a:xfrm>
          <a:prstGeom prst="roundRect">
            <a:avLst>
              <a:gd name="adj" fmla="val 4605"/>
            </a:avLst>
          </a:prstGeom>
          <a:solidFill>
            <a:srgbClr val="16203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1554480"/>
            <a:ext cx="804672" cy="1389888"/>
          </a:xfrm>
          <a:prstGeom prst="roundRect">
            <a:avLst>
              <a:gd name="adj" fmla="val 7955"/>
            </a:avLst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029968"/>
            <a:ext cx="804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9111F"/>
                </a:solidFill>
              </a:rPr>
              <a:t>01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72768" y="1664208"/>
            <a:ext cx="9784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A623"/>
                </a:solidFill>
              </a:rPr>
              <a:t>它是 Terminal Agent Runtime，不是「聊天 CLI」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572768" y="1993392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4CDD8"/>
                </a:solidFill>
              </a:rPr>
              <a:t>系统中心是 QueryEngine / query.ts 构成的递归 Agent Loop，而不是终端 UI 本身。UI、Bridge、SDK 只是不同的 surface，共享同一套推理内核。4,683 行的 main.tsx 启动编排直接说明了这是平台级产品。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" y="3108960"/>
            <a:ext cx="10954512" cy="1389888"/>
          </a:xfrm>
          <a:prstGeom prst="roundRect">
            <a:avLst>
              <a:gd name="adj" fmla="val 4605"/>
            </a:avLst>
          </a:prstGeom>
          <a:solidFill>
            <a:srgbClr val="162035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3108960"/>
            <a:ext cx="804672" cy="1389888"/>
          </a:xfrm>
          <a:prstGeom prst="roundRect">
            <a:avLst>
              <a:gd name="adj" fmla="val 7955"/>
            </a:avLst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3584448"/>
            <a:ext cx="804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9111F"/>
                </a:solidFill>
              </a:rPr>
              <a:t>02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72768" y="3218688"/>
            <a:ext cx="9784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B923C"/>
                </a:solidFill>
              </a:rPr>
              <a:t>权限系统是架构必需品，不是后期添加的防护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572768" y="3547872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4CDD8"/>
                </a:solidFill>
              </a:rPr>
              <a:t>Hook + Rules + Classifier + Mode 四层构成的权限决策树，位于工具执行的主路径上，不是可绕过的 middleware。这使它能同时服务本地开发者、企业策略和 headless 自动化场景。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" y="4663440"/>
            <a:ext cx="10954512" cy="1389888"/>
          </a:xfrm>
          <a:prstGeom prst="roundRect">
            <a:avLst>
              <a:gd name="adj" fmla="val 4605"/>
            </a:avLst>
          </a:prstGeom>
          <a:solidFill>
            <a:srgbClr val="16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" y="4663440"/>
            <a:ext cx="804672" cy="1389888"/>
          </a:xfrm>
          <a:prstGeom prst="roundRect">
            <a:avLst>
              <a:gd name="adj" fmla="val 7955"/>
            </a:avLst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5138928"/>
            <a:ext cx="804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9111F"/>
                </a:solidFill>
              </a:rPr>
              <a:t>03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572768" y="4773168"/>
            <a:ext cx="9784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78BFA"/>
                </a:solidFill>
              </a:rPr>
              <a:t>多 Agent 是可治理的 Actor 系统，不是并发调用模型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572768" y="5102352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4CDD8"/>
                </a:solidFill>
              </a:rPr>
              <a:t>inProcessRunner 的 Actor 模型（mailbox + task claim + idle loop）+ 权限 bridge 机制，让子代理在不绕开任何治理的情况下真正协作。这才是「multi-agent」从概念变成工程的关键。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9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772400" cy="6858000"/>
          </a:xfrm>
          <a:prstGeom prst="rect">
            <a:avLst/>
          </a:prstGeom>
          <a:solidFill>
            <a:srgbClr val="0D1829"/>
          </a:solidFill>
          <a:ln w="12700">
            <a:solidFill>
              <a:srgbClr val="0D182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71600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5A623"/>
                </a:solidFill>
              </a:rPr>
              <a:t>Thanks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25146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DF5"/>
                </a:solidFill>
              </a:rPr>
              <a:t>Claude Code Sourcemap 源码解读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999232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A9BB5"/>
                </a:solidFill>
              </a:rPr>
              <a:t>基于 @anthropic-ai/claude-code v2.1.88 source map 还原分析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A9BB5"/>
                </a:solidFill>
              </a:rPr>
              <a:t>仅供研究与学习目的，版权归 Anthropic 所有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7307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关键文件索引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4041648"/>
            <a:ext cx="6217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020" dirty="0">
                <a:solidFill>
                  <a:srgbClr val="C4CDD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QueryEngine.ts + query.ts → Agent Loop</a:t>
            </a:r>
            <a:endParaRPr lang="en-US" sz="102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020" dirty="0">
                <a:solidFill>
                  <a:srgbClr val="C4CDD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main.tsx → startup orchestration</a:t>
            </a:r>
            <a:endParaRPr lang="en-US" sz="102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020" dirty="0">
                <a:solidFill>
                  <a:srgbClr val="C4CDD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services/tools/toolExecution.ts → Tool Runtime</a:t>
            </a:r>
            <a:endParaRPr lang="en-US" sz="102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020" dirty="0">
                <a:solidFill>
                  <a:srgbClr val="C4CDD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tools/AgentTool/ + utils/swarm/ → Multi-Agent</a:t>
            </a:r>
            <a:endParaRPr lang="en-US" sz="102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020" dirty="0">
                <a:solidFill>
                  <a:srgbClr val="C4CDD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utils/permissions/ → Permission System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8321040" y="1645920"/>
            <a:ext cx="2743200" cy="3200400"/>
          </a:xfrm>
          <a:prstGeom prst="roundRect">
            <a:avLst>
              <a:gd name="adj" fmla="val 2667"/>
            </a:avLst>
          </a:prstGeom>
          <a:solidFill>
            <a:srgbClr val="162035"/>
          </a:solidFill>
          <a:ln w="12700">
            <a:solidFill>
              <a:srgbClr val="2A3F5F"/>
            </a:solidFill>
            <a:prstDash val="solid"/>
          </a:ln>
        </p:spPr>
      </p:sp>
      <p:pic>
        <p:nvPicPr>
          <p:cNvPr id="10" name="Image 0" descr="/Users/phodal/Downloads/claude-code-sourcemap-main/artifacts/qrcode_for_gh_2afe73fc7b4a_2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28800"/>
            <a:ext cx="2377440" cy="23774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321040" y="43159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关注公众号 · 持续更新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21040" y="4608576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B5"/>
                </a:solidFill>
              </a:rPr>
              <a:t>phodal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4360" y="6254496"/>
            <a:ext cx="11002975" cy="13716"/>
          </a:xfrm>
          <a:prstGeom prst="rect">
            <a:avLst/>
          </a:prstGeom>
          <a:solidFill>
            <a:srgbClr val="2A3F5F"/>
          </a:solidFill>
          <a:ln w="12700">
            <a:solidFill>
              <a:srgbClr val="2A3F5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630936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A9BB5"/>
                </a:solidFill>
              </a:rPr>
              <a:t>Claude Code Sourcemap 源码解读 · 仅供研究</a:t>
            </a:r>
            <a:endParaRPr lang="en-US" sz="780" dirty="0"/>
          </a:p>
        </p:txBody>
      </p:sp>
      <p:sp>
        <p:nvSpPr>
          <p:cNvPr id="15" name="Shape 12"/>
          <p:cNvSpPr/>
          <p:nvPr/>
        </p:nvSpPr>
        <p:spPr>
          <a:xfrm>
            <a:off x="11228832" y="6364224"/>
            <a:ext cx="73152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698480" y="6291072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B0BDD0"/>
                </a:solidFill>
              </a:rPr>
              <a:t>24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Analysis Report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Code：从 Source Map 看一个 Terminal Agent Runtime 的内部构造</dc:title>
  <dc:subject>Claude Code Sourcemap 源码深度解读</dc:subject>
  <dc:creator>Phodal</dc:creator>
  <cp:lastModifiedBy>Phodal</cp:lastModifiedBy>
  <cp:revision>1</cp:revision>
  <dcterms:created xsi:type="dcterms:W3CDTF">2026-03-31T23:41:05Z</dcterms:created>
  <dcterms:modified xsi:type="dcterms:W3CDTF">2026-03-31T23:41:05Z</dcterms:modified>
</cp:coreProperties>
</file>