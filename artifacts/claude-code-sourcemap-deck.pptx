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
- extract-sources.js
- /Users/phodal/Downloads/claude-code-sourcemap-main/artifacts/qrcode_for_gh_2afe73fc7b4a_258.jpg
- /Users/phodal/Downloads/claude-code-sourcemap-main/.agents/skills/slide-skill/slide_templates/template.pptx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
- extract-sources.js
- package/package.json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
- restored-src/src/ directory census
- find restored-src/src -name '*.ts' -o -name '*.tsx' | wc -l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/Users/phodal/Downloads/claude-code-sourcemap-main/.agents/skills/slide-skill/slide_templates/template.pptx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restored-src/src/entrypoints/cli.tsx
- restored-src/src/main.tsx
- restored-src/src/QueryEngine.ts
- restored-src/src/query.ts
- restored-src/src/services/tools/toolExecution.ts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restored-src/src/QueryEngine.ts
- restored-src/src/query.ts
- restored-src/src/services/tools/toolExecution.ts
- restored-src/src/tools/AgentTool/runAgent.ts
- restored-src/src/utils/swarm/inProcessRunner.ts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/Users/phodal/Downloads/claude-code-sourcemap-main/.agents/skills/slide-skill/slide_templates/template.pptx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restored-src/src/QueryEngine.ts
- restored-src/src/query.ts
- restored-src/src/query/config.ts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restored-src/src/query.ts
- restored-src/src/QueryEngine.ts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restored-src/src/query.ts
- restored-src/src/services/compact/autoCompact.ts
- restored-src/src/services/compact/microCompact.ts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/Users/phodal/Downloads/claude-code-sourcemap-main/.agents/skills/slide-skill/slide_templates/template.pptx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restored-src/src/tools/
- restored-src/src/Tool.ts
- restored-src/src/tools.ts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restored-src/src/services/tools/toolExecution.ts
- restored-src/src/services/tools/toolHooks.ts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restored-src/src/utils/permissions/PermissionMode.ts
- restored-src/src/utils/permissions/permissionRuleParser.ts
- restored-src/src/utils/permissions/bashClassifier.ts
- restored-src/src/utils/permissions/filesystem.ts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/Users/phodal/Downloads/claude-code-sourcemap-main/.agents/skills/slide-skill/slide_templates/template.pptx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restored-src/src/tools/AgentTool/AgentTool.tsx
- restored-src/src/tools/AgentTool/runAgent.ts
- restored-src/src/utils/swarm/inProcessRunner.ts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restored-src/src/utils/swarm/inProcessRunner.ts
- restored-src/src/utils/swarm/permissionSync.ts
- restored-src/src/utils/teammateMailbox.ts
- restored-src/src/utils/tasks.ts
- restored-src/src/tools/AgentTool/builtInAgents.ts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/Users/phodal/Downloads/claude-code-sourcemap-main/.agents/skills/slide-skill/slide_templates/template.pptx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restored-src/src/utils/plugins/pluginLoader.ts
- restored-src/src/skills/loadSkillsDir.ts
- restored-src/src/commands.ts
- restored-src/src/services/mcp/client.ts
- restored-src/src/tools.ts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restored-src/src/ink/components/App.tsx
- restored-src/src/cli/print.ts
- restored-src/src/bridge/bridgeMain.ts
- restored-src/src/bridge/initReplBridge.ts
- restored-src/src/remote/
- restored-src/src/QueryEngine.ts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restored-src/src/voice/
- restored-src/src/vim/
- restored-src/src/buddy/
- restored-src/src/memdir/
- restored-src/src/services/SessionMemory/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restored-src/src/services/voice.ts
- restored-src/src/services/voiceStreamSTT.ts
- restored-src/src/services/voiceKeyterms.ts
- restored-src/src/voice/voiceModeEnabled.ts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restored-src/src/vim/types.ts
- restored-src/src/vim/transitions.ts
- restored-src/src/vim/operators.ts
- restored-src/src/vim/textObjects.ts
- restored-src/src/vim/motions.ts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restored-src/src/buddy/types.ts
- restored-src/src/buddy/companion.ts
- restored-src/src/buddy/sprites.ts
- restored-src/src/buddy/CompanionSprite.tsx
- restored-src/src/buddy/useBuddyNotification.tsx
- restored-src/src/buddy/prompt.ts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restored-src/src/main.tsx (lines 78-81, 1049-1086, 1642, 2184-2206)
- restored-src/src/assistant/sessionHistory.ts
- restored-src/src/tools/AskUserQuestionTool/AskUserQuestionTool.tsx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restored-src/src/entrypoints/cli.tsx
- restored-src/src/main.tsx
- restored-src/src/QueryEngine.ts
- restored-src/src/query.ts
- restored-src/src/services/tools/toolExecution.ts
- restored-src/src/tools/AgentTool/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restored-src/src/QueryEngine.ts
- restored-src/src/query.ts
- restored-src/src/services/tools/toolExecution.ts
- restored-src/src/tools/AgentTool/runAgent.ts
- restored-src/src/utils/swarm/inProcessRunner.ts
- https://code.claude.com/docs/en/overview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
- /Users/phodal/Downloads/claude-code-sourcemap-main/artifacts/qrcode_for_gh_2afe73fc7b4a_258.jpg
- /Users/phodal/Downloads/claude-code-sourcemap-main/.agents/skills/slide-skill/slide_templates/template.pptx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Claude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DF5"/>
                </a:solidFill>
              </a:rPr>
              <a:t>从 Source Map 看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DF5"/>
                </a:solidFill>
              </a:rPr>
              <a:t>一个 AI Agent Runtime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E8EDF5"/>
                </a:solidFill>
              </a:rPr>
              <a:t>的内部构造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9BB5"/>
                </a:solidFill>
              </a:rPr>
              <a:t>基于 npm 包 @anthropic-ai/claude-code v2.1.88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A9BB5"/>
                </a:solidFill>
              </a:rPr>
              <a:t>通过 cli.js.map 还原的 4,756 个源文件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382219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1620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1363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</a:rPr>
              <a:t>核心论点：这不是“带工具的聊天程序”，而是一个完整的 Terminal Agent Runtime Platform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37160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371600"/>
            <a:ext cx="137160" cy="658368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463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8EF5"/>
                </a:solidFill>
              </a:rPr>
              <a:t>Query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7007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递归执行内核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219456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194560"/>
            <a:ext cx="13716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286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Tool Runtime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25237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40+ 内置工具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301752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017520"/>
            <a:ext cx="1371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108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Permission 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33467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多层治理架构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384048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3840480"/>
            <a:ext cx="13716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3931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Multi-Agent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41696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Swarm 协作模式</a:t>
            </a:r>
            <a:endParaRPr lang="en-US" sz="1050" dirty="0"/>
          </a:p>
        </p:txBody>
      </p:sp>
      <p:pic>
        <p:nvPicPr>
          <p:cNvPr id="25" name="Image 0" descr="/Users/phodal/Downloads/claude-code-sourcemap-main/artifacts/qrcode_for_gh_2afe73fc7b4a_2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74920"/>
            <a:ext cx="1280160" cy="12801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046720" y="640080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phodal 公众号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01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909828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背景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这是从 npm 包 Source Map 还原的高保真快照，而不是官方 monorepo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理解来源，是正确解读架构的前提。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5376672" cy="3913632"/>
          </a:xfrm>
          <a:prstGeom prst="roundRect">
            <a:avLst>
              <a:gd name="adj" fmla="val 1636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5010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还原过程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501091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npm 包内包含完整 cli.js.map（Source Map）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extract-sources.js 提取 sourcesContent 字段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逐文件写回 restored-src/，做 webpack 路径清洗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还原版本：v2.1.88，共 4,756 个文件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包含 1,884 个 .ts/.tsx 源文件，总计 512,664 行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153912" y="1536192"/>
            <a:ext cx="5376672" cy="3913632"/>
          </a:xfrm>
          <a:prstGeom prst="roundRect">
            <a:avLst>
              <a:gd name="adj" fmla="val 1636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664208"/>
            <a:ext cx="5010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分析可信度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36792" y="1956816"/>
            <a:ext cx="5010912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运行时主链、类型签名、注释：高度可信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目录结构、模块边界：与发布版一致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构建脚本、测试框架：可能不完整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内部工具链、CI 配置：不在 source map 范围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结论：足够支撑架构与设计决策分析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909828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背景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规模数据一眼就能判断：这是平台级产品，不是小工具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从文件数量、目录分布和功能模块密度，可以还原出系统的真实复杂度。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03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2139696" cy="1170432"/>
          </a:xfrm>
          <a:prstGeom prst="roundRect">
            <a:avLst>
              <a:gd name="adj" fmla="val 4688"/>
            </a:avLst>
          </a:prstGeom>
          <a:solidFill>
            <a:srgbClr val="1A26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719072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4,756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3232" y="213969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还原文件总数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2359152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含各类资源与配置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71216" y="1572768"/>
            <a:ext cx="2139696" cy="1170432"/>
          </a:xfrm>
          <a:prstGeom prst="roundRect">
            <a:avLst>
              <a:gd name="adj" fmla="val 4688"/>
            </a:avLst>
          </a:prstGeom>
          <a:solidFill>
            <a:srgbClr val="1A2640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8376" y="1719072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8EF5"/>
                </a:solidFill>
              </a:rPr>
              <a:t>1,884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962656" y="213969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.ts / .tsx 文件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62656" y="2359152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纯 TypeScript 源码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1572768"/>
            <a:ext cx="2139696" cy="1170432"/>
          </a:xfrm>
          <a:prstGeom prst="roundRect">
            <a:avLst>
              <a:gd name="adj" fmla="val 4688"/>
            </a:avLst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719072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512K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12080" y="213969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代码行数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2359152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TypeScript 总计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572768"/>
            <a:ext cx="2139696" cy="1170432"/>
          </a:xfrm>
          <a:prstGeom prst="roundRect">
            <a:avLst>
              <a:gd name="adj" fmla="val 4688"/>
            </a:avLst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719072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40+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461504" y="213969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内置工具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61504" y="2359152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tools/ 目录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19488" y="1572768"/>
            <a:ext cx="2139696" cy="1170432"/>
          </a:xfrm>
          <a:prstGeom prst="roundRect">
            <a:avLst>
              <a:gd name="adj" fmla="val 4688"/>
            </a:avLst>
          </a:prstGeom>
          <a:solidFill>
            <a:srgbClr val="1A264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56648" y="1719072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923C"/>
                </a:solidFill>
              </a:rPr>
              <a:t>101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710928" y="213969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内置命令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10928" y="2359152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commands/ 目录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" y="2926080"/>
            <a:ext cx="10954512" cy="2414016"/>
          </a:xfrm>
          <a:prstGeom prst="roundRect">
            <a:avLst>
              <a:gd name="adj" fmla="val 265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4672" y="3054096"/>
            <a:ext cx="10588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关键目录分布（按功能层划分）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4672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核心运行时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" y="3493008"/>
            <a:ext cx="20116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QueryEngine.ts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query.ts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main.tsx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entrypoints/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2834640" y="3255264"/>
            <a:ext cx="13716" cy="192024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80944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8EF5"/>
                </a:solidFill>
              </a:rPr>
              <a:t>工具层 (40+)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980944" y="3493008"/>
            <a:ext cx="20116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BashTool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FileEditTool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AgentTool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WebSearchTool + 37 more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010912" y="3255264"/>
            <a:ext cx="13716" cy="192024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57216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服务层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57216" y="3493008"/>
            <a:ext cx="20116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services/mcp/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services/compact/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services/api/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services/lsp/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7187184" y="3255264"/>
            <a:ext cx="13716" cy="192024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33488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扩展与能力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33488" y="3493008"/>
            <a:ext cx="20116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plugins/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skills/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commands/ (101)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coordinator/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9363456" y="3255264"/>
            <a:ext cx="13716" cy="192024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0" y="3255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</a:rPr>
              <a:t>非典型功能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509760" y="3493008"/>
            <a:ext cx="20116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voice/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vim/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buddy/</a:t>
            </a:r>
            <a:endParaRPr lang="en-US" sz="9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memdir/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11539728" y="3255264"/>
            <a:ext cx="13716" cy="192024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601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88036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84048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480060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57607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67208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97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A623"/>
                </a:solidFill>
              </a:rPr>
              <a:t>SECTION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架构全景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BB5"/>
                </a:solidFill>
              </a:rPr>
              <a:t>从入口分流到 Agent 协作，梳理这套系统的五层结构。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</a:rPr>
              <a:t>01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先建立大图，再逐层拆解。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不要在细节里迷路。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04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065276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8EF5"/>
                </a:solidFill>
              </a:rPr>
              <a:t>架构全景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五层架构：从「用户输入」到「模型递归执行」的完整通路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这五层不是简单的功能列表，而是被 Query Loop 串起来的有序执行体系。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05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08760"/>
            <a:ext cx="512064" cy="768096"/>
          </a:xfrm>
          <a:prstGeom prst="roundRect">
            <a:avLst>
              <a:gd name="adj" fmla="val 10714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69164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5453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入口层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18928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entrypoints/cli.tsx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轻量分发器：版本快路径 / 模式分流 / 懒加载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81812" y="2331720"/>
            <a:ext cx="173736" cy="201168"/>
          </a:xfrm>
          <a:prstGeom prst="chevron">
            <a:avLst/>
          </a:prstGeom>
          <a:solidFill>
            <a:srgbClr val="22D3EE">
              <a:alpha val="6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642616"/>
            <a:ext cx="512064" cy="768096"/>
          </a:xfrm>
          <a:prstGeom prst="roundRect">
            <a:avLst>
              <a:gd name="adj" fmla="val 10714"/>
            </a:avLst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82549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679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8EF5"/>
                </a:solidFill>
              </a:rPr>
              <a:t>启动编排层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30266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main.tsx (4,683 行)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初始化 Config · Auth · MCP · Agents · 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81812" y="3465576"/>
            <a:ext cx="173736" cy="201168"/>
          </a:xfrm>
          <a:prstGeom prst="chevron">
            <a:avLst/>
          </a:prstGeom>
          <a:solidFill>
            <a:srgbClr val="4B8EF5">
              <a:alpha val="60000"/>
            </a:srgbClr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776472"/>
            <a:ext cx="512064" cy="768096"/>
          </a:xfrm>
          <a:prstGeom prst="roundRect">
            <a:avLst>
              <a:gd name="adj" fmla="val 10714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959352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813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A623"/>
                </a:solidFill>
              </a:rPr>
              <a:t>会话核心层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8016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QueryEngine.ts + query.ts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会话状态 · 递归 Turn Loop · Budget 管理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781812" y="4599432"/>
            <a:ext cx="173736" cy="201168"/>
          </a:xfrm>
          <a:prstGeom prst="chevron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910328"/>
            <a:ext cx="512064" cy="768096"/>
          </a:xfrm>
          <a:prstGeom prst="roundRect">
            <a:avLst>
              <a:gd name="adj" fmla="val 10714"/>
            </a:avLst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5093208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9469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923C"/>
                </a:solidFill>
              </a:rPr>
              <a:t>执行治理层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80160" y="52943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toolExecution.ts + toolHooks.ts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Pre/Post Hook · 权限多层决策 · 追踪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5400000">
            <a:off x="781812" y="5733288"/>
            <a:ext cx="173736" cy="201168"/>
          </a:xfrm>
          <a:prstGeom prst="chevron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6044184"/>
            <a:ext cx="512064" cy="768096"/>
          </a:xfrm>
          <a:prstGeom prst="roundRect">
            <a:avLst>
              <a:gd name="adj" fmla="val 10714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622706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6080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</a:rPr>
              <a:t>扩展与能力层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280160" y="6428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Agents · MCP · Skills · Commands · Plugins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5"/>
                </a:solidFill>
              </a:rPr>
              <a:t>多 Agent Swarm · 外部能力接入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1508760"/>
            <a:ext cx="5532120" cy="4462272"/>
          </a:xfrm>
          <a:prstGeom prst="roundRect">
            <a:avLst>
              <a:gd name="adj" fmla="val 1434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0" y="163677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8EF5"/>
                </a:solidFill>
              </a:rPr>
              <a:t>为什么这五层很重要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17920" y="1929384"/>
            <a:ext cx="516636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4CDD8"/>
                </a:solidFill>
              </a:rPr>
              <a:t>• 入口层做到「极速分流」：--version 等命令不需要加载 main.js，大幅减少启动延迟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4CDD8"/>
                </a:solidFill>
              </a:rPr>
              <a:t>• main.tsx 是平台级 orchestration，4,683 行的 startup 涵盖了 Auth / Feature Gates / MCP / LSP / Session Restore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4CDD8"/>
                </a:solidFill>
              </a:rPr>
              <a:t>• QueryEngine 与 query.ts 职责分离：前者管会话生命周期，后者管单轮递归状态机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4CDD8"/>
                </a:solidFill>
              </a:rPr>
              <a:t>• 执行治理层不是可选 middleware，而是工具调用的必经主路径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4CDD8"/>
                </a:solidFill>
              </a:rPr>
              <a:t>• 扩展层可以从 Plugin / Skill / MCP 三条通道接入，但最终都折叠进共享 Tool Surface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C4CDD8"/>
                </a:solidFill>
              </a:rPr>
              <a:t>• 不同 Surface（Terminal / Bridge / SDK）只改变入口和输出，不改变中间三层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065276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8EF5"/>
                </a:solidFill>
              </a:rPr>
              <a:t>架构全景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模块关系图：被 Query Loop 串起来的多层系统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真正的架构边界不是文件夹，而是这些模块之间的依赖方向和数据流。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06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480560" y="246888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6350" dir="2700000">
              <a:srgbClr val="F5A623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111F"/>
                </a:solidFill>
              </a:rPr>
              <a:t>Query Loop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29443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829"/>
                </a:solidFill>
              </a:rPr>
              <a:t>QueryEngine + query.ts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155448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6276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CLI / entrypoints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18836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cli.tsx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353312" y="2267712"/>
            <a:ext cx="457200" cy="23774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155448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6276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8EF5"/>
                </a:solidFill>
              </a:rPr>
              <a:t>Bridge / Remote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0" y="18836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bridgeMain.ts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rot="5400000">
            <a:off x="3547872" y="2267712"/>
            <a:ext cx="457200" cy="237744"/>
          </a:xfrm>
          <a:prstGeom prst="chevron">
            <a:avLst/>
          </a:prstGeom>
          <a:solidFill>
            <a:srgbClr val="4B8EF5">
              <a:alpha val="65000"/>
            </a:srgbClr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55448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6276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SDK / Headless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18836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cli/print.ts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rot="5400000">
            <a:off x="5742432" y="2267712"/>
            <a:ext cx="457200" cy="237744"/>
          </a:xfrm>
          <a:prstGeom prst="chevron">
            <a:avLst/>
          </a:prstGeom>
          <a:solidFill>
            <a:srgbClr val="A78BFA">
              <a:alpha val="6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55448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6276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</a:rPr>
              <a:t>main.tsx startup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0" y="18836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936992" y="2267712"/>
            <a:ext cx="457200" cy="237744"/>
          </a:xfrm>
          <a:prstGeom prst="chevron">
            <a:avLst/>
          </a:prstGeom>
          <a:solidFill>
            <a:srgbClr val="FB923C">
              <a:alpha val="65000"/>
            </a:srgbClr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8320" y="155448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0" y="16276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AppState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509760" y="18836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shared state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5400000">
            <a:off x="10131552" y="2267712"/>
            <a:ext cx="457200" cy="237744"/>
          </a:xfrm>
          <a:prstGeom prst="chevron">
            <a:avLst/>
          </a:prstGeom>
          <a:solidFill>
            <a:srgbClr val="34D399">
              <a:alpha val="6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1353312" y="3657600"/>
            <a:ext cx="457200" cy="237744"/>
          </a:xfrm>
          <a:prstGeom prst="chevron">
            <a:avLst/>
          </a:prstGeom>
          <a:solidFill>
            <a:srgbClr val="FB923C">
              <a:alpha val="65000"/>
            </a:srgbClr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023360"/>
            <a:ext cx="1920240" cy="749808"/>
          </a:xfrm>
          <a:prstGeom prst="roundRect">
            <a:avLst>
              <a:gd name="adj" fmla="val 7317"/>
            </a:avLst>
          </a:prstGeom>
          <a:solidFill>
            <a:srgbClr val="1620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096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</a:rPr>
              <a:t>Tool Runtime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" y="43525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toolExecution.ts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40+ 工具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rot="5400000">
            <a:off x="3547872" y="3657600"/>
            <a:ext cx="457200" cy="237744"/>
          </a:xfrm>
          <a:prstGeom prst="chevron">
            <a:avLst/>
          </a:prstGeom>
          <a:solidFill>
            <a:srgbClr val="F87171">
              <a:alpha val="65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34640" y="4023360"/>
            <a:ext cx="1920240" cy="749808"/>
          </a:xfrm>
          <a:prstGeom prst="roundRect">
            <a:avLst>
              <a:gd name="adj" fmla="val 7317"/>
            </a:avLst>
          </a:prstGeom>
          <a:solidFill>
            <a:srgbClr val="16203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4096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Permission System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926080" y="43525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hooks + rules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多层决策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rot="5400000">
            <a:off x="5742432" y="3657600"/>
            <a:ext cx="457200" cy="237744"/>
          </a:xfrm>
          <a:prstGeom prst="chevron">
            <a:avLst/>
          </a:prstGeom>
          <a:solidFill>
            <a:srgbClr val="A78BFA">
              <a:alpha val="6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4023360"/>
            <a:ext cx="1920240" cy="749808"/>
          </a:xfrm>
          <a:prstGeom prst="roundRect">
            <a:avLst>
              <a:gd name="adj" fmla="val 7317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4096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Agent / Swarm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20640" y="43525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runAgent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inProcessRunner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 rot="5400000">
            <a:off x="7936992" y="3657600"/>
            <a:ext cx="457200" cy="23774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4023360"/>
            <a:ext cx="1920240" cy="749808"/>
          </a:xfrm>
          <a:prstGeom prst="roundRect">
            <a:avLst>
              <a:gd name="adj" fmla="val 7317"/>
            </a:avLst>
          </a:prstGeom>
          <a:solidFill>
            <a:srgbClr val="16203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4096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MCP / Plugins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315200" y="43525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外部能力接入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client.ts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 rot="5400000">
            <a:off x="10131552" y="3657600"/>
            <a:ext cx="457200" cy="237744"/>
          </a:xfrm>
          <a:prstGeom prst="chevron">
            <a:avLst/>
          </a:prstGeom>
          <a:solidFill>
            <a:srgbClr val="34D399">
              <a:alpha val="6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18320" y="4023360"/>
            <a:ext cx="1920240" cy="749808"/>
          </a:xfrm>
          <a:prstGeom prst="roundRect">
            <a:avLst>
              <a:gd name="adj" fmla="val 7317"/>
            </a:avLst>
          </a:prstGeom>
          <a:solidFill>
            <a:srgbClr val="1620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09760" y="4096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compact / budget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509760" y="43525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上下文管理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成本控制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601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88036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84048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480060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57607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67208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97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A623"/>
                </a:solidFill>
              </a:rPr>
              <a:t>SECTION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Query Loop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执行内核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BB5"/>
                </a:solidFill>
              </a:rPr>
              <a:t>从用户按下回车，到 agent 递归执行，系统究竟怎么串起来的？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</a:rPr>
              <a:t>02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这里才是系统真正的大脑，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而不是 UI 或 CLI 入口。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07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531620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Query Loop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QueryEngine 与 query.ts：会话生命周期 vs 单轮状态机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这是理解整套系统最关键的一对概念。两者职责完全不同，却又紧密配合。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08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5376672" cy="4206240"/>
          </a:xfrm>
          <a:prstGeom prst="roundRect">
            <a:avLst>
              <a:gd name="adj" fmla="val 152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5010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QueryEngine（会话对象）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501091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one QueryEngine per conversation（注释明确说明）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维护 mutableMessages：整个会话累积的全部消息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管理 abortController：支持终止单轮或整个会话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记录 permissionDenials / totalUsage / readFileState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封装 SDK/headless 接口，对外提供稳定 API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处理 orphaned permission / skill discovery / session persist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submitMessage() 启动新一轮 turn，把实际递归交给 query()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153912" y="1536192"/>
            <a:ext cx="5376672" cy="4206240"/>
          </a:xfrm>
          <a:prstGeom prst="roundRect">
            <a:avLst>
              <a:gd name="adj" fmla="val 1522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664208"/>
            <a:ext cx="5010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8EF5"/>
                </a:solidFill>
              </a:rPr>
              <a:t>query.ts（单轮状态机）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36792" y="1956816"/>
            <a:ext cx="501091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buildQueryConfig()：将当次 turn 所需配置快照下来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调用模型 API，流式消费 stream_event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并行维护三个集合：assistantMessages / toolResults / toolUseBlocks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检测到 tool_use → 不结束，而是切入执行阶段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runTools() / StreamingToolExecutor 执行所有工具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tool results 回注为新的 user messages → 进入下一轮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4CDD8"/>
                </a:solidFill>
              </a:rPr>
              <a:t>• needsFollowUp / maxTurns / compact 共同控制边界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531620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Query Loop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一次 Turn 的完整执行时序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从 submitMessage() 到「继续还是停止」——每一步都在 query.ts 中有对应代码。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09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-48920" y="1627632"/>
            <a:ext cx="1536192" cy="96012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48920" y="1627632"/>
            <a:ext cx="1536192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4" y="179222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submitMessage()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4" y="210312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QueryEngine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会话层入口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96416" y="2020824"/>
            <a:ext cx="256032" cy="182880"/>
          </a:xfrm>
          <a:prstGeom prst="chevron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43304" y="1627632"/>
            <a:ext cx="1536192" cy="96012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3304" y="1627632"/>
            <a:ext cx="1536192" cy="109728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98168" y="179222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8EF5"/>
                </a:solidFill>
              </a:rPr>
              <a:t>buildQueryConfig()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98168" y="210312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快照运行时配置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避免状态漂移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88640" y="2020824"/>
            <a:ext cx="256032" cy="182880"/>
          </a:xfrm>
          <a:prstGeom prst="chevron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35528" y="1627632"/>
            <a:ext cx="1536192" cy="96012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35528" y="1627632"/>
            <a:ext cx="153619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0392" y="179222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Stream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90392" y="210312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流式消费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stream_event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80864" y="2020824"/>
            <a:ext cx="25603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7752" y="1627632"/>
            <a:ext cx="1536192" cy="96012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7752" y="1627632"/>
            <a:ext cx="1536192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82616" y="179222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Collect tool_use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82616" y="210312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显式收集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toolUseBlocks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73088" y="2020824"/>
            <a:ext cx="256032" cy="182880"/>
          </a:xfrm>
          <a:prstGeom prst="chevron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9976" y="1627632"/>
            <a:ext cx="1536192" cy="96012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19976" y="1627632"/>
            <a:ext cx="1536192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4840" y="179222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runTools()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4840" y="210312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并行 / 串行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执行所有工具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65312" y="2020824"/>
            <a:ext cx="256032" cy="182880"/>
          </a:xfrm>
          <a:prstGeom prst="chevron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12200" y="1627632"/>
            <a:ext cx="1536192" cy="96012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2200" y="1627632"/>
            <a:ext cx="1536192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7064" y="179222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Inject Results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7064" y="210312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结果回注为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new user message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457536" y="2020824"/>
            <a:ext cx="256032" cy="182880"/>
          </a:xfrm>
          <a:prstGeom prst="chevron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04424" y="1627632"/>
            <a:ext cx="1536192" cy="96012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04424" y="1627632"/>
            <a:ext cx="1536192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59288" y="179222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Continue / Stop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759288" y="210312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needsFollowUp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</a:rPr>
              <a:t>maxTurns / hooks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" y="2907792"/>
            <a:ext cx="10954512" cy="2633472"/>
          </a:xfrm>
          <a:prstGeom prst="roundRect">
            <a:avLst>
              <a:gd name="adj" fmla="val 2431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4672" y="3035808"/>
            <a:ext cx="10588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关键设计信号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04672" y="3218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stop_reason 不可靠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4672" y="3456432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stop_reason=tool_use 在流式场景下有缺陷，因此 query.ts 在流式过程中显式收集 toolUseBlocks 作为判断依据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3364992" y="3218688"/>
            <a:ext cx="13716" cy="219456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9584" y="3218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工具结果不是副作用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529584" y="3456432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tool results 被编码成新的 user/attachment messages 回注对话，成为下一轮推理的输入——这是 agent loop 的核心机制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089904" y="3218688"/>
            <a:ext cx="13716" cy="219456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3218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StreamingToolExecutor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254496" y="3456432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feature gate 打开时，启用 StreamingToolExecutor 允许工具在模型仍在输出时并行开始执行，降低端到端延迟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8814816" y="3218688"/>
            <a:ext cx="13716" cy="219456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79408" y="321868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Budget &amp; Compact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979408" y="3456432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C4CDD8"/>
                </a:solidFill>
              </a:rPr>
              <a:t>taskBudget / compactWarning / microCompact 共同保证长时任务不会因 context 膨胀而崩溃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531620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Query Loop · 03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长任务稳定性：Fallback 恢复、Context 压缩与预算管理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这部分代码量不小，但它们是 Claude Code 能真正跑完大型任务的基础设施。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10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3493008" cy="4206240"/>
          </a:xfrm>
          <a:prstGeom prst="roundRect">
            <a:avLst>
              <a:gd name="adj" fmla="val 183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</a:rPr>
              <a:t>流式 Fallback 恢复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31272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prompt-too-long / media-size 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max-output-tokens 错误会先被 withheld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recovery 逻辑判断是否能自救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如需 fallback：给旧 assistant message 发 tombstone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清空旧的 toolUse / toolResult 暂存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重建 StreamingToolExecutor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（避免旧 tool_use_id 泄漏进 retry）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261104" y="1536192"/>
            <a:ext cx="3493008" cy="4206240"/>
          </a:xfrm>
          <a:prstGeom prst="roundRect">
            <a:avLst>
              <a:gd name="adj" fmla="val 1832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166420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Context 压缩策略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43984" y="1956816"/>
            <a:ext cx="31272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autoCompact：自动触发上下文压缩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microCompact：轻量级压缩，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保留最近 turns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compact：完整会话摘要替换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sessionMemoryCompact：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跨会话记忆压缩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compactWarning：提前预警，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给用户调整机会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900416" y="1536192"/>
            <a:ext cx="3493008" cy="4206240"/>
          </a:xfrm>
          <a:prstGeom prst="roundRect">
            <a:avLst>
              <a:gd name="adj" fmla="val 183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83296" y="166420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预算与续跑控制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83296" y="1956816"/>
            <a:ext cx="31272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taskBudget：整个 agentic turn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的 API 调用预算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动态计算 token budget 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output tokens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continuation 计数防止无限递归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fallback model 切换（降级到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更便宜的模型）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maxTurns 硬限制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作为最后防线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601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88036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84048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480060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57607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67208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97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A623"/>
                </a:solidFill>
              </a:rPr>
              <a:t>SECTION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Tool Runtime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&amp; Permission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BB5"/>
                </a:solidFill>
              </a:rPr>
              <a:t>模型提出动作，runtime 决定能不能做、怎么做——这才是真正的「受控执行」。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</a:rPr>
              <a:t>03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权限不是外围 UI，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而是工具执行主路径的组成部分。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11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687068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Tool Runtime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40+ 内置工具：覆盖从代码编辑到系统管理的完整工作流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工具不是简单的函数，而是带有 schema、权限声明、hook 交互能力的可治理执行单元。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54480"/>
            <a:ext cx="3639312" cy="1938528"/>
          </a:xfrm>
          <a:prstGeom prst="roundRect">
            <a:avLst>
              <a:gd name="adj" fmla="val 3302"/>
            </a:avLst>
          </a:prstGeom>
          <a:solidFill>
            <a:srgbClr val="16203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554480"/>
            <a:ext cx="3639312" cy="9144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0078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8EF5"/>
                </a:solidFill>
              </a:rPr>
              <a:t>文件操作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1993392"/>
            <a:ext cx="33649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FileReadTool  ·  FileWriteTool  ·  FileEditTool  ·  GlobTool  ·  GrepTool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43984" y="1554480"/>
            <a:ext cx="3639312" cy="1938528"/>
          </a:xfrm>
          <a:prstGeom prst="roundRect">
            <a:avLst>
              <a:gd name="adj" fmla="val 3302"/>
            </a:avLst>
          </a:prstGeom>
          <a:solidFill>
            <a:srgbClr val="16203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43984" y="1554480"/>
            <a:ext cx="3639312" cy="91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170078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代码执行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81144" y="1993392"/>
            <a:ext cx="33649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BashTool  ·  PowerShellTool  ·  REPLTool (JS)  ·  NotebookEditTool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66176" y="1554480"/>
            <a:ext cx="3639312" cy="1938528"/>
          </a:xfrm>
          <a:prstGeom prst="roundRect">
            <a:avLst>
              <a:gd name="adj" fmla="val 3302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1554480"/>
            <a:ext cx="3639312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170078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Agent 协作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03336" y="1993392"/>
            <a:ext cx="33649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AgentTool  ·  TaskCreateTool  ·  TaskGetTool  ·  TaskListTool  ·  TeamCreateTool  ·  SendMessageTool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3794760"/>
            <a:ext cx="3639312" cy="1938528"/>
          </a:xfrm>
          <a:prstGeom prst="roundRect">
            <a:avLst>
              <a:gd name="adj" fmla="val 3302"/>
            </a:avLst>
          </a:prstGeom>
          <a:solidFill>
            <a:srgbClr val="16203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3794760"/>
            <a:ext cx="3639312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394106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外部集成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" y="4233672"/>
            <a:ext cx="33649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MCPTool  ·  WebSearchTool  ·  WebFetchTool  ·  McpAuthTool  ·  ListMcpResourcesTool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43984" y="3794760"/>
            <a:ext cx="3639312" cy="1938528"/>
          </a:xfrm>
          <a:prstGeom prst="roundRect">
            <a:avLst>
              <a:gd name="adj" fmla="val 3302"/>
            </a:avLst>
          </a:prstGeom>
          <a:solidFill>
            <a:srgbClr val="1620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43984" y="3794760"/>
            <a:ext cx="3639312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81144" y="394106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开发辅助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81144" y="4233672"/>
            <a:ext cx="33649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LSPTool  ·  AskUserQuestionTool  ·  SkillTool  ·  BriefTool  ·  TodoWriteTool  ·  ToolSearchTool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66176" y="3794760"/>
            <a:ext cx="3639312" cy="1938528"/>
          </a:xfrm>
          <a:prstGeom prst="roundRect">
            <a:avLst>
              <a:gd name="adj" fmla="val 3302"/>
            </a:avLst>
          </a:prstGeom>
          <a:solidFill>
            <a:srgbClr val="1620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6176" y="3794760"/>
            <a:ext cx="3639312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3336" y="3941064"/>
            <a:ext cx="3364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流程控制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03336" y="4233672"/>
            <a:ext cx="33649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EnterPlanModeTool  ·  ExitPlanModeTool  ·  EnterWorktreeTool  ·  SleepTool  ·  ScheduleCronTool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687068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Tool Runtime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Hook 不是扩展点，而是执行主路径的组成部分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Pre Hook / 权限决策 / Post Hook / Failure Hook 贯穿工具执行的全生命周期。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13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1664208" cy="896112"/>
          </a:xfrm>
          <a:prstGeom prst="roundRect">
            <a:avLst>
              <a:gd name="adj" fmla="val 7143"/>
            </a:avLst>
          </a:prstGeom>
          <a:solidFill>
            <a:srgbClr val="16203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600200"/>
            <a:ext cx="166420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465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Validate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216712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zod schema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76856" y="1938528"/>
            <a:ext cx="25603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600200"/>
            <a:ext cx="1664208" cy="896112"/>
          </a:xfrm>
          <a:prstGeom prst="roundRect">
            <a:avLst>
              <a:gd name="adj" fmla="val 7143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600200"/>
            <a:ext cx="1664208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7465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Pre-Tool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Hooks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7752" y="216712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策略注入点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97096" y="1938528"/>
            <a:ext cx="25603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1600200"/>
            <a:ext cx="1664208" cy="896112"/>
          </a:xfrm>
          <a:prstGeom prst="roundRect">
            <a:avLst>
              <a:gd name="adj" fmla="val 7143"/>
            </a:avLst>
          </a:prstGeom>
          <a:solidFill>
            <a:srgbClr val="16203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1600200"/>
            <a:ext cx="1664208" cy="91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17465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Permission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Resolve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216712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多层决策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17336" y="1938528"/>
            <a:ext cx="256032" cy="182880"/>
          </a:xfrm>
          <a:prstGeom prst="chevron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600200"/>
            <a:ext cx="1664208" cy="896112"/>
          </a:xfrm>
          <a:prstGeom prst="roundRect">
            <a:avLst>
              <a:gd name="adj" fmla="val 7143"/>
            </a:avLst>
          </a:prstGeom>
          <a:solidFill>
            <a:srgbClr val="1620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600200"/>
            <a:ext cx="1664208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17465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tool.call()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28232" y="216712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实际执行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37576" y="1938528"/>
            <a:ext cx="256032" cy="182880"/>
          </a:xfrm>
          <a:prstGeom prst="chevron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1600200"/>
            <a:ext cx="1664208" cy="896112"/>
          </a:xfrm>
          <a:prstGeom prst="roundRect">
            <a:avLst>
              <a:gd name="adj" fmla="val 7143"/>
            </a:avLst>
          </a:prstGeom>
          <a:solidFill>
            <a:srgbClr val="16203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1600200"/>
            <a:ext cx="1664208" cy="9144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8472" y="17465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Post-Tool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Hooks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48472" y="216712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结果改写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57816" y="1938528"/>
            <a:ext cx="256032" cy="182880"/>
          </a:xfrm>
          <a:prstGeom prst="chevron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95560" y="1600200"/>
            <a:ext cx="1664208" cy="896112"/>
          </a:xfrm>
          <a:prstGeom prst="roundRect">
            <a:avLst>
              <a:gd name="adj" fmla="val 7143"/>
            </a:avLst>
          </a:prstGeom>
          <a:solidFill>
            <a:srgbClr val="1620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95560" y="1600200"/>
            <a:ext cx="1664208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68712" y="17465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Failure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Hooks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68712" y="216712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错误处理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" y="2761488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04672" y="28895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Pre Hook 能返回什么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04672" y="3182112"/>
            <a:ext cx="32004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message：直接注入 UI / transcript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hookPermissionResult：allow / ask / deny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hookUpdatedInput：只改输入，不改权限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preventContinuation：阻断后续控制流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additionalContext：附加上下文给模型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4315968" y="2761488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498848" y="28895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</a:rPr>
              <a:t>权限决策优先级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498848" y="3182112"/>
            <a:ext cx="32004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① Hook deny → 直接拒绝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② Hook allow → 再跑 checkRuleBasedPermissions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③ Rule deny/ask → 可覆盖 hook allow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④ 无 hook 决策 → 进入 canUseTool() 流程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结论：权限是 hook + rule + UI 三层叠加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8010144" y="2761488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193024" y="28895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8EF5"/>
                </a:solidFill>
              </a:rPr>
              <a:t>Post / Failure Hook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193024" y="3182112"/>
            <a:ext cx="32004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成功：可产出额外 attachment / message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成功：可 preventContinuation 阻止继续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MCP tool：可 updatedMCPToolOutput 改写输出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失败：runPostToolUseFailureHooks() 策略化处理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4CDD8"/>
                </a:solidFill>
              </a:rPr>
              <a:t>• 因此成功与失败都被统一纳入 hook 协议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687068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Tool Runtime · 03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权限系统：不是一个 bool，而是 Mode + Rules + Classifier + Shell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这套系统让 Claude Code 可以被企业策略、本地规则和用户偏好共同治理。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14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3310128" cy="4206240"/>
          </a:xfrm>
          <a:prstGeom prst="roundRect">
            <a:avLst>
              <a:gd name="adj" fmla="val 1934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Permission Modes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294436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default：默认交互模式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plan：只规划，不执行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acceptEdits：自动接受文件修改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bypassPermissions：受信任模式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dontAsk：静默模式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auto：自动（feature gated）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每个 mode 都有 title / symbol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color / external 映射，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同时服务策略、UI 和对外接口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78224" y="1536192"/>
            <a:ext cx="3310128" cy="4206240"/>
          </a:xfrm>
          <a:prstGeom prst="roundRect">
            <a:avLst>
              <a:gd name="adj" fmla="val 1934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61104" y="1664208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</a:rPr>
              <a:t>规则系统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61104" y="1956816"/>
            <a:ext cx="294436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permissionRuleParser.ts 解析规则字符串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例：Bash(npm install) / Edit(src/**)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shellRuleMatching.ts 匹配 shell 命令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filesystem.ts 处理读写范围与路径分析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shadowedRuleDetection.ts 检测冗余规则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规则可来自：CLAUDE.md / 企业策略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用户设置 / 会话临时授权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34656" y="1536192"/>
            <a:ext cx="4041648" cy="4206240"/>
          </a:xfrm>
          <a:prstGeom prst="roundRect">
            <a:avLst>
              <a:gd name="adj" fmla="val 1584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17536" y="1664208"/>
            <a:ext cx="3675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Bash Classifier（自动审批）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17536" y="1956816"/>
            <a:ext cx="367588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bashClassifier.ts 对 shell 命令做风险分类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yoloClassifier.ts 在 bypass 模式下处理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dangerousPatterns.ts 维护危险命令模式库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classifierDecision.ts 给出审批建议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高置信度安全命令可跳过用户确认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这使 agent 在 auto 模式下能高效运行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同时保留对高风险命令的拦截能力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601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88036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84048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480060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57607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67208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97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A623"/>
                </a:solidFill>
              </a:rPr>
              <a:t>SECTION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Multi-Agent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Swarm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BB5"/>
                </a:solidFill>
              </a:rPr>
              <a:t>多 Agent 不是演示特性，而是带状态、可追踪、可治理的 Actor 子系统。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</a:rPr>
              <a:t>04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主 agent 只是第一个 agent，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系统从一开始就允许递归生成更多。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15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609344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Multi-Agent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AgentTool → runAgent → inProcessRunner：从工具调用到子 Agent 运行时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这条链路证明：多 Agent 是 Query Loop 的内生能力，不是外部 orchestration shell。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16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66928" y="160020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6203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600200"/>
            <a:ext cx="2103120" cy="9144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7373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模型调用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AgentTool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1579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像调用普通工具一样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679192" y="2029968"/>
            <a:ext cx="256032" cy="182880"/>
          </a:xfrm>
          <a:prstGeom prst="chevron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98648" y="160020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98648" y="1600200"/>
            <a:ext cx="210312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0088" y="17373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AgentTool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解析参数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90088" y="21579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prompt / type / mode</a:t>
            </a:r>
            <a:endParaRPr lang="en-US" sz="8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isolation / cwd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10912" y="2029968"/>
            <a:ext cx="25603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160020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620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600200"/>
            <a:ext cx="21031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7373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runAgent()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构建子运行时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21579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agentId / transcript</a:t>
            </a:r>
            <a:endParaRPr lang="en-US" sz="8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裁剪上下文 / 初始化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342632" y="2029968"/>
            <a:ext cx="256032" cy="182880"/>
          </a:xfrm>
          <a:prstGeom prst="chevron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62088" y="160020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620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1600200"/>
            <a:ext cx="210312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528" y="17373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inProcessRunner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或 background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53528" y="21579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context 隔离</a:t>
            </a:r>
            <a:endParaRPr lang="en-US" sz="8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共享终端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674352" y="2029968"/>
            <a:ext cx="256032" cy="182880"/>
          </a:xfrm>
          <a:prstGeom prst="chevron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93808" y="160020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6203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93808" y="1600200"/>
            <a:ext cx="2103120" cy="91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5248" y="17373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query.ts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子代理循环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85248" y="21579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完整 agent loop</a:t>
            </a:r>
            <a:endParaRPr lang="en-US" sz="88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</a:rPr>
              <a:t>复用主内核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21792" y="2926080"/>
            <a:ext cx="5376672" cy="2798064"/>
          </a:xfrm>
          <a:prstGeom prst="roundRect">
            <a:avLst>
              <a:gd name="adj" fmla="val 2288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4672" y="3054096"/>
            <a:ext cx="5010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runAgent() 关键逻辑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04672" y="3346704"/>
            <a:ext cx="50109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计算子代理使用的 model（可与父代理不同）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创建 agentId，设置 transcript 子目录与 trace 层级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构造 initialMessages，过滤 incomplete tool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根据 agent type 裁剪 claudeMd / gitStatus 等上下文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子代理不继承父代理所有上下文——这是关键设计决策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最终调用 query()，形成子代理递归 loop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53912" y="2926080"/>
            <a:ext cx="5413248" cy="2798064"/>
          </a:xfrm>
          <a:prstGeom prst="roundRect">
            <a:avLst>
              <a:gd name="adj" fmla="val 2288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36792" y="3054096"/>
            <a:ext cx="5047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inProcessRunner 额外职责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36792" y="3346704"/>
            <a:ext cx="5047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AsyncLocalStorage / teammate context 做上下文隔离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把进度更新和 AppState 写回 leader 可见状态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完成后给 leader 发 idle notification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支持 plan mode approval flow / abort cleanup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权限申请优先通过 leader UI bridge，不可用时降级为 mailbox sync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609344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Multi-Agent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Teammate 是持续存活的 Actor，而不是一次性函数调用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waitForNextPromptOrShutdown() 实现的 idle 循环，让 subagent 能响应多轮任务。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17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13232" y="1691640"/>
            <a:ext cx="1645920" cy="841248"/>
          </a:xfrm>
          <a:prstGeom prst="roundRect">
            <a:avLst>
              <a:gd name="adj" fmla="val 7609"/>
            </a:avLst>
          </a:prstGeom>
          <a:solidFill>
            <a:srgbClr val="1620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892808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idle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95728" y="2002536"/>
            <a:ext cx="256032" cy="182880"/>
          </a:xfrm>
          <a:prstGeom prst="chevron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691640"/>
            <a:ext cx="1645920" cy="841248"/>
          </a:xfrm>
          <a:prstGeom prst="roundRect">
            <a:avLst>
              <a:gd name="adj" fmla="val 7609"/>
            </a:avLst>
          </a:prstGeom>
          <a:solidFill>
            <a:srgbClr val="16203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892808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pending msgs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24528" y="2002536"/>
            <a:ext cx="256032" cy="182880"/>
          </a:xfrm>
          <a:prstGeom prst="chevron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691640"/>
            <a:ext cx="1645920" cy="841248"/>
          </a:xfrm>
          <a:prstGeom prst="roundRect">
            <a:avLst>
              <a:gd name="adj" fmla="val 7609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1892808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poll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mailbox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3328" y="2002536"/>
            <a:ext cx="25603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691640"/>
            <a:ext cx="1645920" cy="841248"/>
          </a:xfrm>
          <a:prstGeom prst="roundRect">
            <a:avLst>
              <a:gd name="adj" fmla="val 7609"/>
            </a:avLst>
          </a:prstGeom>
          <a:solidFill>
            <a:srgbClr val="1620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892808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claim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team task?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82128" y="2002536"/>
            <a:ext cx="256032" cy="182880"/>
          </a:xfrm>
          <a:prstGeom prst="chevron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8432" y="1691640"/>
            <a:ext cx="1645920" cy="841248"/>
          </a:xfrm>
          <a:prstGeom prst="roundRect">
            <a:avLst>
              <a:gd name="adj" fmla="val 7609"/>
            </a:avLst>
          </a:prstGeom>
          <a:solidFill>
            <a:srgbClr val="16203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01584" y="1892808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run prompt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shutdown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724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每 500ms 轮询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" y="2880360"/>
            <a:ext cx="2743200" cy="2871216"/>
          </a:xfrm>
          <a:prstGeom prst="roundRect">
            <a:avLst>
              <a:gd name="adj" fmla="val 2333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" y="30083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Mailbox 通信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4672" y="3300984"/>
            <a:ext cx="23774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leader / teammate 通过 mailbox 交换消息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优先处理 shutdown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再处理 team lead 消息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teammateMailbox.ts 管理消息队列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11296" y="2880360"/>
            <a:ext cx="2743200" cy="2871216"/>
          </a:xfrm>
          <a:prstGeom prst="roundRect">
            <a:avLst>
              <a:gd name="adj" fmla="val 2333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94176" y="30083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Task Claim 系统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94176" y="3300984"/>
            <a:ext cx="23774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tasks.ts 维护团队任务列表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空闲时主动尝试 claim 可用任务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任务有 owner 概念，防止重复执行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完成后写回 task output，持久化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880360"/>
            <a:ext cx="2743200" cy="2871216"/>
          </a:xfrm>
          <a:prstGeom prst="roundRect">
            <a:avLst>
              <a:gd name="adj" fmla="val 2333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30083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</a:rPr>
              <a:t>Permission Bridge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83680" y="3300984"/>
            <a:ext cx="23774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worker ask 权限 → 先尝试 leader UI queue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leader UI 不可用 → 降级为 mailbox 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成功时写回 permission updates 到 leader 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worker 不会绕开权限系统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90304" y="2880360"/>
            <a:ext cx="2743200" cy="2871216"/>
          </a:xfrm>
          <a:prstGeom prst="roundRect">
            <a:avLst>
              <a:gd name="adj" fmla="val 2333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73184" y="30083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8EF5"/>
                </a:solidFill>
              </a:rPr>
              <a:t>Built-in Agents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473184" y="3300984"/>
            <a:ext cx="23774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builtInAgents.ts：feature-gated agent 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Explore / Plan / Verification / Code Guide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SDK 场景可通过环境变量禁用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CDD8"/>
                </a:solidFill>
              </a:rPr>
              <a:t>• coordinator mode 下使用 workerAgent.js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601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288036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84048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480060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576072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6720840"/>
            <a:ext cx="6248095" cy="137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97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A623"/>
                </a:solidFill>
              </a:rPr>
              <a:t>SECTION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扩展层与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多 Surface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BB5"/>
                </a:solidFill>
              </a:rPr>
              <a:t>MCP / Skills / Plugins / Commands 如何汇合；Terminal / Bridge / SDK 如何共用一套引擎。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</a:rPr>
              <a:t>05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不同入口改变的只是 ingress/egress，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</a:rPr>
              <a:t>推理内核始终是同一套。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18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987552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扩展层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Plugin / Skill / Command / MCP：四条通道，最终折叠进同一个 Tool Surface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这四层经常被混淆，但在源码里边界非常清晰，职责完全不同。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19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2523744" cy="914400"/>
          </a:xfrm>
          <a:prstGeom prst="roundRect">
            <a:avLst>
              <a:gd name="adj" fmla="val 7000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8249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Plugin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pluginLoader.ts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安装 / manifest / 分发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5400000">
            <a:off x="1572768" y="2560320"/>
            <a:ext cx="566928" cy="292608"/>
          </a:xfrm>
          <a:prstGeom prst="chevron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572768"/>
            <a:ext cx="2523744" cy="914400"/>
          </a:xfrm>
          <a:prstGeom prst="roundRect">
            <a:avLst>
              <a:gd name="adj" fmla="val 7000"/>
            </a:avLst>
          </a:prstGeom>
          <a:solidFill>
            <a:srgbClr val="1620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68249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Skill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1956816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loadSkillsDir.ts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工作流模板 / 经验封装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rot="5400000">
            <a:off x="4224528" y="2560320"/>
            <a:ext cx="566928" cy="292608"/>
          </a:xfrm>
          <a:prstGeom prst="chevron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25312" y="1572768"/>
            <a:ext cx="2523744" cy="914400"/>
          </a:xfrm>
          <a:prstGeom prst="roundRect">
            <a:avLst>
              <a:gd name="adj" fmla="val 7000"/>
            </a:avLst>
          </a:prstGeom>
          <a:solidFill>
            <a:srgbClr val="16203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68249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8EF5"/>
                </a:solidFill>
              </a:rPr>
              <a:t>Command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1956816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commands.ts (101个)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用户显式入口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 rot="5400000">
            <a:off x="6876288" y="2560320"/>
            <a:ext cx="566928" cy="292608"/>
          </a:xfrm>
          <a:prstGeom prst="chevron">
            <a:avLst/>
          </a:prstGeom>
          <a:solidFill>
            <a:srgbClr val="4B8EF5">
              <a:alpha val="70000"/>
            </a:srgbClr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77072" y="1572768"/>
            <a:ext cx="2523744" cy="914400"/>
          </a:xfrm>
          <a:prstGeom prst="roundRect">
            <a:avLst>
              <a:gd name="adj" fmla="val 7000"/>
            </a:avLst>
          </a:prstGeom>
          <a:solidFill>
            <a:srgbClr val="1620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168249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MCP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0" y="1956816"/>
            <a:ext cx="2304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services/mcp/client.ts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B5"/>
                </a:solidFill>
              </a:rPr>
              <a:t>外部 server 能力桥接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 rot="5400000">
            <a:off x="9528048" y="2560320"/>
            <a:ext cx="566928" cy="292608"/>
          </a:xfrm>
          <a:prstGeom prst="chevron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2999232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6350" dir="2700000">
              <a:srgbClr val="F5A623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86000" y="32004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1F"/>
                </a:solidFill>
              </a:rPr>
              <a:t>Shared Tool Surface  +  Command Surface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286000" y="3602736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829"/>
                </a:solidFill>
              </a:rPr>
              <a:t>tools.ts · toolExecution.ts · permissions · hooks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" y="402336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1330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</a:rPr>
              <a:t>Plugin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1792" y="4389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管分发、安装、manifest，最终转化为可用工具或命令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38144" y="4023360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8144" y="41330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Skill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38144" y="4389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封装工作流模板，很多情况下最终下沉为 command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54496" y="4023360"/>
            <a:ext cx="2651760" cy="54864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41330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8EF5"/>
                </a:solidFill>
              </a:rPr>
              <a:t>Command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54496" y="4389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用户显式调用入口，101 个命令覆盖开发全流程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70848" y="402336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70848" y="41330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</a:rPr>
              <a:t>MCP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070848" y="4389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把外部 server 的 tools / resources 映射进本地 runtime，仍受本地治理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987552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扩展层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Terminal / Bridge / SDK：不同 Surface 共用同一套推理引擎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这是「same engine across surfaces」在源码层面的真实落点。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20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3602736" cy="4553712"/>
          </a:xfrm>
          <a:prstGeom prst="roundRect">
            <a:avLst>
              <a:gd name="adj" fmla="val 1777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8EF5"/>
                </a:solidFill>
              </a:rPr>
              <a:t>Terminal REPL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" y="1536192"/>
            <a:ext cx="3602736" cy="9144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1901952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ink/components/App.tsx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AppStateProvider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cli/print.ts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86384" y="2423160"/>
            <a:ext cx="3273552" cy="9144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487168"/>
            <a:ext cx="327355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Ink (React 终端 UI) 渲染交互界面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AppState 共享运行时状态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支持 Vim 模式 (vim/ 目录)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权限弹窗直接在终端 UI 显示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支持 voice/ 语音交互（实验性）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43984" y="1536192"/>
            <a:ext cx="3602736" cy="4553712"/>
          </a:xfrm>
          <a:prstGeom prst="roundRect">
            <a:avLst>
              <a:gd name="adj" fmla="val 1777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66420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Bridge / Remote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43984" y="1536192"/>
            <a:ext cx="3602736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901952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bridge/bridgeMain.ts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initReplBridge.ts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bridgeUI.ts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608576" y="2423160"/>
            <a:ext cx="3273552" cy="9144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2487168"/>
            <a:ext cx="327355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把远端消息重新注入本地消息队列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replBridge.ts 建立双向通道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bridgeUI.ts 在 bridge 模式显示 UI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sessionRunner.ts 管理远程会话生命周期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trustedDevice.ts 处理远端认证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66176" y="1536192"/>
            <a:ext cx="3602736" cy="4553712"/>
          </a:xfrm>
          <a:prstGeom prst="roundRect">
            <a:avLst>
              <a:gd name="adj" fmla="val 1777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49056" y="166420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SDK / Headless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66176" y="1536192"/>
            <a:ext cx="3602736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0768" y="1901952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QueryEngine.ts SDK 接口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cli/print.ts 结构化输出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remote/ 目录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430768" y="2423160"/>
            <a:ext cx="3273552" cy="9144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0768" y="2487168"/>
            <a:ext cx="327355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QueryEngine 对外提供稳定 SDK API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cli/print.ts 格式化结构化输出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可通过环境变量禁用 built-in agents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sdkMessageAdapter.ts 适配消息格式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4CDD8"/>
                </a:solidFill>
              </a:rPr>
              <a:t>• SessionsWebSocket.ts 管理 SDK 会话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065276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特色功能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这些你可能没想到它会有：Voice、Vim、Buddy、KAIROS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这些不是边角功能——它们暗示了产品对「AI 工作方式」更深远的设想。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21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54480"/>
            <a:ext cx="5559552" cy="2011680"/>
          </a:xfrm>
          <a:prstGeom prst="roundRect">
            <a:avLst>
              <a:gd name="adj" fmla="val 318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82496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Voice 模式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" y="1554480"/>
            <a:ext cx="5559552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0116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services/voice.ts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services/voiceStreamSTT.ts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39312" y="201168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流式语音转文字（STT）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voiceModeEnabled.ts 控制开关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voiceKeyterms.ts 关键词识别优化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集成进主 UI 交互流程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64224" y="1554480"/>
            <a:ext cx="5559552" cy="2011680"/>
          </a:xfrm>
          <a:prstGeom prst="roundRect">
            <a:avLst>
              <a:gd name="adj" fmla="val 318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47104" y="1682496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Vim 模式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64224" y="1554480"/>
            <a:ext cx="5559552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20116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vim/motions.ts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vim/operators.ts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vim/textObjects.ts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381744" y="201168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完整的 Vim 动作系统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motions / operators / textObjects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transitions.ts 管理模式切换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在终端编辑器内提供 Vim 体验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" y="3794760"/>
            <a:ext cx="5559552" cy="2011680"/>
          </a:xfrm>
          <a:prstGeom prst="roundRect">
            <a:avLst>
              <a:gd name="adj" fmla="val 318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3922776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AI Buddy（伴侣 UI）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" y="3794760"/>
            <a:ext cx="5559552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2519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buddy/companion.ts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buddy/CompanionSprite.tsx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buddy/sprites.ts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39312" y="42519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像素风格 AI 伴侣动画精灵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useBuddyNotification 推送通知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companion.ts 管理伴侣状态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通过精灵动画表达工作状态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64224" y="3794760"/>
            <a:ext cx="5559552" cy="2011680"/>
          </a:xfrm>
          <a:prstGeom prst="roundRect">
            <a:avLst>
              <a:gd name="adj" fmla="val 3182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47104" y="3922776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Memory / memdir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64224" y="3794760"/>
            <a:ext cx="5559552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42519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memdir/memdir.ts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memdir/findRelevantMemories.ts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9B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services/SessionMemory/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381744" y="42519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结构化记忆文件目录系统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findRelevantMemories 语义搜索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teamMemPrompts 团队共享记忆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4CDD8"/>
                </a:solidFill>
              </a:rPr>
              <a:t>• 跨会话持久化 agent 经验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065276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特色功能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Voice 模式：Push-to-Talk，接入 Anthropic 语音流服务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不是通用 TTS/STT 库封装——而是直连 claude.ai voice_stream WebSocket，要求 OAuth 登录。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5230368" cy="4462272"/>
          </a:xfrm>
          <a:prstGeom prst="roundRect">
            <a:avLst>
              <a:gd name="adj" fmla="val 1434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4864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实现架构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4864608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services/voice.ts — 音频录制主服务（525 行）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原生 audio-capture-napi（CoreAudio / ALSA）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fallback：SoX rec 或 arecord (Linux)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dlopen 懒加载——首次按键触发，避免启动卡顿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services/voiceStreamSTT.ts — 流式 STT（544 行）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WebSocket 连接 /api/ws/speech_to_text/voice_stream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协议：JSON 控制帧 + 二进制音频帧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服务端响应 TranscriptText / TranscriptEndpoint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8s KeepAlive 保活，5s safety timeout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services/voiceKeyterms.ts — 关键词识别优化（106 行）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voice/voiceModeEnabled.ts — GrowthBook 开关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98464" y="1536192"/>
            <a:ext cx="5577840" cy="2048256"/>
          </a:xfrm>
          <a:prstGeom prst="roundRect">
            <a:avLst>
              <a:gd name="adj" fmla="val 3125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81344" y="16642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8EF5"/>
                </a:solidFill>
              </a:rPr>
              <a:t>Push-to-Talk 工作方式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1344" y="1956816"/>
            <a:ext cx="5212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按住快捷键 → 开始录音（16kHz 单声道）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松开 → 发送 CloseStream，等待 finalize()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沉默检测：SoX 2s / 3% 阈值（自动停止模式）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连接音频帧流式推送，边录边传，降低延迟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3730752"/>
            <a:ext cx="5577840" cy="2267712"/>
          </a:xfrm>
          <a:prstGeom prst="roundRect">
            <a:avLst>
              <a:gd name="adj" fmla="val 2823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38587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权限与限制（源码直接说明）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4151376"/>
            <a:ext cx="5212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必须 Anthropic OAuth 登录——API key 不支持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Bedrock / Vertex / Foundry 均不可用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tengu_amber_quartz_disabled GrowthBook 紧急关闭开关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WSL1 / headless Linux：arecord 需 ALSA/PulseAudio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WSL2+WSLg（Win11）通过 RDP pipes 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冷启动 dlopen 可能阻塞事件循环 1–8s（已有注释说明）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065276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特色功能 · 03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Vim 模式：1,513 行的完整终端编辑器状态机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不是「支持几个快捷键」——而是严格的 INSERT / NORMAL 双模式状态机，含 dot-repeat 和 text objects。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23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5230368" cy="4462272"/>
          </a:xfrm>
          <a:prstGeom prst="roundRect">
            <a:avLst>
              <a:gd name="adj" fmla="val 1434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4864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状态机设计（types.ts 注释原文）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4864608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VimState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INSERT  (tracks insertedText)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NORMAL  — CommandState 子状态机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idle ──┬─[d/c/y]──► operator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├─[1-9]────► count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├─[fFtT]───► find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├─[g]──────► 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├─[r]──────► replace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└─[&gt;&lt;]─────► indent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operator ─┬─[motion]──► execute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├─[0-9]────► operatorCount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├─[ia]─────► operatorTextObj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└─[fFtT]───► operatorFind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998464" y="1536192"/>
            <a:ext cx="5577840" cy="2048256"/>
          </a:xfrm>
          <a:prstGeom prst="roundRect">
            <a:avLst>
              <a:gd name="adj" fmla="val 3125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81344" y="16642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实现文件（1,513 行）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1344" y="1956816"/>
            <a:ext cx="5212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types.ts（199 行）——状态机类型即文档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transitions.ts（490 行）——状态转移核心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operators.ts（556 行）——delete / change / yank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textObjects.ts（186 行）——w W ( [ { &lt; " ' ` 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motions.ts（82 行）——h j k l w b e ^ $ 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3730752"/>
            <a:ext cx="5577840" cy="2267712"/>
          </a:xfrm>
          <a:prstGeom prst="roundRect">
            <a:avLst>
              <a:gd name="adj" fmla="val 2823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38587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支持特性（源码验证）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4151376"/>
            <a:ext cx="52120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完整 operators：delete(d) / change(c) / yank(y)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Text objects：word / WORD / 括号 / 引号 / 花括号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Find motions：f F t T（含反向）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Count prefix：3dw / 2dd / 5j 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Dot-repeat（.）：RecordedChange 记录完整重放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Register：yank/paste 寄存器 + linewise 标记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MAX_VIM_COUNT = 10000（防止卡死）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065276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特色功能 · 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Buddy：你的 AI 伴侣——18 个物种、5 个稀有度、确定性孵化算法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源码里的隐藏彩蛋：2026 年 4 月 1 日 Teaser 窗口，基于 userId hash 生成唯一伴侣。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24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5230368" cy="4462272"/>
          </a:xfrm>
          <a:prstGeom prst="roundRect">
            <a:avLst>
              <a:gd name="adj" fmla="val 1434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4864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角色生成系统（1,298 行）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4864608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18 种物种：duck / goose / cat / dragon / octopus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owl / penguin / turtle / snail / ghost / axolotl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capybara / cactus / robot / rabbit / mushroom / chonk / blob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5 个稀有度（按权重）：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common 60% / uncommon 25% / rare 10%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epic 4% / legendary 1%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6 种眼睛：· ✦ × ◉ @ 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8 种帽子：crown / tophat / propeller / halo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wizard / beanie / tinyduck（common 无帽子）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Shiny 概率：1%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5 维属性：DEBUGGING / PATIENCE / CHAOS / WISDOM / SNARK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98464" y="1536192"/>
            <a:ext cx="5577840" cy="2331720"/>
          </a:xfrm>
          <a:prstGeom prst="roundRect">
            <a:avLst>
              <a:gd name="adj" fmla="val 2745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81344" y="16642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确定性孵化算法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1344" y="1956816"/>
            <a:ext cx="52120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mulberry32（seeded PRNG）+ hashString(userId + SALT)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SALT = 'friend-2026-401'（固定种子）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同一 userId 永远孵化同一只伴侣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Bones 每次从 hash 重新生成，不持久化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  — 防止用户编辑 config 作弊稀有度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Soul（name + personality）由模型生成，持久化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CDD8"/>
                </a:solidFill>
              </a:rPr>
              <a:t>• Bun.hash 加速（Bun 环境下用原生 hash）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98464" y="4005072"/>
            <a:ext cx="5577840" cy="1993392"/>
          </a:xfrm>
          <a:prstGeom prst="roundRect">
            <a:avLst>
              <a:gd name="adj" fmla="val 3211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413308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发布窗口（源码硬编码）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4425696"/>
            <a:ext cx="5212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Teaser 窗口：2026-04-01 ~ 04-07（本地时区）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  — 跨时区滚动，避免 UTC 午夜流量峰值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功能永久上线：2026 年 4 月之后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feature('BUDDY') gate 控制全局可见性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companion.ts 注释：'good enough for picking ducks'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1065276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特色功能 · 05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KAIROS：隐藏在 feature gate 背后的 Assistant 模式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代码里出现 20+ 次 feature('KAIROS')——这是一套与 coding agent 并列的 AI 助手运行模式。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25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5230368" cy="2139696"/>
          </a:xfrm>
          <a:prstGeom prst="roundRect">
            <a:avLst>
              <a:gd name="adj" fmla="val 2991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1664208"/>
            <a:ext cx="4864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KAIROS 是什么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486460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assistant/ 目录下的独立运行模块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assistant/index.js：isAssistantMode() / initializeAssistantTeam()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assistant/gate.js：isKairosEnabled()——GrowthBook 动态开关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assistant/sessionHistory.ts：会话历史翻页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通过 --assistant 命令行参数强制启用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defaultView: 'chat' 时触发 brief-only 模式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822192"/>
            <a:ext cx="5230368" cy="2176272"/>
          </a:xfrm>
          <a:prstGeom prst="roundRect">
            <a:avLst>
              <a:gd name="adj" fmla="val 2941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950208"/>
            <a:ext cx="4864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</a:rPr>
              <a:t>与 Coding Agent 模式的差异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4242816"/>
            <a:ext cx="4864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独立 assistantTeamContext——不共用 coding agent team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有 pendingAssistantChat（session discover 逻辑）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assistantActivationPath 影响工具可见性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getUserMsgOptIn() 控制 brief-only 初始状态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KAIROS_BRIEF / KAIROS_CHANNELS 是子特性开关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1536192"/>
            <a:ext cx="5577840" cy="1389888"/>
          </a:xfrm>
          <a:prstGeom prst="roundRect">
            <a:avLst>
              <a:gd name="adj" fmla="val 4605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16642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关联子特性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1956816"/>
            <a:ext cx="5212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KAIROS_BRIEF — BriefTool 可见性（检查点汇报）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KAIROS_CHANNELS — 允许 --channels / --dangerously-load-development-channels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PROACTIVE — 主动触发，与 KAIROS 部分逻辑共享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98464" y="3072384"/>
            <a:ext cx="5577840" cy="1426464"/>
          </a:xfrm>
          <a:prstGeom prst="roundRect">
            <a:avLst>
              <a:gd name="adj" fmla="val 4487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81344" y="320040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源码直接可见的信号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81344" y="349300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main.tsx 78 行：Dead code elimination 注释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  — 说明 KAIROS 模块在外部构建中被剔除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tengu_kairos GrowthBook 标志控制实际启用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session history 使用 ccr-byoc-2025-07-29 beta 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98464" y="4645152"/>
            <a:ext cx="5577840" cy="1353312"/>
          </a:xfrm>
          <a:prstGeom prst="roundRect">
            <a:avLst>
              <a:gd name="adj" fmla="val 4730"/>
            </a:avLst>
          </a:prstGeom>
          <a:solidFill>
            <a:srgbClr val="1A2640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9050" dist="4445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81344" y="47731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可以合理推断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81344" y="506577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KAIROS 是 Claude.ai 对话能力接入 Claude Code 的通道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与 Bridge/Remote 共同构成多 surface 战略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DD8"/>
                </a:solidFill>
              </a:rPr>
              <a:t>• 目前仅对内部或白名单用户开放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909828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B8EF5"/>
                </a:solidFill>
              </a:rPr>
              <a:t>总结 ·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如何继续阅读源码：建议按这条顺序推进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先建立全局模型，再逐层下钻——避免在细节里迷失。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26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620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664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第一轮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1956816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建立系统大图（理解 70% 行为）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" y="2249424"/>
            <a:ext cx="5257800" cy="9144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408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5A62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entrypoints/cli.tsx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22960" y="25694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入口分流逻辑与启动策略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822960" y="30540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5A62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main.tsx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22960" y="32826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startup 编排全景（4,683 行，建议用 outline view）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822960" y="37673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5A62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QueryEngine.ts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22960" y="39959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会话对象设计与 SDK 接口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22960" y="44805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5A62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query.ts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agent loop 的真正核心，递归状态机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22960" y="519379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5A62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Tool.ts + tools.ts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22960" y="5422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tool 抽象模型与 registry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92240" y="1536192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6203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64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8EF5"/>
                </a:solidFill>
              </a:rPr>
              <a:t>第二轮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1956816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</a:rPr>
              <a:t>攻克执行与扩展层（理解剩余 30%）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75120" y="2249424"/>
            <a:ext cx="5257800" cy="9144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3408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B8E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services/tools/toolExecution.ts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693408" y="25694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工具执行主路径与 hook 编排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6693408" y="30540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B8E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services/tools/toolHooks.ts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693408" y="32826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Pre/Post hook 协议细节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6693408" y="37673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B8E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tools/AgentTool/ + utils/swarm/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693408" y="39959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多 Agent 运行时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693408" y="44805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B8E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services/mcp/client.ts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693408" y="4709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外部能力接入协议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693408" y="519379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B8E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utils/permissions/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6693408" y="5422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CDD8"/>
                </a:solidFill>
              </a:rPr>
              <a:t>权限系统全景</a:t>
            </a:r>
            <a:endParaRPr lang="en-US" sz="9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274320"/>
            <a:ext cx="909828" cy="201168"/>
          </a:xfrm>
          <a:prstGeom prst="roundRect">
            <a:avLst>
              <a:gd name="adj" fmla="val 18182"/>
            </a:avLst>
          </a:prstGeom>
          <a:solidFill>
            <a:srgbClr val="1E2E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803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总结 · 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486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</a:rPr>
              <a:t>三个可以直接带走的结论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</a:rPr>
              <a:t>这些结论由源码事实支撑，不是主观评价。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27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1792" y="1554480"/>
            <a:ext cx="10954512" cy="1389888"/>
          </a:xfrm>
          <a:prstGeom prst="roundRect">
            <a:avLst>
              <a:gd name="adj" fmla="val 4605"/>
            </a:avLst>
          </a:prstGeom>
          <a:solidFill>
            <a:srgbClr val="1620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554480"/>
            <a:ext cx="804672" cy="1389888"/>
          </a:xfrm>
          <a:prstGeom prst="roundRect">
            <a:avLst>
              <a:gd name="adj" fmla="val 7955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29968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72768" y="166420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</a:rPr>
              <a:t>它是 Terminal Agent Runtime，不是「聊天 CLI」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72768" y="199339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4CDD8"/>
                </a:solidFill>
              </a:rPr>
              <a:t>系统中心是 QueryEngine / query.ts 构成的递归 Agent Loop，而不是终端 UI 本身。UI、Bridge、SDK 只是不同的 surface，共享同一套推理内核。4,683 行的 main.tsx 启动编排直接说明了这是平台级产品。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108960"/>
            <a:ext cx="10954512" cy="1389888"/>
          </a:xfrm>
          <a:prstGeom prst="roundRect">
            <a:avLst>
              <a:gd name="adj" fmla="val 4605"/>
            </a:avLst>
          </a:prstGeom>
          <a:solidFill>
            <a:srgbClr val="1620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08960"/>
            <a:ext cx="804672" cy="1389888"/>
          </a:xfrm>
          <a:prstGeom prst="roundRect">
            <a:avLst>
              <a:gd name="adj" fmla="val 7955"/>
            </a:avLst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84448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72768" y="321868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923C"/>
                </a:solidFill>
              </a:rPr>
              <a:t>权限系统是架构必需品，不是后期添加的防护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72768" y="354787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4CDD8"/>
                </a:solidFill>
              </a:rPr>
              <a:t>Hook + Rules + Classifier + Mode 四层构成的权限决策树，位于工具执行的主路径上，不是可绕过的 middleware。这使它能同时服务本地开发者、企业策略和 headless 自动化场景。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" y="4663440"/>
            <a:ext cx="10954512" cy="1389888"/>
          </a:xfrm>
          <a:prstGeom prst="roundRect">
            <a:avLst>
              <a:gd name="adj" fmla="val 4605"/>
            </a:avLst>
          </a:prstGeom>
          <a:solidFill>
            <a:srgbClr val="1620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4663440"/>
            <a:ext cx="804672" cy="1389888"/>
          </a:xfrm>
          <a:prstGeom prst="roundRect">
            <a:avLst>
              <a:gd name="adj" fmla="val 7955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5138928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72768" y="4773168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</a:rPr>
              <a:t>多 Agent 是可治理的 Actor 系统，不是并发调用模型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572768" y="510235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4CDD8"/>
                </a:solidFill>
              </a:rPr>
              <a:t>inProcessRunner 的 Actor 模型（mailbox + task claim + idle loop）+ 权限 bridge 机制，让子代理在不绕开任何治理的情况下真正协作。这才是「multi-agent」从概念变成工程的关键。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A623"/>
                </a:solidFill>
              </a:rPr>
              <a:t>Thanks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5"/>
                </a:solidFill>
              </a:rPr>
              <a:t>Claude Code Sourcemap 源码解读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92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B5"/>
                </a:solidFill>
              </a:rPr>
              <a:t>基于 @anthropic-ai/claude-code v2.1.88 source map 还原分析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9BB5"/>
                </a:solidFill>
              </a:rPr>
              <a:t>仅供研究与学习目的，版权归 Anthropic 所有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730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关键文件索引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041648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20" dirty="0">
                <a:solidFill>
                  <a:srgbClr val="C4CD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QueryEngine.ts + query.ts → Agent Loop</a:t>
            </a:r>
            <a:endParaRPr lang="en-US" sz="102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20" dirty="0">
                <a:solidFill>
                  <a:srgbClr val="C4CD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main.tsx → startup orchestration</a:t>
            </a:r>
            <a:endParaRPr lang="en-US" sz="102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20" dirty="0">
                <a:solidFill>
                  <a:srgbClr val="C4CD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services/tools/toolExecution.ts → Tool Runtime</a:t>
            </a:r>
            <a:endParaRPr lang="en-US" sz="102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20" dirty="0">
                <a:solidFill>
                  <a:srgbClr val="C4CD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tools/AgentTool/ + utils/swarm/ → Multi-Agent</a:t>
            </a:r>
            <a:endParaRPr lang="en-US" sz="102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20" dirty="0">
                <a:solidFill>
                  <a:srgbClr val="C4CD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utils/permissions/ → Permission System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8321040" y="16459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62035"/>
          </a:solidFill>
          <a:ln w="12700">
            <a:solidFill>
              <a:srgbClr val="2A3F5F"/>
            </a:solidFill>
            <a:prstDash val="solid"/>
          </a:ln>
        </p:spPr>
      </p:sp>
      <p:pic>
        <p:nvPicPr>
          <p:cNvPr id="10" name="Image 0" descr="/Users/phodal/Downloads/claude-code-sourcemap-main/artifacts/qrcode_for_gh_2afe73fc7b4a_2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828800"/>
            <a:ext cx="2377440" cy="2377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关注公众号 · 持续更新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21040" y="46085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phodal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6254496"/>
            <a:ext cx="11002975" cy="13716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63093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5"/>
                </a:solidFill>
              </a:rPr>
              <a:t>Claude Code Sourcemap 源码解读 · 仅供研究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11228832" y="636422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0" y="6291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B0BDD0"/>
                </a:solidFill>
              </a:rPr>
              <a:t>28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Analysis 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Code：从 Source Map 看一个 Terminal Agent Runtime 的内部构造</dc:title>
  <dc:subject>Claude Code Sourcemap 源码深度解读</dc:subject>
  <dc:creator>Phodal</dc:creator>
  <cp:lastModifiedBy>Phodal</cp:lastModifiedBy>
  <cp:revision>1</cp:revision>
  <dcterms:created xsi:type="dcterms:W3CDTF">2026-04-01T00:00:14Z</dcterms:created>
  <dcterms:modified xsi:type="dcterms:W3CDTF">2026-04-01T00:00:14Z</dcterms:modified>
</cp:coreProperties>
</file>