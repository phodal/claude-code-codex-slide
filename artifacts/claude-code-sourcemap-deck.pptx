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README.md
- extract-sources.js
- /Users/phodal/Downloads/claude-code-sourcemap-main/artifacts/qrcode_for_gh_2afe73fc7b4a_258.jpg
- /Users/phodal/Downloads/claude-code-sourcemap-main/.agents/skills/slide-skill/slide_templates/template.pptx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README.md
- extract-sources.js
- package/package.json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README.md
- restored-src/src/ directory census
- find restored-src/src -name '*.ts' -o -name '*.tsx' | wc -l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/Users/phodal/Downloads/claude-code-sourcemap-main/.agents/skills/slide-skill/slide_templates/template.pptx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restored-src/src/entrypoints/cli.tsx
- restored-src/src/main.tsx
- restored-src/src/QueryEngine.ts
- restored-src/src/query.ts
- restored-src/src/services/tools/toolExecution.ts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restored-src/src/QueryEngine.ts
- restored-src/src/query.ts
- restored-src/src/services/tools/toolExecution.ts
- restored-src/src/tools/AgentTool/runAgent.ts
- restored-src/src/utils/swarm/inProcessRunner.ts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restored-src/src/entrypoints/cli.tsx
- restored-src/src/main.tsx
- restored-src/src/QueryEngine.ts
- restored-src/src/query.ts
- restored-src/src/services/tools/toolExecution.ts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/Users/phodal/Downloads/claude-code-sourcemap-main/.agents/skills/slide-skill/slide_templates/template.pptx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restored-src/src/QueryEngine.ts
- restored-src/src/query.ts
- restored-src/src/query/config.ts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restored-src/src/query.ts
- restored-src/src/QueryEngine.ts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restored-src/src/query.ts
- restored-src/src/services/compact/autoCompact.ts
- restored-src/src/services/compact/microCompact.ts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restored-src/src/query.ts
- restored-src/src/QueryEngine.ts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/Users/phodal/Downloads/claude-code-sourcemap-main/.agents/skills/slide-skill/slide_templates/template.pptx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restored-src/src/tools/
- restored-src/src/Tool.ts
- restored-src/src/tools.ts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restored-src/src/services/tools/toolExecution.ts
- restored-src/src/services/tools/toolHooks.ts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restored-src/src/utils/permissions/PermissionMode.ts
- restored-src/src/utils/permissions/permissionRuleParser.ts
- restored-src/src/utils/permissions/bashClassifier.ts
- restored-src/src/utils/permissions/filesystem.ts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restored-src/src/services/tools/toolExecution.ts
- restored-src/src/services/tools/toolHooks.ts
- restored-src/src/utils/permissions/bashClassifier.ts
- restored-src/src/utils/permissions/permissions.ts
- restored-src/src/utils/permissions/denialTracking.ts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/Users/phodal/Downloads/claude-code-sourcemap-main/.agents/skills/slide-skill/slide_templates/template.pptx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restored-src/src/tools/AgentTool/AgentTool.tsx
- restored-src/src/tools/AgentTool/runAgent.ts
- restored-src/src/utils/swarm/inProcessRunner.ts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restored-src/src/utils/swarm/inProcessRunner.ts
- restored-src/src/utils/swarm/permissionSync.ts
- restored-src/src/utils/teammateMailbox.ts
- restored-src/src/utils/tasks.ts
- restored-src/src/tools/AgentTool/builtInAgents.ts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/Users/phodal/Downloads/claude-code-sourcemap-main/.agents/skills/slide-skill/slide_templates/template.pptx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restored-src/src/utils/plugins/pluginLoader.ts
- restored-src/src/skills/loadSkillsDir.ts
- restored-src/src/commands.ts
- restored-src/src/services/mcp/client.ts
- restored-src/src/tools.ts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restored-src/src/ink/components/App.tsx
- restored-src/src/cli/print.ts
- restored-src/src/bridge/bridgeMain.ts
- restored-src/src/bridge/initReplBridge.ts
- restored-src/src/remote/
- restored-src/src/QueryEngine.ts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restored-src/src/voice/
- restored-src/src/vim/
- restored-src/src/buddy/
- restored-src/src/memdir/
- restored-src/src/services/SessionMemory/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restored-src/src/services/voice.ts
- restored-src/src/services/voiceStreamSTT.ts
- restored-src/src/services/voiceKeyterms.ts
- restored-src/src/voice/voiceModeEnabled.ts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restored-src/src/vim/types.ts
- restored-src/src/vim/transitions.ts
- restored-src/src/vim/operators.ts
- restored-src/src/vim/textObjects.ts
- restored-src/src/vim/motions.ts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restored-src/src/buddy/types.ts
- restored-src/src/buddy/companion.ts
- restored-src/src/buddy/sprites.ts
- restored-src/src/buddy/CompanionSprite.tsx
- restored-src/src/buddy/useBuddyNotification.tsx
- restored-src/src/buddy/prompt.ts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restored-src/src/main.tsx (lines 78-81, 1049-1086, 1642, 2184-2206)
- restored-src/src/assistant/sessionHistory.ts
- restored-src/src/tools/AskUserQuestionTool/AskUserQuestionTool.tsx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restored-src/src/entrypoints/cli.tsx
- restored-src/src/main.tsx
- restored-src/src/QueryEngine.ts
- restored-src/src/query.ts
- restored-src/src/services/tools/toolExecution.ts
- restored-src/src/tools/AgentTool/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restored-src/src/QueryEngine.ts
- restored-src/src/query.ts
- restored-src/src/services/tools/toolExecution.ts
- restored-src/src/tools/AgentTool/runAgent.ts
- restored-src/src/utils/swarm/inProcessRunner.ts
- https://code.claude.com/docs/en/overview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README.md
- /Users/phodal/Downloads/claude-code-sourcemap-main/artifacts/qrcode_for_gh_2afe73fc7b4a_258.jpg
- /Users/phodal/Downloads/claude-code-sourcemap-main/.agents/skills/slide-skill/slide_templates/template.pptx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00" cy="6858000"/>
          </a:xfrm>
          <a:prstGeom prst="rect">
            <a:avLst/>
          </a:prstGeom>
          <a:solidFill>
            <a:srgbClr val="0D1829"/>
          </a:solidFill>
          <a:ln w="12700">
            <a:solidFill>
              <a:srgbClr val="0D1829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7772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</a:rPr>
              <a:t>Claude Code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85800" y="1188720"/>
            <a:ext cx="51206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E8EDF5"/>
                </a:solidFill>
              </a:rPr>
              <a:t>从 Source Map 看</a:t>
            </a:r>
            <a:endParaRPr lang="en-US" sz="2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E8EDF5"/>
                </a:solidFill>
              </a:rPr>
              <a:t>一个 AI Agent Runtime</a:t>
            </a:r>
            <a:endParaRPr lang="en-US" sz="2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E8EDF5"/>
                </a:solidFill>
              </a:rPr>
              <a:t>的内部构造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685800" y="3108960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8A9BB5"/>
                </a:solidFill>
              </a:rPr>
              <a:t>基于 npm 包 @anthropic-ai/claude-code v2.1.88</a:t>
            </a:r>
            <a:endParaRPr lang="en-US" sz="11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8A9BB5"/>
                </a:solidFill>
              </a:rPr>
              <a:t>通过 cli.js.map 还原的 4,756 个源文件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85800" y="3822192"/>
            <a:ext cx="5212080" cy="566928"/>
          </a:xfrm>
          <a:prstGeom prst="roundRect">
            <a:avLst>
              <a:gd name="adj" fmla="val 9677"/>
            </a:avLst>
          </a:prstGeom>
          <a:solidFill>
            <a:srgbClr val="162035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3913632"/>
            <a:ext cx="4892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8EDF5"/>
                </a:solidFill>
              </a:rPr>
              <a:t>核心论点：这不是“带工具的聊天程序”，而是一个完整的 Terminal Agent Runtime Platform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949440" y="1371600"/>
            <a:ext cx="4389120" cy="658368"/>
          </a:xfrm>
          <a:prstGeom prst="roundRect">
            <a:avLst>
              <a:gd name="adj" fmla="val 8333"/>
            </a:avLst>
          </a:prstGeom>
          <a:solidFill>
            <a:srgbClr val="1A2640"/>
          </a:solidFill>
          <a:ln w="12700">
            <a:solidFill>
              <a:srgbClr val="4B8E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949440" y="1371600"/>
            <a:ext cx="137160" cy="658368"/>
          </a:xfrm>
          <a:prstGeom prst="rect">
            <a:avLst/>
          </a:prstGeom>
          <a:solidFill>
            <a:srgbClr val="4B8EF5"/>
          </a:solidFill>
          <a:ln w="12700">
            <a:solidFill>
              <a:srgbClr val="4B8EF5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223760" y="1463040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8EF5"/>
                </a:solidFill>
              </a:rPr>
              <a:t>Query Loop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223760" y="1700784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BB5"/>
                </a:solidFill>
              </a:rPr>
              <a:t>递归执行内核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949440" y="2194560"/>
            <a:ext cx="4389120" cy="658368"/>
          </a:xfrm>
          <a:prstGeom prst="roundRect">
            <a:avLst>
              <a:gd name="adj" fmla="val 8333"/>
            </a:avLst>
          </a:prstGeom>
          <a:solidFill>
            <a:srgbClr val="1A2640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949440" y="2194560"/>
            <a:ext cx="137160" cy="65836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23760" y="2286000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D399"/>
                </a:solidFill>
              </a:rPr>
              <a:t>Tool Runtime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223760" y="2523744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BB5"/>
                </a:solidFill>
              </a:rPr>
              <a:t>40+ 内置工具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949440" y="3017520"/>
            <a:ext cx="4389120" cy="658368"/>
          </a:xfrm>
          <a:prstGeom prst="roundRect">
            <a:avLst>
              <a:gd name="adj" fmla="val 8333"/>
            </a:avLst>
          </a:prstGeom>
          <a:solidFill>
            <a:srgbClr val="1A2640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49440" y="3017520"/>
            <a:ext cx="137160" cy="65836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23760" y="3108960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A623"/>
                </a:solidFill>
              </a:rPr>
              <a:t>Permission System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223760" y="3346704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BB5"/>
                </a:solidFill>
              </a:rPr>
              <a:t>多层治理架构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949440" y="3840480"/>
            <a:ext cx="4389120" cy="658368"/>
          </a:xfrm>
          <a:prstGeom prst="roundRect">
            <a:avLst>
              <a:gd name="adj" fmla="val 8333"/>
            </a:avLst>
          </a:prstGeom>
          <a:solidFill>
            <a:srgbClr val="1A2640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49440" y="3840480"/>
            <a:ext cx="137160" cy="65836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23760" y="3931920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78BFA"/>
                </a:solidFill>
              </a:rPr>
              <a:t>Multi-Agent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223760" y="4169664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BB5"/>
                </a:solidFill>
              </a:rPr>
              <a:t>Swarm 协作模式</a:t>
            </a:r>
            <a:endParaRPr lang="en-US" sz="1050" dirty="0"/>
          </a:p>
        </p:txBody>
      </p:sp>
      <p:pic>
        <p:nvPicPr>
          <p:cNvPr id="25" name="Image 0" descr="/Users/phodal/Downloads/claude-code-sourcemap-main/artifacts/qrcode_for_gh_2afe73fc7b4a_25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0" y="5074920"/>
            <a:ext cx="1280160" cy="1280160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8046720" y="6400800"/>
            <a:ext cx="12801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9BB5"/>
                </a:solidFill>
              </a:rPr>
              <a:t>phodal 公众号</a:t>
            </a:r>
            <a:endParaRPr lang="en-US" sz="800" dirty="0"/>
          </a:p>
        </p:txBody>
      </p:sp>
      <p:sp>
        <p:nvSpPr>
          <p:cNvPr id="27" name="Shape 24"/>
          <p:cNvSpPr/>
          <p:nvPr/>
        </p:nvSpPr>
        <p:spPr>
          <a:xfrm>
            <a:off x="594360" y="6254496"/>
            <a:ext cx="11002975" cy="13716"/>
          </a:xfrm>
          <a:prstGeom prst="rect">
            <a:avLst/>
          </a:prstGeom>
          <a:solidFill>
            <a:srgbClr val="2A3F5F"/>
          </a:solidFill>
          <a:ln w="12700">
            <a:solidFill>
              <a:srgbClr val="2A3F5F">
                <a:alpha val="0"/>
              </a:srgbClr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58368" y="6309360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8A9BB5"/>
                </a:solidFill>
              </a:rPr>
              <a:t>Claude Code Sourcemap 源码解读 · 仅供研究</a:t>
            </a:r>
            <a:endParaRPr lang="en-US" sz="780" dirty="0"/>
          </a:p>
        </p:txBody>
      </p:sp>
      <p:sp>
        <p:nvSpPr>
          <p:cNvPr id="29" name="Shape 26"/>
          <p:cNvSpPr/>
          <p:nvPr/>
        </p:nvSpPr>
        <p:spPr>
          <a:xfrm>
            <a:off x="11228832" y="6364224"/>
            <a:ext cx="73152" cy="7315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>
                <a:alpha val="0"/>
              </a:srgbClr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10698480" y="6291072"/>
            <a:ext cx="502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B0BDD0"/>
                </a:solidFill>
              </a:rPr>
              <a:t>01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9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" y="274320"/>
            <a:ext cx="909828" cy="201168"/>
          </a:xfrm>
          <a:prstGeom prst="roundRect">
            <a:avLst>
              <a:gd name="adj" fmla="val 18182"/>
            </a:avLst>
          </a:prstGeom>
          <a:solidFill>
            <a:srgbClr val="1E2E4A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288036"/>
            <a:ext cx="3200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2D3EE"/>
                </a:solidFill>
              </a:rPr>
              <a:t>背景 · 01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58368" y="54864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8EDF5"/>
                </a:solidFill>
              </a:rPr>
              <a:t>这是从 npm 包 Source Map 还原的高保真快照，而不是官方 monorepo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58368" y="1115568"/>
            <a:ext cx="10515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B5"/>
                </a:solidFill>
              </a:rPr>
              <a:t>理解来源，是正确解读架构的前提。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94360" y="6254496"/>
            <a:ext cx="11002975" cy="13716"/>
          </a:xfrm>
          <a:prstGeom prst="rect">
            <a:avLst/>
          </a:prstGeom>
          <a:solidFill>
            <a:srgbClr val="2A3F5F"/>
          </a:solidFill>
          <a:ln w="12700">
            <a:solidFill>
              <a:srgbClr val="2A3F5F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6309360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8A9BB5"/>
                </a:solidFill>
              </a:rPr>
              <a:t>Claude Code Sourcemap 源码解读 · 仅供研究</a:t>
            </a:r>
            <a:endParaRPr lang="en-US" sz="780" dirty="0"/>
          </a:p>
        </p:txBody>
      </p:sp>
      <p:sp>
        <p:nvSpPr>
          <p:cNvPr id="9" name="Shape 7"/>
          <p:cNvSpPr/>
          <p:nvPr/>
        </p:nvSpPr>
        <p:spPr>
          <a:xfrm>
            <a:off x="11228832" y="6364224"/>
            <a:ext cx="73152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98480" y="6291072"/>
            <a:ext cx="502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B0BDD0"/>
                </a:solidFill>
              </a:rPr>
              <a:t>02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621792" y="1536192"/>
            <a:ext cx="5376672" cy="3913632"/>
          </a:xfrm>
          <a:prstGeom prst="roundRect">
            <a:avLst>
              <a:gd name="adj" fmla="val 1636"/>
            </a:avLst>
          </a:prstGeom>
          <a:solidFill>
            <a:srgbClr val="162035"/>
          </a:solidFill>
          <a:ln w="12700">
            <a:solidFill>
              <a:srgbClr val="2A3F5F"/>
            </a:solidFill>
            <a:prstDash val="solid"/>
          </a:ln>
          <a:effectLst>
            <a:outerShdw sx="100000" sy="100000" kx="0" ky="0" algn="bl" rotWithShape="0" blurRad="19050" dist="4445" dir="27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04672" y="1664208"/>
            <a:ext cx="50109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D3EE"/>
                </a:solidFill>
              </a:rPr>
              <a:t>还原过程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04672" y="1956816"/>
            <a:ext cx="5010912" cy="34015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80" dirty="0">
                <a:solidFill>
                  <a:srgbClr val="C4CDD8"/>
                </a:solidFill>
              </a:rPr>
              <a:t>• npm 包内包含完整 cli.js.map（Source Map）</a:t>
            </a:r>
            <a:endParaRPr lang="en-US" sz="1180" dirty="0"/>
          </a:p>
          <a:p>
            <a:pPr indent="0" marL="0">
              <a:buNone/>
            </a:pPr>
            <a:r>
              <a:rPr lang="en-US" sz="1180" dirty="0">
                <a:solidFill>
                  <a:srgbClr val="C4CDD8"/>
                </a:solidFill>
              </a:rPr>
              <a:t>• extract-sources.js 提取 sourcesContent 字段</a:t>
            </a:r>
            <a:endParaRPr lang="en-US" sz="1180" dirty="0"/>
          </a:p>
          <a:p>
            <a:pPr indent="0" marL="0">
              <a:buNone/>
            </a:pPr>
            <a:r>
              <a:rPr lang="en-US" sz="1180" dirty="0">
                <a:solidFill>
                  <a:srgbClr val="C4CDD8"/>
                </a:solidFill>
              </a:rPr>
              <a:t>• 逐文件写回 restored-src/，做 webpack 路径清洗</a:t>
            </a:r>
            <a:endParaRPr lang="en-US" sz="1180" dirty="0"/>
          </a:p>
          <a:p>
            <a:pPr indent="0" marL="0">
              <a:buNone/>
            </a:pPr>
            <a:r>
              <a:rPr lang="en-US" sz="1180" dirty="0">
                <a:solidFill>
                  <a:srgbClr val="C4CDD8"/>
                </a:solidFill>
              </a:rPr>
              <a:t>• 还原版本：v2.1.88，共 4,756 个文件</a:t>
            </a:r>
            <a:endParaRPr lang="en-US" sz="1180" dirty="0"/>
          </a:p>
          <a:p>
            <a:pPr indent="0" marL="0">
              <a:buNone/>
            </a:pPr>
            <a:r>
              <a:rPr lang="en-US" sz="1180" dirty="0">
                <a:solidFill>
                  <a:srgbClr val="C4CDD8"/>
                </a:solidFill>
              </a:rPr>
              <a:t>• 包含 1,884 个 .ts/.tsx 源文件，总计 512,664 行</a:t>
            </a:r>
            <a:endParaRPr lang="en-US" sz="1180" dirty="0"/>
          </a:p>
        </p:txBody>
      </p:sp>
      <p:sp>
        <p:nvSpPr>
          <p:cNvPr id="14" name="Shape 12"/>
          <p:cNvSpPr/>
          <p:nvPr/>
        </p:nvSpPr>
        <p:spPr>
          <a:xfrm>
            <a:off x="6153912" y="1536192"/>
            <a:ext cx="5376672" cy="3913632"/>
          </a:xfrm>
          <a:prstGeom prst="roundRect">
            <a:avLst>
              <a:gd name="adj" fmla="val 1636"/>
            </a:avLst>
          </a:prstGeom>
          <a:solidFill>
            <a:srgbClr val="1A2640"/>
          </a:solidFill>
          <a:ln w="12700">
            <a:solidFill>
              <a:srgbClr val="2A3F5F"/>
            </a:solidFill>
            <a:prstDash val="solid"/>
          </a:ln>
          <a:effectLst>
            <a:outerShdw sx="100000" sy="100000" kx="0" ky="0" algn="bl" rotWithShape="0" blurRad="19050" dist="4445" dir="27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336792" y="1664208"/>
            <a:ext cx="50109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4D399"/>
                </a:solidFill>
              </a:rPr>
              <a:t>分析可信度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336792" y="1956816"/>
            <a:ext cx="5010912" cy="34015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80" dirty="0">
                <a:solidFill>
                  <a:srgbClr val="C4CDD8"/>
                </a:solidFill>
              </a:rPr>
              <a:t>• 运行时主链、类型签名、注释：高度可信</a:t>
            </a:r>
            <a:endParaRPr lang="en-US" sz="1180" dirty="0"/>
          </a:p>
          <a:p>
            <a:pPr indent="0" marL="0">
              <a:buNone/>
            </a:pPr>
            <a:r>
              <a:rPr lang="en-US" sz="1180" dirty="0">
                <a:solidFill>
                  <a:srgbClr val="C4CDD8"/>
                </a:solidFill>
              </a:rPr>
              <a:t>• 目录结构、模块边界：与发布版一致</a:t>
            </a:r>
            <a:endParaRPr lang="en-US" sz="1180" dirty="0"/>
          </a:p>
          <a:p>
            <a:pPr indent="0" marL="0">
              <a:buNone/>
            </a:pPr>
            <a:r>
              <a:rPr lang="en-US" sz="1180" dirty="0">
                <a:solidFill>
                  <a:srgbClr val="C4CDD8"/>
                </a:solidFill>
              </a:rPr>
              <a:t>• 构建脚本、测试框架：可能不完整</a:t>
            </a:r>
            <a:endParaRPr lang="en-US" sz="1180" dirty="0"/>
          </a:p>
          <a:p>
            <a:pPr indent="0" marL="0">
              <a:buNone/>
            </a:pPr>
            <a:r>
              <a:rPr lang="en-US" sz="1180" dirty="0">
                <a:solidFill>
                  <a:srgbClr val="C4CDD8"/>
                </a:solidFill>
              </a:rPr>
              <a:t>• 内部工具链、CI 配置：不在 source map 范围</a:t>
            </a:r>
            <a:endParaRPr lang="en-US" sz="1180" dirty="0"/>
          </a:p>
          <a:p>
            <a:pPr indent="0" marL="0">
              <a:buNone/>
            </a:pPr>
            <a:r>
              <a:rPr lang="en-US" sz="1180" dirty="0">
                <a:solidFill>
                  <a:srgbClr val="C4CDD8"/>
                </a:solidFill>
              </a:rPr>
              <a:t>• 结论：足够支撑架构与设计决策分析</a:t>
            </a:r>
            <a:endParaRPr lang="en-US" sz="11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9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" y="274320"/>
            <a:ext cx="909828" cy="201168"/>
          </a:xfrm>
          <a:prstGeom prst="roundRect">
            <a:avLst>
              <a:gd name="adj" fmla="val 18182"/>
            </a:avLst>
          </a:prstGeom>
          <a:solidFill>
            <a:srgbClr val="1E2E4A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288036"/>
            <a:ext cx="3200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2D3EE"/>
                </a:solidFill>
              </a:rPr>
              <a:t>背景 · 02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58368" y="54864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8EDF5"/>
                </a:solidFill>
              </a:rPr>
              <a:t>规模数据一眼就能判断：这是平台级产品，不是小工具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58368" y="1115568"/>
            <a:ext cx="10515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B5"/>
                </a:solidFill>
              </a:rPr>
              <a:t>从文件数量、目录分布和功能模块密度，可以还原出系统的真实复杂度。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94360" y="6254496"/>
            <a:ext cx="11002975" cy="13716"/>
          </a:xfrm>
          <a:prstGeom prst="rect">
            <a:avLst/>
          </a:prstGeom>
          <a:solidFill>
            <a:srgbClr val="2A3F5F"/>
          </a:solidFill>
          <a:ln w="12700">
            <a:solidFill>
              <a:srgbClr val="2A3F5F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6309360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8A9BB5"/>
                </a:solidFill>
              </a:rPr>
              <a:t>Claude Code Sourcemap 源码解读 · 仅供研究</a:t>
            </a:r>
            <a:endParaRPr lang="en-US" sz="780" dirty="0"/>
          </a:p>
        </p:txBody>
      </p:sp>
      <p:sp>
        <p:nvSpPr>
          <p:cNvPr id="9" name="Shape 7"/>
          <p:cNvSpPr/>
          <p:nvPr/>
        </p:nvSpPr>
        <p:spPr>
          <a:xfrm>
            <a:off x="11228832" y="6364224"/>
            <a:ext cx="73152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98480" y="6291072"/>
            <a:ext cx="502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B0BDD0"/>
                </a:solidFill>
              </a:rPr>
              <a:t>03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621792" y="1572768"/>
            <a:ext cx="2139696" cy="1170432"/>
          </a:xfrm>
          <a:prstGeom prst="roundRect">
            <a:avLst>
              <a:gd name="adj" fmla="val 4688"/>
            </a:avLst>
          </a:prstGeom>
          <a:solidFill>
            <a:srgbClr val="1A2640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8952" y="1719072"/>
            <a:ext cx="1865376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A623"/>
                </a:solidFill>
              </a:rPr>
              <a:t>4,756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713232" y="2139696"/>
            <a:ext cx="19568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EDF5"/>
                </a:solidFill>
              </a:rPr>
              <a:t>还原文件总数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13232" y="2359152"/>
            <a:ext cx="19568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BB5"/>
                </a:solidFill>
              </a:rPr>
              <a:t>含各类资源与配置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871216" y="1572768"/>
            <a:ext cx="2139696" cy="1170432"/>
          </a:xfrm>
          <a:prstGeom prst="roundRect">
            <a:avLst>
              <a:gd name="adj" fmla="val 4688"/>
            </a:avLst>
          </a:prstGeom>
          <a:solidFill>
            <a:srgbClr val="1A2640"/>
          </a:solidFill>
          <a:ln w="12700">
            <a:solidFill>
              <a:srgbClr val="4B8EF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08376" y="1719072"/>
            <a:ext cx="1865376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B8EF5"/>
                </a:solidFill>
              </a:rPr>
              <a:t>1,884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2962656" y="2139696"/>
            <a:ext cx="19568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EDF5"/>
                </a:solidFill>
              </a:rPr>
              <a:t>.ts / .tsx 文件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962656" y="2359152"/>
            <a:ext cx="19568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BB5"/>
                </a:solidFill>
              </a:rPr>
              <a:t>纯 TypeScript 源码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120640" y="1572768"/>
            <a:ext cx="2139696" cy="1170432"/>
          </a:xfrm>
          <a:prstGeom prst="roundRect">
            <a:avLst>
              <a:gd name="adj" fmla="val 4688"/>
            </a:avLst>
          </a:prstGeom>
          <a:solidFill>
            <a:srgbClr val="1A2640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257800" y="1719072"/>
            <a:ext cx="1865376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4D399"/>
                </a:solidFill>
              </a:rPr>
              <a:t>512K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5212080" y="2139696"/>
            <a:ext cx="19568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EDF5"/>
                </a:solidFill>
              </a:rPr>
              <a:t>代码行数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212080" y="2359152"/>
            <a:ext cx="19568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BB5"/>
                </a:solidFill>
              </a:rPr>
              <a:t>TypeScript 总计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7370064" y="1572768"/>
            <a:ext cx="2139696" cy="1170432"/>
          </a:xfrm>
          <a:prstGeom prst="roundRect">
            <a:avLst>
              <a:gd name="adj" fmla="val 4688"/>
            </a:avLst>
          </a:prstGeom>
          <a:solidFill>
            <a:srgbClr val="1A2640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507224" y="1719072"/>
            <a:ext cx="1865376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A78BFA"/>
                </a:solidFill>
              </a:rPr>
              <a:t>40+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7461504" y="2139696"/>
            <a:ext cx="19568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EDF5"/>
                </a:solidFill>
              </a:rPr>
              <a:t>内置工具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461504" y="2359152"/>
            <a:ext cx="19568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BB5"/>
                </a:solidFill>
              </a:rPr>
              <a:t>tools/ 目录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9619488" y="1572768"/>
            <a:ext cx="2139696" cy="1170432"/>
          </a:xfrm>
          <a:prstGeom prst="roundRect">
            <a:avLst>
              <a:gd name="adj" fmla="val 4688"/>
            </a:avLst>
          </a:prstGeom>
          <a:solidFill>
            <a:srgbClr val="1A2640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756648" y="1719072"/>
            <a:ext cx="1865376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B923C"/>
                </a:solidFill>
              </a:rPr>
              <a:t>101</a:t>
            </a:r>
            <a:endParaRPr lang="en-US" sz="2800" dirty="0"/>
          </a:p>
        </p:txBody>
      </p:sp>
      <p:sp>
        <p:nvSpPr>
          <p:cNvPr id="29" name="Text 27"/>
          <p:cNvSpPr/>
          <p:nvPr/>
        </p:nvSpPr>
        <p:spPr>
          <a:xfrm>
            <a:off x="9710928" y="2139696"/>
            <a:ext cx="19568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EDF5"/>
                </a:solidFill>
              </a:rPr>
              <a:t>内置命令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9710928" y="2359152"/>
            <a:ext cx="19568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BB5"/>
                </a:solidFill>
              </a:rPr>
              <a:t>commands/ 目录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21792" y="2926080"/>
            <a:ext cx="10954512" cy="2414016"/>
          </a:xfrm>
          <a:prstGeom prst="roundRect">
            <a:avLst>
              <a:gd name="adj" fmla="val 2652"/>
            </a:avLst>
          </a:prstGeom>
          <a:solidFill>
            <a:srgbClr val="162035"/>
          </a:solidFill>
          <a:ln w="12700">
            <a:solidFill>
              <a:srgbClr val="2A3F5F"/>
            </a:solidFill>
            <a:prstDash val="solid"/>
          </a:ln>
          <a:effectLst>
            <a:outerShdw sx="100000" sy="100000" kx="0" ky="0" algn="bl" rotWithShape="0" blurRad="19050" dist="4445" dir="2700000">
              <a:srgbClr val="000000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804672" y="3054096"/>
            <a:ext cx="105887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D3EE"/>
                </a:solidFill>
              </a:rPr>
              <a:t>关键目录分布（按功能层划分）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04672" y="3255264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A623"/>
                </a:solidFill>
              </a:rPr>
              <a:t>核心运行时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804672" y="3493008"/>
            <a:ext cx="2011680" cy="1627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980" dirty="0">
                <a:solidFill>
                  <a:srgbClr val="C4CDD8"/>
                </a:solidFill>
              </a:rPr>
              <a:t>QueryEngine.ts</a:t>
            </a:r>
            <a:endParaRPr lang="en-US" sz="98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980" dirty="0">
                <a:solidFill>
                  <a:srgbClr val="C4CDD8"/>
                </a:solidFill>
              </a:rPr>
              <a:t>query.ts</a:t>
            </a:r>
            <a:endParaRPr lang="en-US" sz="98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980" dirty="0">
                <a:solidFill>
                  <a:srgbClr val="C4CDD8"/>
                </a:solidFill>
              </a:rPr>
              <a:t>main.tsx</a:t>
            </a:r>
            <a:endParaRPr lang="en-US" sz="98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980" dirty="0">
                <a:solidFill>
                  <a:srgbClr val="C4CDD8"/>
                </a:solidFill>
              </a:rPr>
              <a:t>entrypoints/</a:t>
            </a:r>
            <a:endParaRPr lang="en-US" sz="980" dirty="0"/>
          </a:p>
        </p:txBody>
      </p:sp>
      <p:sp>
        <p:nvSpPr>
          <p:cNvPr id="35" name="Shape 33"/>
          <p:cNvSpPr/>
          <p:nvPr/>
        </p:nvSpPr>
        <p:spPr>
          <a:xfrm>
            <a:off x="2834640" y="3255264"/>
            <a:ext cx="13716" cy="1920240"/>
          </a:xfrm>
          <a:prstGeom prst="rect">
            <a:avLst/>
          </a:prstGeom>
          <a:solidFill>
            <a:srgbClr val="2A3F5F"/>
          </a:solidFill>
          <a:ln w="12700">
            <a:solidFill>
              <a:srgbClr val="2A3F5F">
                <a:alpha val="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80944" y="3255264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B8EF5"/>
                </a:solidFill>
              </a:rPr>
              <a:t>工具层 (40+)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2980944" y="3493008"/>
            <a:ext cx="2011680" cy="1627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980" dirty="0">
                <a:solidFill>
                  <a:srgbClr val="C4CDD8"/>
                </a:solidFill>
              </a:rPr>
              <a:t>BashTool</a:t>
            </a:r>
            <a:endParaRPr lang="en-US" sz="98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980" dirty="0">
                <a:solidFill>
                  <a:srgbClr val="C4CDD8"/>
                </a:solidFill>
              </a:rPr>
              <a:t>FileEditTool</a:t>
            </a:r>
            <a:endParaRPr lang="en-US" sz="98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980" dirty="0">
                <a:solidFill>
                  <a:srgbClr val="C4CDD8"/>
                </a:solidFill>
              </a:rPr>
              <a:t>AgentTool</a:t>
            </a:r>
            <a:endParaRPr lang="en-US" sz="98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980" dirty="0">
                <a:solidFill>
                  <a:srgbClr val="C4CDD8"/>
                </a:solidFill>
              </a:rPr>
              <a:t>WebSearchTool + 37 more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5010912" y="3255264"/>
            <a:ext cx="13716" cy="1920240"/>
          </a:xfrm>
          <a:prstGeom prst="rect">
            <a:avLst/>
          </a:prstGeom>
          <a:solidFill>
            <a:srgbClr val="2A3F5F"/>
          </a:solidFill>
          <a:ln w="12700">
            <a:solidFill>
              <a:srgbClr val="2A3F5F">
                <a:alpha val="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157216" y="3255264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4D399"/>
                </a:solidFill>
              </a:rPr>
              <a:t>服务层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5157216" y="3493008"/>
            <a:ext cx="2011680" cy="1627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980" dirty="0">
                <a:solidFill>
                  <a:srgbClr val="C4CDD8"/>
                </a:solidFill>
              </a:rPr>
              <a:t>services/mcp/</a:t>
            </a:r>
            <a:endParaRPr lang="en-US" sz="98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980" dirty="0">
                <a:solidFill>
                  <a:srgbClr val="C4CDD8"/>
                </a:solidFill>
              </a:rPr>
              <a:t>services/compact/</a:t>
            </a:r>
            <a:endParaRPr lang="en-US" sz="98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980" dirty="0">
                <a:solidFill>
                  <a:srgbClr val="C4CDD8"/>
                </a:solidFill>
              </a:rPr>
              <a:t>services/api/</a:t>
            </a:r>
            <a:endParaRPr lang="en-US" sz="98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980" dirty="0">
                <a:solidFill>
                  <a:srgbClr val="C4CDD8"/>
                </a:solidFill>
              </a:rPr>
              <a:t>services/lsp/</a:t>
            </a:r>
            <a:endParaRPr lang="en-US" sz="980" dirty="0"/>
          </a:p>
        </p:txBody>
      </p:sp>
      <p:sp>
        <p:nvSpPr>
          <p:cNvPr id="41" name="Shape 39"/>
          <p:cNvSpPr/>
          <p:nvPr/>
        </p:nvSpPr>
        <p:spPr>
          <a:xfrm>
            <a:off x="7187184" y="3255264"/>
            <a:ext cx="13716" cy="1920240"/>
          </a:xfrm>
          <a:prstGeom prst="rect">
            <a:avLst/>
          </a:prstGeom>
          <a:solidFill>
            <a:srgbClr val="2A3F5F"/>
          </a:solidFill>
          <a:ln w="12700">
            <a:solidFill>
              <a:srgbClr val="2A3F5F">
                <a:alpha val="0"/>
              </a:srgbClr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333488" y="3255264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78BFA"/>
                </a:solidFill>
              </a:rPr>
              <a:t>扩展与能力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7333488" y="3493008"/>
            <a:ext cx="2011680" cy="1627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980" dirty="0">
                <a:solidFill>
                  <a:srgbClr val="C4CDD8"/>
                </a:solidFill>
              </a:rPr>
              <a:t>plugins/</a:t>
            </a:r>
            <a:endParaRPr lang="en-US" sz="98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980" dirty="0">
                <a:solidFill>
                  <a:srgbClr val="C4CDD8"/>
                </a:solidFill>
              </a:rPr>
              <a:t>skills/</a:t>
            </a:r>
            <a:endParaRPr lang="en-US" sz="98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980" dirty="0">
                <a:solidFill>
                  <a:srgbClr val="C4CDD8"/>
                </a:solidFill>
              </a:rPr>
              <a:t>commands/ (101)</a:t>
            </a:r>
            <a:endParaRPr lang="en-US" sz="98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980" dirty="0">
                <a:solidFill>
                  <a:srgbClr val="C4CDD8"/>
                </a:solidFill>
              </a:rPr>
              <a:t>coordinator/</a:t>
            </a:r>
            <a:endParaRPr lang="en-US" sz="980" dirty="0"/>
          </a:p>
        </p:txBody>
      </p:sp>
      <p:sp>
        <p:nvSpPr>
          <p:cNvPr id="44" name="Shape 42"/>
          <p:cNvSpPr/>
          <p:nvPr/>
        </p:nvSpPr>
        <p:spPr>
          <a:xfrm>
            <a:off x="9363456" y="3255264"/>
            <a:ext cx="13716" cy="1920240"/>
          </a:xfrm>
          <a:prstGeom prst="rect">
            <a:avLst/>
          </a:prstGeom>
          <a:solidFill>
            <a:srgbClr val="2A3F5F"/>
          </a:solidFill>
          <a:ln w="12700">
            <a:solidFill>
              <a:srgbClr val="2A3F5F">
                <a:alpha val="0"/>
              </a:srgbClr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509760" y="3255264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B923C"/>
                </a:solidFill>
              </a:rPr>
              <a:t>非典型功能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9509760" y="3493008"/>
            <a:ext cx="2011680" cy="1627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980" dirty="0">
                <a:solidFill>
                  <a:srgbClr val="C4CDD8"/>
                </a:solidFill>
              </a:rPr>
              <a:t>voice/</a:t>
            </a:r>
            <a:endParaRPr lang="en-US" sz="98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980" dirty="0">
                <a:solidFill>
                  <a:srgbClr val="C4CDD8"/>
                </a:solidFill>
              </a:rPr>
              <a:t>vim/</a:t>
            </a:r>
            <a:endParaRPr lang="en-US" sz="98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980" dirty="0">
                <a:solidFill>
                  <a:srgbClr val="C4CDD8"/>
                </a:solidFill>
              </a:rPr>
              <a:t>buddy/</a:t>
            </a:r>
            <a:endParaRPr lang="en-US" sz="98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980" dirty="0">
                <a:solidFill>
                  <a:srgbClr val="C4CDD8"/>
                </a:solidFill>
              </a:rPr>
              <a:t>memdir/</a:t>
            </a:r>
            <a:endParaRPr lang="en-US" sz="980" dirty="0"/>
          </a:p>
        </p:txBody>
      </p:sp>
      <p:sp>
        <p:nvSpPr>
          <p:cNvPr id="47" name="Shape 45"/>
          <p:cNvSpPr/>
          <p:nvPr/>
        </p:nvSpPr>
        <p:spPr>
          <a:xfrm>
            <a:off x="11539728" y="3255264"/>
            <a:ext cx="13716" cy="1920240"/>
          </a:xfrm>
          <a:prstGeom prst="rect">
            <a:avLst/>
          </a:prstGeom>
          <a:solidFill>
            <a:srgbClr val="2A3F5F"/>
          </a:solidFill>
          <a:ln w="12700">
            <a:solidFill>
              <a:srgbClr val="2A3F5F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9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943600" cy="6858000"/>
          </a:xfrm>
          <a:prstGeom prst="rect">
            <a:avLst/>
          </a:prstGeom>
          <a:solidFill>
            <a:srgbClr val="0D1829"/>
          </a:solidFill>
          <a:ln w="12700">
            <a:solidFill>
              <a:srgbClr val="0D182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0" y="0"/>
            <a:ext cx="6248095" cy="6858000"/>
          </a:xfrm>
          <a:prstGeom prst="rect">
            <a:avLst/>
          </a:prstGeom>
          <a:solidFill>
            <a:srgbClr val="4B8EF5"/>
          </a:solidFill>
          <a:ln w="12700">
            <a:solidFill>
              <a:srgbClr val="4B8EF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0" y="0"/>
            <a:ext cx="6248095" cy="13716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0" y="960120"/>
            <a:ext cx="6248095" cy="13716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0" y="1920240"/>
            <a:ext cx="6248095" cy="13716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0" y="2880360"/>
            <a:ext cx="6248095" cy="13716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0" y="3840480"/>
            <a:ext cx="6248095" cy="13716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0" y="4800600"/>
            <a:ext cx="6248095" cy="13716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943600" y="5760720"/>
            <a:ext cx="6248095" cy="13716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43600" y="6720840"/>
            <a:ext cx="6248095" cy="13716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109728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F5A623"/>
                </a:solidFill>
              </a:rPr>
              <a:t>SECTION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914400" y="14173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E8EDF5"/>
                </a:solidFill>
              </a:rPr>
              <a:t>架构全景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914400" y="3108960"/>
            <a:ext cx="4206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9BB5"/>
                </a:solidFill>
              </a:rPr>
              <a:t>从入口分流到 Agent 协作，梳理这套系统的五层结构。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766560" y="164592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FFFFF">
                    <a:alpha val="80000"/>
                  </a:srgbClr>
                </a:solidFill>
              </a:rPr>
              <a:t>01</a:t>
            </a:r>
            <a:endParaRPr lang="en-US" sz="8000" dirty="0"/>
          </a:p>
        </p:txBody>
      </p:sp>
      <p:sp>
        <p:nvSpPr>
          <p:cNvPr id="16" name="Text 14"/>
          <p:cNvSpPr/>
          <p:nvPr/>
        </p:nvSpPr>
        <p:spPr>
          <a:xfrm>
            <a:off x="6583680" y="3200400"/>
            <a:ext cx="5029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>
                    <a:alpha val="85000"/>
                  </a:srgbClr>
                </a:solidFill>
              </a:rPr>
              <a:t>先建立大图，再逐层拆解。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>
                    <a:alpha val="85000"/>
                  </a:srgbClr>
                </a:solidFill>
              </a:rPr>
              <a:t>不要在细节里迷路。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94360" y="6254496"/>
            <a:ext cx="11002975" cy="13716"/>
          </a:xfrm>
          <a:prstGeom prst="rect">
            <a:avLst/>
          </a:prstGeom>
          <a:solidFill>
            <a:srgbClr val="2A3F5F"/>
          </a:solidFill>
          <a:ln w="12700">
            <a:solidFill>
              <a:srgbClr val="2A3F5F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6309360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8A9BB5"/>
                </a:solidFill>
              </a:rPr>
              <a:t>Claude Code Sourcemap 源码解读 · 仅供研究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11228832" y="6364224"/>
            <a:ext cx="73152" cy="73152"/>
          </a:xfrm>
          <a:prstGeom prst="rect">
            <a:avLst/>
          </a:prstGeom>
          <a:solidFill>
            <a:srgbClr val="4B8EF5"/>
          </a:solidFill>
          <a:ln w="12700">
            <a:solidFill>
              <a:srgbClr val="4B8EF5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698480" y="6291072"/>
            <a:ext cx="502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B0BDD0"/>
                </a:solidFill>
              </a:rPr>
              <a:t>04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9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B8EF5"/>
          </a:solidFill>
          <a:ln w="12700">
            <a:solidFill>
              <a:srgbClr val="4B8EF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" y="274320"/>
            <a:ext cx="1065276" cy="201168"/>
          </a:xfrm>
          <a:prstGeom prst="roundRect">
            <a:avLst>
              <a:gd name="adj" fmla="val 18182"/>
            </a:avLst>
          </a:prstGeom>
          <a:solidFill>
            <a:srgbClr val="1E2E4A"/>
          </a:solidFill>
          <a:ln w="12700">
            <a:solidFill>
              <a:srgbClr val="4B8EF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288036"/>
            <a:ext cx="3200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B8EF5"/>
                </a:solidFill>
              </a:rPr>
              <a:t>架构全景 · 01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58368" y="54864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8EDF5"/>
                </a:solidFill>
              </a:rPr>
              <a:t>五层架构：从「用户输入」到「模型递归执行」的完整通路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58368" y="1115568"/>
            <a:ext cx="10515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B5"/>
                </a:solidFill>
              </a:rPr>
              <a:t>这五层不是简单的功能列表，而是被 Query Loop 串起来的有序执行体系。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94360" y="6254496"/>
            <a:ext cx="11002975" cy="13716"/>
          </a:xfrm>
          <a:prstGeom prst="rect">
            <a:avLst/>
          </a:prstGeom>
          <a:solidFill>
            <a:srgbClr val="2A3F5F"/>
          </a:solidFill>
          <a:ln w="12700">
            <a:solidFill>
              <a:srgbClr val="2A3F5F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6309360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8A9BB5"/>
                </a:solidFill>
              </a:rPr>
              <a:t>Claude Code Sourcemap 源码解读 · 仅供研究</a:t>
            </a:r>
            <a:endParaRPr lang="en-US" sz="780" dirty="0"/>
          </a:p>
        </p:txBody>
      </p:sp>
      <p:sp>
        <p:nvSpPr>
          <p:cNvPr id="9" name="Shape 7"/>
          <p:cNvSpPr/>
          <p:nvPr/>
        </p:nvSpPr>
        <p:spPr>
          <a:xfrm>
            <a:off x="11228832" y="6364224"/>
            <a:ext cx="73152" cy="73152"/>
          </a:xfrm>
          <a:prstGeom prst="rect">
            <a:avLst/>
          </a:prstGeom>
          <a:solidFill>
            <a:srgbClr val="4B8EF5"/>
          </a:solidFill>
          <a:ln w="12700">
            <a:solidFill>
              <a:srgbClr val="4B8EF5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98480" y="6291072"/>
            <a:ext cx="502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B0BDD0"/>
                </a:solidFill>
              </a:rPr>
              <a:t>05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621792" y="1508760"/>
            <a:ext cx="512064" cy="768096"/>
          </a:xfrm>
          <a:prstGeom prst="roundRect">
            <a:avLst>
              <a:gd name="adj" fmla="val 10714"/>
            </a:avLst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" y="1691640"/>
            <a:ext cx="5120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9111F"/>
                </a:solidFill>
              </a:rPr>
              <a:t>01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280160" y="1545336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2D3EE"/>
                </a:solidFill>
              </a:rPr>
              <a:t>入口层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1280160" y="1892808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A9BB5"/>
                </a:solidFill>
              </a:rPr>
              <a:t>entrypoints/cli.tsx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A9BB5"/>
                </a:solidFill>
              </a:rPr>
              <a:t>轻量分发器：版本快路径 / 模式分流 / 懒加载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rot="5400000">
            <a:off x="781812" y="2331720"/>
            <a:ext cx="173736" cy="201168"/>
          </a:xfrm>
          <a:prstGeom prst="chevron">
            <a:avLst/>
          </a:prstGeom>
          <a:solidFill>
            <a:srgbClr val="22D3EE">
              <a:alpha val="60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2642616"/>
            <a:ext cx="512064" cy="768096"/>
          </a:xfrm>
          <a:prstGeom prst="roundRect">
            <a:avLst>
              <a:gd name="adj" fmla="val 10714"/>
            </a:avLst>
          </a:prstGeom>
          <a:solidFill>
            <a:srgbClr val="4B8EF5"/>
          </a:solidFill>
          <a:ln w="12700">
            <a:solidFill>
              <a:srgbClr val="4B8EF5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1792" y="2825496"/>
            <a:ext cx="5120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9111F"/>
                </a:solidFill>
              </a:rPr>
              <a:t>02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280160" y="2679192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B8EF5"/>
                </a:solidFill>
              </a:rPr>
              <a:t>启动编排层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280160" y="3026664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A9BB5"/>
                </a:solidFill>
              </a:rPr>
              <a:t>main.tsx (4,683 行)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A9BB5"/>
                </a:solidFill>
              </a:rPr>
              <a:t>初始化 Config · Auth · MCP · Agents · UI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 rot="5400000">
            <a:off x="781812" y="3465576"/>
            <a:ext cx="173736" cy="201168"/>
          </a:xfrm>
          <a:prstGeom prst="chevron">
            <a:avLst/>
          </a:prstGeom>
          <a:solidFill>
            <a:srgbClr val="4B8EF5">
              <a:alpha val="60000"/>
            </a:srgbClr>
          </a:solidFill>
          <a:ln w="12700">
            <a:solidFill>
              <a:srgbClr val="4B8EF5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1792" y="3776472"/>
            <a:ext cx="512064" cy="768096"/>
          </a:xfrm>
          <a:prstGeom prst="roundRect">
            <a:avLst>
              <a:gd name="adj" fmla="val 10714"/>
            </a:avLst>
          </a:prstGeom>
          <a:solidFill>
            <a:srgbClr val="F5A623"/>
          </a:solidFill>
          <a:ln w="12700">
            <a:solidFill>
              <a:srgbClr val="F5A623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1792" y="3959352"/>
            <a:ext cx="5120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9111F"/>
                </a:solidFill>
              </a:rPr>
              <a:t>03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280160" y="3813048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5A623"/>
                </a:solidFill>
              </a:rPr>
              <a:t>会话核心层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1280160" y="416052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A9BB5"/>
                </a:solidFill>
              </a:rPr>
              <a:t>QueryEngine.ts + query.ts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A9BB5"/>
                </a:solidFill>
              </a:rPr>
              <a:t>会话状态 · 递归 Turn Loop · Budget 管理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 rot="5400000">
            <a:off x="781812" y="4599432"/>
            <a:ext cx="173736" cy="201168"/>
          </a:xfrm>
          <a:prstGeom prst="chevron">
            <a:avLst/>
          </a:prstGeom>
          <a:solidFill>
            <a:srgbClr val="F5A623">
              <a:alpha val="60000"/>
            </a:srgbClr>
          </a:solidFill>
          <a:ln w="12700">
            <a:solidFill>
              <a:srgbClr val="F5A623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1792" y="4910328"/>
            <a:ext cx="512064" cy="768096"/>
          </a:xfrm>
          <a:prstGeom prst="roundRect">
            <a:avLst>
              <a:gd name="adj" fmla="val 10714"/>
            </a:avLst>
          </a:prstGeom>
          <a:solidFill>
            <a:srgbClr val="FB923C"/>
          </a:solidFill>
          <a:ln w="12700">
            <a:solidFill>
              <a:srgbClr val="FB923C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1792" y="5093208"/>
            <a:ext cx="5120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9111F"/>
                </a:solidFill>
              </a:rPr>
              <a:t>04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280160" y="4946904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B923C"/>
                </a:solidFill>
              </a:rPr>
              <a:t>执行治理层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1280160" y="5294376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A9BB5"/>
                </a:solidFill>
              </a:rPr>
              <a:t>toolExecution.ts + toolHooks.ts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A9BB5"/>
                </a:solidFill>
              </a:rPr>
              <a:t>Pre/Post Hook · 权限多层决策 · 追踪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 rot="5400000">
            <a:off x="781812" y="5733288"/>
            <a:ext cx="173736" cy="201168"/>
          </a:xfrm>
          <a:prstGeom prst="chevron">
            <a:avLst/>
          </a:prstGeom>
          <a:solidFill>
            <a:srgbClr val="FB923C">
              <a:alpha val="60000"/>
            </a:srgbClr>
          </a:solidFill>
          <a:ln w="12700">
            <a:solidFill>
              <a:srgbClr val="FB923C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21792" y="6044184"/>
            <a:ext cx="512064" cy="768096"/>
          </a:xfrm>
          <a:prstGeom prst="roundRect">
            <a:avLst>
              <a:gd name="adj" fmla="val 10714"/>
            </a:avLst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21792" y="6227064"/>
            <a:ext cx="5120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9111F"/>
                </a:solidFill>
              </a:rPr>
              <a:t>05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280160" y="608076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78BFA"/>
                </a:solidFill>
              </a:rPr>
              <a:t>扩展与能力层</a:t>
            </a:r>
            <a:endParaRPr lang="en-US" sz="1450" dirty="0"/>
          </a:p>
        </p:txBody>
      </p:sp>
      <p:sp>
        <p:nvSpPr>
          <p:cNvPr id="34" name="Text 32"/>
          <p:cNvSpPr/>
          <p:nvPr/>
        </p:nvSpPr>
        <p:spPr>
          <a:xfrm>
            <a:off x="1280160" y="6428232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A9BB5"/>
                </a:solidFill>
              </a:rPr>
              <a:t>Agents · MCP · Skills · Commands · Plugins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A9BB5"/>
                </a:solidFill>
              </a:rPr>
              <a:t>多 Agent Swarm · 外部能力接入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035040" y="1508760"/>
            <a:ext cx="5532120" cy="4462272"/>
          </a:xfrm>
          <a:prstGeom prst="roundRect">
            <a:avLst>
              <a:gd name="adj" fmla="val 1434"/>
            </a:avLst>
          </a:prstGeom>
          <a:solidFill>
            <a:srgbClr val="162035"/>
          </a:solidFill>
          <a:ln w="12700">
            <a:solidFill>
              <a:srgbClr val="2A3F5F"/>
            </a:solidFill>
            <a:prstDash val="solid"/>
          </a:ln>
          <a:effectLst>
            <a:outerShdw sx="100000" sy="100000" kx="0" ky="0" algn="bl" rotWithShape="0" blurRad="19050" dist="4445" dir="2700000">
              <a:srgbClr val="000000">
                <a:alpha val="1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217920" y="1636776"/>
            <a:ext cx="5166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B8EF5"/>
                </a:solidFill>
              </a:rPr>
              <a:t>为什么这五层很重要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6217920" y="1929384"/>
            <a:ext cx="5166360" cy="3950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C4CDD8"/>
                </a:solidFill>
              </a:rPr>
              <a:t>• 入口层做到「极速分流」：--version 等命令不需要加载 main.js，大幅减少启动延迟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C4CDD8"/>
                </a:solidFill>
              </a:rPr>
              <a:t>• main.tsx 是平台级 orchestration，4,683 行的 startup 涵盖了 Auth / Feature Gates / MCP / LSP / Session Restore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C4CDD8"/>
                </a:solidFill>
              </a:rPr>
              <a:t>• QueryEngine 与 query.ts 职责分离：前者管会话生命周期，后者管单轮递归状态机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C4CDD8"/>
                </a:solidFill>
              </a:rPr>
              <a:t>• 执行治理层不是可选 middleware，而是工具调用的必经主路径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C4CDD8"/>
                </a:solidFill>
              </a:rPr>
              <a:t>• 扩展层可以从 Plugin / Skill / MCP 三条通道接入，但最终都折叠进共享 Tool Surface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C4CDD8"/>
                </a:solidFill>
              </a:rPr>
              <a:t>• 不同 Surface（Terminal / Bridge / SDK）只改变入口和输出，不改变中间三层</a:t>
            </a:r>
            <a:endParaRPr lang="en-US" sz="11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9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B8EF5"/>
          </a:solidFill>
          <a:ln w="12700">
            <a:solidFill>
              <a:srgbClr val="4B8EF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" y="274320"/>
            <a:ext cx="1065276" cy="201168"/>
          </a:xfrm>
          <a:prstGeom prst="roundRect">
            <a:avLst>
              <a:gd name="adj" fmla="val 18182"/>
            </a:avLst>
          </a:prstGeom>
          <a:solidFill>
            <a:srgbClr val="1E2E4A"/>
          </a:solidFill>
          <a:ln w="12700">
            <a:solidFill>
              <a:srgbClr val="4B8EF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288036"/>
            <a:ext cx="3200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B8EF5"/>
                </a:solidFill>
              </a:rPr>
              <a:t>架构全景 · 02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58368" y="54864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8EDF5"/>
                </a:solidFill>
              </a:rPr>
              <a:t>模块关系图：被 Query Loop 串起来的多层系统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58368" y="1115568"/>
            <a:ext cx="10515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B5"/>
                </a:solidFill>
              </a:rPr>
              <a:t>真正的架构边界不是文件夹，而是这些模块之间的依赖方向和数据流。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94360" y="6254496"/>
            <a:ext cx="11002975" cy="13716"/>
          </a:xfrm>
          <a:prstGeom prst="rect">
            <a:avLst/>
          </a:prstGeom>
          <a:solidFill>
            <a:srgbClr val="2A3F5F"/>
          </a:solidFill>
          <a:ln w="12700">
            <a:solidFill>
              <a:srgbClr val="2A3F5F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6309360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8A9BB5"/>
                </a:solidFill>
              </a:rPr>
              <a:t>Claude Code Sourcemap 源码解读 · 仅供研究</a:t>
            </a:r>
            <a:endParaRPr lang="en-US" sz="780" dirty="0"/>
          </a:p>
        </p:txBody>
      </p:sp>
      <p:sp>
        <p:nvSpPr>
          <p:cNvPr id="9" name="Shape 7"/>
          <p:cNvSpPr/>
          <p:nvPr/>
        </p:nvSpPr>
        <p:spPr>
          <a:xfrm>
            <a:off x="11228832" y="6364224"/>
            <a:ext cx="73152" cy="73152"/>
          </a:xfrm>
          <a:prstGeom prst="rect">
            <a:avLst/>
          </a:prstGeom>
          <a:solidFill>
            <a:srgbClr val="4B8EF5"/>
          </a:solidFill>
          <a:ln w="12700">
            <a:solidFill>
              <a:srgbClr val="4B8EF5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98480" y="6291072"/>
            <a:ext cx="502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B0BDD0"/>
                </a:solidFill>
              </a:rPr>
              <a:t>06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4480560" y="2468880"/>
            <a:ext cx="3200400" cy="1097280"/>
          </a:xfrm>
          <a:prstGeom prst="roundRect">
            <a:avLst>
              <a:gd name="adj" fmla="val 8333"/>
            </a:avLst>
          </a:prstGeom>
          <a:solidFill>
            <a:srgbClr val="F5A623"/>
          </a:solidFill>
          <a:ln w="12700">
            <a:solidFill>
              <a:srgbClr val="F5A623">
                <a:alpha val="0"/>
              </a:srgbClr>
            </a:solidFill>
            <a:prstDash val="solid"/>
          </a:ln>
          <a:effectLst>
            <a:outerShdw sx="100000" sy="100000" kx="0" ky="0" algn="bl" rotWithShape="0" blurRad="50800" dist="6350" dir="2700000">
              <a:srgbClr val="F5A623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480560" y="26060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9111F"/>
                </a:solidFill>
              </a:rPr>
              <a:t>Query Loop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480560" y="2944368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D1829"/>
                </a:solidFill>
              </a:rPr>
              <a:t>QueryEngine + query.ts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40080" y="1554480"/>
            <a:ext cx="1920240" cy="658368"/>
          </a:xfrm>
          <a:prstGeom prst="roundRect">
            <a:avLst>
              <a:gd name="adj" fmla="val 8333"/>
            </a:avLst>
          </a:prstGeom>
          <a:solidFill>
            <a:srgbClr val="1A2640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1627632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D3EE"/>
                </a:solidFill>
              </a:rPr>
              <a:t>CLI / entrypoints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31520" y="1883664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BB5"/>
                </a:solidFill>
              </a:rPr>
              <a:t>cli.tsx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 rot="5400000">
            <a:off x="1353312" y="2267712"/>
            <a:ext cx="457200" cy="237744"/>
          </a:xfrm>
          <a:prstGeom prst="chevron">
            <a:avLst/>
          </a:prstGeom>
          <a:solidFill>
            <a:srgbClr val="22D3EE">
              <a:alpha val="65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34640" y="1554480"/>
            <a:ext cx="1920240" cy="658368"/>
          </a:xfrm>
          <a:prstGeom prst="roundRect">
            <a:avLst>
              <a:gd name="adj" fmla="val 8333"/>
            </a:avLst>
          </a:prstGeom>
          <a:solidFill>
            <a:srgbClr val="1A2640"/>
          </a:solidFill>
          <a:ln w="12700">
            <a:solidFill>
              <a:srgbClr val="4B8EF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926080" y="1627632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B8EF5"/>
                </a:solidFill>
              </a:rPr>
              <a:t>Bridge / Remote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926080" y="1883664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BB5"/>
                </a:solidFill>
              </a:rPr>
              <a:t>bridgeMain.ts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 rot="5400000">
            <a:off x="3547872" y="2267712"/>
            <a:ext cx="457200" cy="237744"/>
          </a:xfrm>
          <a:prstGeom prst="chevron">
            <a:avLst/>
          </a:prstGeom>
          <a:solidFill>
            <a:srgbClr val="4B8EF5">
              <a:alpha val="65000"/>
            </a:srgbClr>
          </a:solidFill>
          <a:ln w="12700">
            <a:solidFill>
              <a:srgbClr val="4B8EF5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29200" y="1554480"/>
            <a:ext cx="1920240" cy="658368"/>
          </a:xfrm>
          <a:prstGeom prst="roundRect">
            <a:avLst>
              <a:gd name="adj" fmla="val 8333"/>
            </a:avLst>
          </a:prstGeom>
          <a:solidFill>
            <a:srgbClr val="1A2640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20640" y="1627632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78BFA"/>
                </a:solidFill>
              </a:rPr>
              <a:t>SDK / Headless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120640" y="1883664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BB5"/>
                </a:solidFill>
              </a:rPr>
              <a:t>cli/print.ts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 rot="5400000">
            <a:off x="5742432" y="2267712"/>
            <a:ext cx="457200" cy="237744"/>
          </a:xfrm>
          <a:prstGeom prst="chevron">
            <a:avLst/>
          </a:prstGeom>
          <a:solidFill>
            <a:srgbClr val="A78BFA">
              <a:alpha val="65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23760" y="1554480"/>
            <a:ext cx="1920240" cy="658368"/>
          </a:xfrm>
          <a:prstGeom prst="roundRect">
            <a:avLst>
              <a:gd name="adj" fmla="val 8333"/>
            </a:avLst>
          </a:prstGeom>
          <a:solidFill>
            <a:srgbClr val="1A2640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15200" y="1627632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B923C"/>
                </a:solidFill>
              </a:rPr>
              <a:t>main.tsx startup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7315200" y="1883664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BB5"/>
                </a:solidFill>
              </a:rPr>
              <a:t>orchestration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 rot="5400000">
            <a:off x="7936992" y="2267712"/>
            <a:ext cx="457200" cy="237744"/>
          </a:xfrm>
          <a:prstGeom prst="chevron">
            <a:avLst/>
          </a:prstGeom>
          <a:solidFill>
            <a:srgbClr val="FB923C">
              <a:alpha val="65000"/>
            </a:srgbClr>
          </a:solidFill>
          <a:ln w="12700">
            <a:solidFill>
              <a:srgbClr val="FB923C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418320" y="1554480"/>
            <a:ext cx="1920240" cy="658368"/>
          </a:xfrm>
          <a:prstGeom prst="roundRect">
            <a:avLst>
              <a:gd name="adj" fmla="val 8333"/>
            </a:avLst>
          </a:prstGeom>
          <a:solidFill>
            <a:srgbClr val="1A2640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509760" y="1627632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4D399"/>
                </a:solidFill>
              </a:rPr>
              <a:t>AppState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9509760" y="1883664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BB5"/>
                </a:solidFill>
              </a:rPr>
              <a:t>shared state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 rot="5400000">
            <a:off x="10131552" y="2267712"/>
            <a:ext cx="457200" cy="237744"/>
          </a:xfrm>
          <a:prstGeom prst="chevron">
            <a:avLst/>
          </a:prstGeom>
          <a:solidFill>
            <a:srgbClr val="34D399">
              <a:alpha val="65000"/>
            </a:srgbClr>
          </a:solidFill>
          <a:ln w="12700">
            <a:solidFill>
              <a:srgbClr val="34D399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rot="5400000">
            <a:off x="1353312" y="3657600"/>
            <a:ext cx="457200" cy="237744"/>
          </a:xfrm>
          <a:prstGeom prst="chevron">
            <a:avLst/>
          </a:prstGeom>
          <a:solidFill>
            <a:srgbClr val="FB923C">
              <a:alpha val="65000"/>
            </a:srgbClr>
          </a:solidFill>
          <a:ln w="12700">
            <a:solidFill>
              <a:srgbClr val="FB923C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40080" y="4023360"/>
            <a:ext cx="1920240" cy="749808"/>
          </a:xfrm>
          <a:prstGeom prst="roundRect">
            <a:avLst>
              <a:gd name="adj" fmla="val 7317"/>
            </a:avLst>
          </a:prstGeom>
          <a:solidFill>
            <a:srgbClr val="162035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1520" y="4096512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B923C"/>
                </a:solidFill>
              </a:rPr>
              <a:t>Tool Runtime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31520" y="435254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8A9BB5"/>
                </a:solidFill>
              </a:rPr>
              <a:t>toolExecution.ts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8A9BB5"/>
                </a:solidFill>
              </a:rPr>
              <a:t>40+ 工具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 rot="5400000">
            <a:off x="3547872" y="3657600"/>
            <a:ext cx="457200" cy="237744"/>
          </a:xfrm>
          <a:prstGeom prst="chevron">
            <a:avLst/>
          </a:prstGeom>
          <a:solidFill>
            <a:srgbClr val="F87171">
              <a:alpha val="65000"/>
            </a:srgbClr>
          </a:solidFill>
          <a:ln w="12700">
            <a:solidFill>
              <a:srgbClr val="F87171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834640" y="4023360"/>
            <a:ext cx="1920240" cy="749808"/>
          </a:xfrm>
          <a:prstGeom prst="roundRect">
            <a:avLst>
              <a:gd name="adj" fmla="val 7317"/>
            </a:avLst>
          </a:prstGeom>
          <a:solidFill>
            <a:srgbClr val="162035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26080" y="4096512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7171"/>
                </a:solidFill>
              </a:rPr>
              <a:t>Permission System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2926080" y="435254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8A9BB5"/>
                </a:solidFill>
              </a:rPr>
              <a:t>hooks + rules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8A9BB5"/>
                </a:solidFill>
              </a:rPr>
              <a:t>多层决策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 rot="5400000">
            <a:off x="5742432" y="3657600"/>
            <a:ext cx="457200" cy="237744"/>
          </a:xfrm>
          <a:prstGeom prst="chevron">
            <a:avLst/>
          </a:prstGeom>
          <a:solidFill>
            <a:srgbClr val="A78BFA">
              <a:alpha val="65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29200" y="4023360"/>
            <a:ext cx="1920240" cy="749808"/>
          </a:xfrm>
          <a:prstGeom prst="roundRect">
            <a:avLst>
              <a:gd name="adj" fmla="val 7317"/>
            </a:avLst>
          </a:prstGeom>
          <a:solidFill>
            <a:srgbClr val="162035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120640" y="4096512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78BFA"/>
                </a:solidFill>
              </a:rPr>
              <a:t>Agent / Swarm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5120640" y="435254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8A9BB5"/>
                </a:solidFill>
              </a:rPr>
              <a:t>runAgent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8A9BB5"/>
                </a:solidFill>
              </a:rPr>
              <a:t>inProcessRunner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 rot="5400000">
            <a:off x="7936992" y="3657600"/>
            <a:ext cx="457200" cy="237744"/>
          </a:xfrm>
          <a:prstGeom prst="chevron">
            <a:avLst/>
          </a:prstGeom>
          <a:solidFill>
            <a:srgbClr val="22D3EE">
              <a:alpha val="65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223760" y="4023360"/>
            <a:ext cx="1920240" cy="749808"/>
          </a:xfrm>
          <a:prstGeom prst="roundRect">
            <a:avLst>
              <a:gd name="adj" fmla="val 7317"/>
            </a:avLst>
          </a:prstGeom>
          <a:solidFill>
            <a:srgbClr val="162035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315200" y="4096512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D3EE"/>
                </a:solidFill>
              </a:rPr>
              <a:t>MCP / Plugins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7315200" y="435254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8A9BB5"/>
                </a:solidFill>
              </a:rPr>
              <a:t>外部能力接入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8A9BB5"/>
                </a:solidFill>
              </a:rPr>
              <a:t>client.ts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 rot="5400000">
            <a:off x="10131552" y="3657600"/>
            <a:ext cx="457200" cy="237744"/>
          </a:xfrm>
          <a:prstGeom prst="chevron">
            <a:avLst/>
          </a:prstGeom>
          <a:solidFill>
            <a:srgbClr val="34D399">
              <a:alpha val="65000"/>
            </a:srgbClr>
          </a:solidFill>
          <a:ln w="12700">
            <a:solidFill>
              <a:srgbClr val="34D399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9418320" y="4023360"/>
            <a:ext cx="1920240" cy="749808"/>
          </a:xfrm>
          <a:prstGeom prst="roundRect">
            <a:avLst>
              <a:gd name="adj" fmla="val 7317"/>
            </a:avLst>
          </a:prstGeom>
          <a:solidFill>
            <a:srgbClr val="162035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509760" y="4096512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4D399"/>
                </a:solidFill>
              </a:rPr>
              <a:t>compact / budget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9509760" y="435254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8A9BB5"/>
                </a:solidFill>
              </a:rPr>
              <a:t>上下文管理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8A9BB5"/>
                </a:solidFill>
              </a:rPr>
              <a:t>成本控制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9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B8EF5"/>
          </a:solidFill>
          <a:ln w="12700">
            <a:solidFill>
              <a:srgbClr val="4B8EF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" y="274320"/>
            <a:ext cx="1065276" cy="201168"/>
          </a:xfrm>
          <a:prstGeom prst="roundRect">
            <a:avLst>
              <a:gd name="adj" fmla="val 18182"/>
            </a:avLst>
          </a:prstGeom>
          <a:solidFill>
            <a:srgbClr val="1E2E4A"/>
          </a:solidFill>
          <a:ln w="12700">
            <a:solidFill>
              <a:srgbClr val="4B8EF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288036"/>
            <a:ext cx="3200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B8EF5"/>
                </a:solidFill>
              </a:rPr>
              <a:t>架构图解 · 01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58368" y="54864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8EDF5"/>
                </a:solidFill>
              </a:rPr>
              <a:t>五层架构全景——从 CLI 入口到扩展生态的层次关系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58368" y="1115568"/>
            <a:ext cx="10515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B5"/>
                </a:solidFill>
              </a:rPr>
              <a:t>每一层的边界和方向性是理解系统的关键。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94360" y="6254496"/>
            <a:ext cx="11002975" cy="13716"/>
          </a:xfrm>
          <a:prstGeom prst="rect">
            <a:avLst/>
          </a:prstGeom>
          <a:solidFill>
            <a:srgbClr val="2A3F5F"/>
          </a:solidFill>
          <a:ln w="12700">
            <a:solidFill>
              <a:srgbClr val="2A3F5F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6309360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8A9BB5"/>
                </a:solidFill>
              </a:rPr>
              <a:t>Claude Code Sourcemap 源码解读 · 仅供研究</a:t>
            </a:r>
            <a:endParaRPr lang="en-US" sz="780" dirty="0"/>
          </a:p>
        </p:txBody>
      </p:sp>
      <p:sp>
        <p:nvSpPr>
          <p:cNvPr id="9" name="Shape 7"/>
          <p:cNvSpPr/>
          <p:nvPr/>
        </p:nvSpPr>
        <p:spPr>
          <a:xfrm>
            <a:off x="11228832" y="6364224"/>
            <a:ext cx="73152" cy="73152"/>
          </a:xfrm>
          <a:prstGeom prst="rect">
            <a:avLst/>
          </a:prstGeom>
          <a:solidFill>
            <a:srgbClr val="4B8EF5"/>
          </a:solidFill>
          <a:ln w="12700">
            <a:solidFill>
              <a:srgbClr val="4B8EF5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98480" y="6291072"/>
            <a:ext cx="502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B0BDD0"/>
                </a:solidFill>
              </a:rPr>
              <a:t>07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792328" y="1572768"/>
            <a:ext cx="1261872" cy="658368"/>
          </a:xfrm>
          <a:prstGeom prst="roundRect">
            <a:avLst>
              <a:gd name="adj" fmla="val 8333"/>
            </a:avLst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8048" y="1671523"/>
            <a:ext cx="1170432" cy="4608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9111F"/>
                </a:solidFill>
              </a:rPr>
              <a:t>入口层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2209648" y="1572768"/>
            <a:ext cx="2121408" cy="658368"/>
          </a:xfrm>
          <a:prstGeom prst="roundRect">
            <a:avLst>
              <a:gd name="adj" fmla="val 11111"/>
            </a:avLst>
          </a:prstGeom>
          <a:solidFill>
            <a:srgbClr val="162035"/>
          </a:solidFill>
          <a:ln w="12700">
            <a:solidFill>
              <a:srgbClr val="22D3EE"/>
            </a:solidFill>
            <a:prstDash val="solid"/>
          </a:ln>
          <a:effectLst>
            <a:outerShdw sx="100000" sy="100000" kx="0" ky="0" algn="bl" rotWithShape="0" blurRad="19050" dist="3810" dir="270000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2282800" y="1664208"/>
            <a:ext cx="1975104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D3EE"/>
                </a:solidFill>
              </a:rPr>
              <a:t>cli.tsx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282800" y="1915119"/>
            <a:ext cx="1975104" cy="263347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8A9BB5"/>
                </a:solidFill>
              </a:rPr>
              <a:t>版本快路径 / 模式分流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513936" y="1572768"/>
            <a:ext cx="2121408" cy="658368"/>
          </a:xfrm>
          <a:prstGeom prst="roundRect">
            <a:avLst>
              <a:gd name="adj" fmla="val 11111"/>
            </a:avLst>
          </a:prstGeom>
          <a:solidFill>
            <a:srgbClr val="162035"/>
          </a:solidFill>
          <a:ln w="12700">
            <a:solidFill>
              <a:srgbClr val="22D3EE"/>
            </a:solidFill>
            <a:prstDash val="solid"/>
          </a:ln>
          <a:effectLst>
            <a:outerShdw sx="100000" sy="100000" kx="0" ky="0" algn="bl" rotWithShape="0" blurRad="19050" dist="3810" dir="27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587088" y="1664208"/>
            <a:ext cx="1975104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D3EE"/>
                </a:solidFill>
              </a:rPr>
              <a:t>--version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87088" y="1915119"/>
            <a:ext cx="1975104" cy="263347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8A9BB5"/>
                </a:solidFill>
              </a:rPr>
              <a:t>不加载 main.js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818224" y="1572768"/>
            <a:ext cx="2121408" cy="658368"/>
          </a:xfrm>
          <a:prstGeom prst="roundRect">
            <a:avLst>
              <a:gd name="adj" fmla="val 11111"/>
            </a:avLst>
          </a:prstGeom>
          <a:solidFill>
            <a:srgbClr val="162035"/>
          </a:solidFill>
          <a:ln w="12700">
            <a:solidFill>
              <a:srgbClr val="22D3EE"/>
            </a:solidFill>
            <a:prstDash val="solid"/>
          </a:ln>
          <a:effectLst>
            <a:outerShdw sx="100000" sy="100000" kx="0" ky="0" algn="bl" rotWithShape="0" blurRad="19050" dist="3810" dir="270000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891376" y="1664208"/>
            <a:ext cx="1975104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D3EE"/>
                </a:solidFill>
              </a:rPr>
              <a:t>--help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891376" y="1915119"/>
            <a:ext cx="1975104" cy="263347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8A9BB5"/>
                </a:solidFill>
              </a:rPr>
              <a:t>极速输出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9122512" y="1572768"/>
            <a:ext cx="2121408" cy="658368"/>
          </a:xfrm>
          <a:prstGeom prst="roundRect">
            <a:avLst>
              <a:gd name="adj" fmla="val 11111"/>
            </a:avLst>
          </a:prstGeom>
          <a:solidFill>
            <a:srgbClr val="162035"/>
          </a:solidFill>
          <a:ln w="12700">
            <a:solidFill>
              <a:srgbClr val="22D3EE"/>
            </a:solidFill>
            <a:prstDash val="solid"/>
          </a:ln>
          <a:effectLst>
            <a:outerShdw sx="100000" sy="100000" kx="0" ky="0" algn="bl" rotWithShape="0" blurRad="19050" dist="3810" dir="2700000">
              <a:srgbClr val="000000">
                <a:alpha val="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9195664" y="1664208"/>
            <a:ext cx="1975104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D3EE"/>
                </a:solidFill>
              </a:rPr>
              <a:t>full mode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95664" y="1915119"/>
            <a:ext cx="1975104" cy="263347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8A9BB5"/>
                </a:solidFill>
              </a:rPr>
              <a:t>lazy require main.tsx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095848" y="2231136"/>
            <a:ext cx="914" cy="219456"/>
          </a:xfrm>
          <a:prstGeom prst="line">
            <a:avLst/>
          </a:prstGeom>
          <a:noFill/>
          <a:ln w="12700">
            <a:solidFill>
              <a:srgbClr val="22D3E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2328" y="2450592"/>
            <a:ext cx="1261872" cy="658368"/>
          </a:xfrm>
          <a:prstGeom prst="roundRect">
            <a:avLst>
              <a:gd name="adj" fmla="val 8333"/>
            </a:avLst>
          </a:prstGeom>
          <a:solidFill>
            <a:srgbClr val="4B8EF5"/>
          </a:solidFill>
          <a:ln w="12700">
            <a:solidFill>
              <a:srgbClr val="4B8EF5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38048" y="2549347"/>
            <a:ext cx="1170432" cy="4608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9111F"/>
                </a:solidFill>
              </a:rPr>
              <a:t>启动编排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2209648" y="2450592"/>
            <a:ext cx="2121408" cy="658368"/>
          </a:xfrm>
          <a:prstGeom prst="roundRect">
            <a:avLst>
              <a:gd name="adj" fmla="val 11111"/>
            </a:avLst>
          </a:prstGeom>
          <a:solidFill>
            <a:srgbClr val="162035"/>
          </a:solidFill>
          <a:ln w="12700">
            <a:solidFill>
              <a:srgbClr val="4B8EF5"/>
            </a:solidFill>
            <a:prstDash val="solid"/>
          </a:ln>
          <a:effectLst>
            <a:outerShdw sx="100000" sy="100000" kx="0" ky="0" algn="bl" rotWithShape="0" blurRad="19050" dist="3810" dir="2700000">
              <a:srgbClr val="000000">
                <a:alpha val="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282800" y="2542032"/>
            <a:ext cx="1975104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8EF5"/>
                </a:solidFill>
              </a:rPr>
              <a:t>main.tsx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282800" y="2792943"/>
            <a:ext cx="1975104" cy="263347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8A9BB5"/>
                </a:solidFill>
              </a:rPr>
              <a:t>4,683 行 orchestration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513936" y="2450592"/>
            <a:ext cx="2121408" cy="658368"/>
          </a:xfrm>
          <a:prstGeom prst="roundRect">
            <a:avLst>
              <a:gd name="adj" fmla="val 11111"/>
            </a:avLst>
          </a:prstGeom>
          <a:solidFill>
            <a:srgbClr val="162035"/>
          </a:solidFill>
          <a:ln w="12700">
            <a:solidFill>
              <a:srgbClr val="4B8EF5"/>
            </a:solidFill>
            <a:prstDash val="solid"/>
          </a:ln>
          <a:effectLst>
            <a:outerShdw sx="100000" sy="100000" kx="0" ky="0" algn="bl" rotWithShape="0" blurRad="19050" dist="3810" dir="2700000">
              <a:srgbClr val="000000">
                <a:alpha val="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587088" y="2542032"/>
            <a:ext cx="1975104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8EF5"/>
                </a:solidFill>
              </a:rPr>
              <a:t>Auth + Config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587088" y="2792943"/>
            <a:ext cx="1975104" cy="263347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8A9BB5"/>
                </a:solidFill>
              </a:rPr>
              <a:t>OAuth / API key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6818224" y="2450592"/>
            <a:ext cx="2121408" cy="658368"/>
          </a:xfrm>
          <a:prstGeom prst="roundRect">
            <a:avLst>
              <a:gd name="adj" fmla="val 11111"/>
            </a:avLst>
          </a:prstGeom>
          <a:solidFill>
            <a:srgbClr val="162035"/>
          </a:solidFill>
          <a:ln w="12700">
            <a:solidFill>
              <a:srgbClr val="4B8EF5"/>
            </a:solidFill>
            <a:prstDash val="solid"/>
          </a:ln>
          <a:effectLst>
            <a:outerShdw sx="100000" sy="100000" kx="0" ky="0" algn="bl" rotWithShape="0" blurRad="19050" dist="3810" dir="2700000">
              <a:srgbClr val="000000">
                <a:alpha val="8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891376" y="2542032"/>
            <a:ext cx="1975104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8EF5"/>
                </a:solidFill>
              </a:rPr>
              <a:t>MCP + LSP init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891376" y="2792943"/>
            <a:ext cx="1975104" cy="263347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8A9BB5"/>
                </a:solidFill>
              </a:rPr>
              <a:t>外部服务连接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9122512" y="2450592"/>
            <a:ext cx="2121408" cy="658368"/>
          </a:xfrm>
          <a:prstGeom prst="roundRect">
            <a:avLst>
              <a:gd name="adj" fmla="val 11111"/>
            </a:avLst>
          </a:prstGeom>
          <a:solidFill>
            <a:srgbClr val="162035"/>
          </a:solidFill>
          <a:ln w="12700">
            <a:solidFill>
              <a:srgbClr val="4B8EF5"/>
            </a:solidFill>
            <a:prstDash val="solid"/>
          </a:ln>
          <a:effectLst>
            <a:outerShdw sx="100000" sy="100000" kx="0" ky="0" algn="bl" rotWithShape="0" blurRad="19050" dist="3810" dir="2700000">
              <a:srgbClr val="000000">
                <a:alpha val="8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9195664" y="2542032"/>
            <a:ext cx="1975104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8EF5"/>
                </a:solidFill>
              </a:rPr>
              <a:t>Session restore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9195664" y="2792943"/>
            <a:ext cx="1975104" cy="263347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8A9BB5"/>
                </a:solidFill>
              </a:rPr>
              <a:t>历史会话恢复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6095848" y="3108960"/>
            <a:ext cx="914" cy="219456"/>
          </a:xfrm>
          <a:prstGeom prst="line">
            <a:avLst/>
          </a:prstGeom>
          <a:noFill/>
          <a:ln w="12700">
            <a:solidFill>
              <a:srgbClr val="4B8EF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92328" y="3328416"/>
            <a:ext cx="1261872" cy="658368"/>
          </a:xfrm>
          <a:prstGeom prst="roundRect">
            <a:avLst>
              <a:gd name="adj" fmla="val 8333"/>
            </a:avLst>
          </a:prstGeom>
          <a:solidFill>
            <a:srgbClr val="F5A623"/>
          </a:solidFill>
          <a:ln w="12700">
            <a:solidFill>
              <a:srgbClr val="F5A623">
                <a:alpha val="0"/>
              </a:srgbClr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38048" y="3427171"/>
            <a:ext cx="1170432" cy="4608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9111F"/>
                </a:solidFill>
              </a:rPr>
              <a:t>会话核心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2209648" y="3328416"/>
            <a:ext cx="2121408" cy="658368"/>
          </a:xfrm>
          <a:prstGeom prst="roundRect">
            <a:avLst>
              <a:gd name="adj" fmla="val 11111"/>
            </a:avLst>
          </a:prstGeom>
          <a:solidFill>
            <a:srgbClr val="162035"/>
          </a:solidFill>
          <a:ln w="12700">
            <a:solidFill>
              <a:srgbClr val="F5A623"/>
            </a:solidFill>
            <a:prstDash val="solid"/>
          </a:ln>
          <a:effectLst>
            <a:outerShdw sx="100000" sy="100000" kx="0" ky="0" algn="bl" rotWithShape="0" blurRad="19050" dist="3810" dir="2700000">
              <a:srgbClr val="000000">
                <a:alpha val="8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2282800" y="3419856"/>
            <a:ext cx="1975104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A623"/>
                </a:solidFill>
              </a:rPr>
              <a:t>QueryEngine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2282800" y="3670767"/>
            <a:ext cx="1975104" cy="263347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8A9BB5"/>
                </a:solidFill>
              </a:rPr>
              <a:t>会话生命周期管理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4513936" y="3328416"/>
            <a:ext cx="2121408" cy="658368"/>
          </a:xfrm>
          <a:prstGeom prst="roundRect">
            <a:avLst>
              <a:gd name="adj" fmla="val 11111"/>
            </a:avLst>
          </a:prstGeom>
          <a:solidFill>
            <a:srgbClr val="162035"/>
          </a:solidFill>
          <a:ln w="12700">
            <a:solidFill>
              <a:srgbClr val="F5A623"/>
            </a:solidFill>
            <a:prstDash val="solid"/>
          </a:ln>
          <a:effectLst>
            <a:outerShdw sx="100000" sy="100000" kx="0" ky="0" algn="bl" rotWithShape="0" blurRad="19050" dist="3810" dir="2700000">
              <a:srgbClr val="000000">
                <a:alpha val="8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4587088" y="3419856"/>
            <a:ext cx="1975104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A623"/>
                </a:solidFill>
              </a:rPr>
              <a:t>query.ts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4587088" y="3670767"/>
            <a:ext cx="1975104" cy="263347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8A9BB5"/>
                </a:solidFill>
              </a:rPr>
              <a:t>递归 Turn 状态机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6818224" y="3328416"/>
            <a:ext cx="2121408" cy="658368"/>
          </a:xfrm>
          <a:prstGeom prst="roundRect">
            <a:avLst>
              <a:gd name="adj" fmla="val 11111"/>
            </a:avLst>
          </a:prstGeom>
          <a:solidFill>
            <a:srgbClr val="162035"/>
          </a:solidFill>
          <a:ln w="12700">
            <a:solidFill>
              <a:srgbClr val="F5A623"/>
            </a:solidFill>
            <a:prstDash val="solid"/>
          </a:ln>
          <a:effectLst>
            <a:outerShdw sx="100000" sy="100000" kx="0" ky="0" algn="bl" rotWithShape="0" blurRad="19050" dist="3810" dir="2700000">
              <a:srgbClr val="000000">
                <a:alpha val="8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6891376" y="3419856"/>
            <a:ext cx="1975104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A623"/>
                </a:solidFill>
              </a:rPr>
              <a:t>buildQueryConfig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6891376" y="3670767"/>
            <a:ext cx="1975104" cy="263347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8A9BB5"/>
                </a:solidFill>
              </a:rPr>
              <a:t>运行时配置快照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9122512" y="3328416"/>
            <a:ext cx="2121408" cy="658368"/>
          </a:xfrm>
          <a:prstGeom prst="roundRect">
            <a:avLst>
              <a:gd name="adj" fmla="val 11111"/>
            </a:avLst>
          </a:prstGeom>
          <a:solidFill>
            <a:srgbClr val="162035"/>
          </a:solidFill>
          <a:ln w="12700">
            <a:solidFill>
              <a:srgbClr val="F5A623"/>
            </a:solidFill>
            <a:prstDash val="solid"/>
          </a:ln>
          <a:effectLst>
            <a:outerShdw sx="100000" sy="100000" kx="0" ky="0" algn="bl" rotWithShape="0" blurRad="19050" dist="3810" dir="2700000">
              <a:srgbClr val="000000">
                <a:alpha val="8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9195664" y="3419856"/>
            <a:ext cx="1975104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A623"/>
                </a:solidFill>
              </a:rPr>
              <a:t>Stream + Collect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9195664" y="3670767"/>
            <a:ext cx="1975104" cy="263347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8A9BB5"/>
                </a:solidFill>
              </a:rPr>
              <a:t>流式消费 tool_use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6095848" y="3986784"/>
            <a:ext cx="914" cy="219456"/>
          </a:xfrm>
          <a:prstGeom prst="line">
            <a:avLst/>
          </a:prstGeom>
          <a:noFill/>
          <a:ln w="12700">
            <a:solidFill>
              <a:srgbClr val="F5A623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92328" y="4206240"/>
            <a:ext cx="1261872" cy="658368"/>
          </a:xfrm>
          <a:prstGeom prst="roundRect">
            <a:avLst>
              <a:gd name="adj" fmla="val 8333"/>
            </a:avLst>
          </a:prstGeom>
          <a:solidFill>
            <a:srgbClr val="FB923C"/>
          </a:solidFill>
          <a:ln w="12700">
            <a:solidFill>
              <a:srgbClr val="FB923C">
                <a:alpha val="0"/>
              </a:srgbClr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38048" y="4304995"/>
            <a:ext cx="1170432" cy="4608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9111F"/>
                </a:solidFill>
              </a:rPr>
              <a:t>执行治理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2209648" y="4206240"/>
            <a:ext cx="2121408" cy="658368"/>
          </a:xfrm>
          <a:prstGeom prst="roundRect">
            <a:avLst>
              <a:gd name="adj" fmla="val 11111"/>
            </a:avLst>
          </a:prstGeom>
          <a:solidFill>
            <a:srgbClr val="162035"/>
          </a:solidFill>
          <a:ln w="12700">
            <a:solidFill>
              <a:srgbClr val="FB923C"/>
            </a:solidFill>
            <a:prstDash val="solid"/>
          </a:ln>
          <a:effectLst>
            <a:outerShdw sx="100000" sy="100000" kx="0" ky="0" algn="bl" rotWithShape="0" blurRad="19050" dist="3810" dir="2700000">
              <a:srgbClr val="000000">
                <a:alpha val="8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2282800" y="4297680"/>
            <a:ext cx="1975104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B923C"/>
                </a:solidFill>
              </a:rPr>
              <a:t>toolExecution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2282800" y="4548591"/>
            <a:ext cx="1975104" cy="263347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8A9BB5"/>
                </a:solidFill>
              </a:rPr>
              <a:t>工具执行主路径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4513936" y="4206240"/>
            <a:ext cx="2121408" cy="658368"/>
          </a:xfrm>
          <a:prstGeom prst="roundRect">
            <a:avLst>
              <a:gd name="adj" fmla="val 11111"/>
            </a:avLst>
          </a:prstGeom>
          <a:solidFill>
            <a:srgbClr val="162035"/>
          </a:solidFill>
          <a:ln w="12700">
            <a:solidFill>
              <a:srgbClr val="FB923C"/>
            </a:solidFill>
            <a:prstDash val="solid"/>
          </a:ln>
          <a:effectLst>
            <a:outerShdw sx="100000" sy="100000" kx="0" ky="0" algn="bl" rotWithShape="0" blurRad="19050" dist="3810" dir="2700000">
              <a:srgbClr val="000000">
                <a:alpha val="8000"/>
              </a:srgbClr>
            </a:outerShdw>
          </a:effectLst>
        </p:spPr>
      </p:sp>
      <p:sp>
        <p:nvSpPr>
          <p:cNvPr id="62" name="Text 60"/>
          <p:cNvSpPr/>
          <p:nvPr/>
        </p:nvSpPr>
        <p:spPr>
          <a:xfrm>
            <a:off x="4587088" y="4297680"/>
            <a:ext cx="1975104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B923C"/>
                </a:solidFill>
              </a:rPr>
              <a:t>Pre/Post Hooks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4587088" y="4548591"/>
            <a:ext cx="1975104" cy="263347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8A9BB5"/>
                </a:solidFill>
              </a:rPr>
              <a:t>策略注入点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6818224" y="4206240"/>
            <a:ext cx="2121408" cy="658368"/>
          </a:xfrm>
          <a:prstGeom prst="roundRect">
            <a:avLst>
              <a:gd name="adj" fmla="val 11111"/>
            </a:avLst>
          </a:prstGeom>
          <a:solidFill>
            <a:srgbClr val="162035"/>
          </a:solidFill>
          <a:ln w="12700">
            <a:solidFill>
              <a:srgbClr val="FB923C"/>
            </a:solidFill>
            <a:prstDash val="solid"/>
          </a:ln>
          <a:effectLst>
            <a:outerShdw sx="100000" sy="100000" kx="0" ky="0" algn="bl" rotWithShape="0" blurRad="19050" dist="3810" dir="2700000">
              <a:srgbClr val="000000">
                <a:alpha val="8000"/>
              </a:srgbClr>
            </a:outerShdw>
          </a:effectLst>
        </p:spPr>
      </p:sp>
      <p:sp>
        <p:nvSpPr>
          <p:cNvPr id="65" name="Text 63"/>
          <p:cNvSpPr/>
          <p:nvPr/>
        </p:nvSpPr>
        <p:spPr>
          <a:xfrm>
            <a:off x="6891376" y="4297680"/>
            <a:ext cx="1975104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B923C"/>
                </a:solidFill>
              </a:rPr>
              <a:t>Permissions</a:t>
            </a:r>
            <a:endParaRPr lang="en-US" sz="1100" dirty="0"/>
          </a:p>
        </p:txBody>
      </p:sp>
      <p:sp>
        <p:nvSpPr>
          <p:cNvPr id="66" name="Text 64"/>
          <p:cNvSpPr/>
          <p:nvPr/>
        </p:nvSpPr>
        <p:spPr>
          <a:xfrm>
            <a:off x="6891376" y="4548591"/>
            <a:ext cx="1975104" cy="263347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8A9BB5"/>
                </a:solidFill>
              </a:rPr>
              <a:t>多层决策树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9122512" y="4206240"/>
            <a:ext cx="2121408" cy="658368"/>
          </a:xfrm>
          <a:prstGeom prst="roundRect">
            <a:avLst>
              <a:gd name="adj" fmla="val 11111"/>
            </a:avLst>
          </a:prstGeom>
          <a:solidFill>
            <a:srgbClr val="162035"/>
          </a:solidFill>
          <a:ln w="12700">
            <a:solidFill>
              <a:srgbClr val="FB923C"/>
            </a:solidFill>
            <a:prstDash val="solid"/>
          </a:ln>
          <a:effectLst>
            <a:outerShdw sx="100000" sy="100000" kx="0" ky="0" algn="bl" rotWithShape="0" blurRad="19050" dist="3810" dir="2700000">
              <a:srgbClr val="000000">
                <a:alpha val="8000"/>
              </a:srgbClr>
            </a:outerShdw>
          </a:effectLst>
        </p:spPr>
      </p:sp>
      <p:sp>
        <p:nvSpPr>
          <p:cNvPr id="68" name="Text 66"/>
          <p:cNvSpPr/>
          <p:nvPr/>
        </p:nvSpPr>
        <p:spPr>
          <a:xfrm>
            <a:off x="9195664" y="4297680"/>
            <a:ext cx="1975104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B923C"/>
                </a:solidFill>
              </a:rPr>
              <a:t>Bash Classifier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9195664" y="4548591"/>
            <a:ext cx="1975104" cy="263347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8A9BB5"/>
                </a:solidFill>
              </a:rPr>
              <a:t>自动风险分类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6095848" y="4864608"/>
            <a:ext cx="914" cy="219456"/>
          </a:xfrm>
          <a:prstGeom prst="line">
            <a:avLst/>
          </a:prstGeom>
          <a:noFill/>
          <a:ln w="12700">
            <a:solidFill>
              <a:srgbClr val="FB923C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92328" y="5084064"/>
            <a:ext cx="1261872" cy="658368"/>
          </a:xfrm>
          <a:prstGeom prst="roundRect">
            <a:avLst>
              <a:gd name="adj" fmla="val 8333"/>
            </a:avLst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838048" y="5182819"/>
            <a:ext cx="1170432" cy="4608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9111F"/>
                </a:solidFill>
              </a:rPr>
              <a:t>扩展能力</a:t>
            </a:r>
            <a:endParaRPr lang="en-US" sz="1150" dirty="0"/>
          </a:p>
        </p:txBody>
      </p:sp>
      <p:sp>
        <p:nvSpPr>
          <p:cNvPr id="73" name="Shape 71"/>
          <p:cNvSpPr/>
          <p:nvPr/>
        </p:nvSpPr>
        <p:spPr>
          <a:xfrm>
            <a:off x="2209648" y="5084064"/>
            <a:ext cx="2121408" cy="658368"/>
          </a:xfrm>
          <a:prstGeom prst="roundRect">
            <a:avLst>
              <a:gd name="adj" fmla="val 11111"/>
            </a:avLst>
          </a:prstGeom>
          <a:solidFill>
            <a:srgbClr val="162035"/>
          </a:solidFill>
          <a:ln w="12700">
            <a:solidFill>
              <a:srgbClr val="A78BFA"/>
            </a:solidFill>
            <a:prstDash val="solid"/>
          </a:ln>
          <a:effectLst>
            <a:outerShdw sx="100000" sy="100000" kx="0" ky="0" algn="bl" rotWithShape="0" blurRad="19050" dist="3810" dir="2700000">
              <a:srgbClr val="000000">
                <a:alpha val="8000"/>
              </a:srgbClr>
            </a:outerShdw>
          </a:effectLst>
        </p:spPr>
      </p:sp>
      <p:sp>
        <p:nvSpPr>
          <p:cNvPr id="74" name="Text 72"/>
          <p:cNvSpPr/>
          <p:nvPr/>
        </p:nvSpPr>
        <p:spPr>
          <a:xfrm>
            <a:off x="2282800" y="5175504"/>
            <a:ext cx="1975104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78BFA"/>
                </a:solidFill>
              </a:rPr>
              <a:t>AgentTool</a:t>
            </a:r>
            <a:endParaRPr lang="en-US" sz="1100" dirty="0"/>
          </a:p>
        </p:txBody>
      </p:sp>
      <p:sp>
        <p:nvSpPr>
          <p:cNvPr id="75" name="Text 73"/>
          <p:cNvSpPr/>
          <p:nvPr/>
        </p:nvSpPr>
        <p:spPr>
          <a:xfrm>
            <a:off x="2282800" y="5426415"/>
            <a:ext cx="1975104" cy="263347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8A9BB5"/>
                </a:solidFill>
              </a:rPr>
              <a:t>子代理 → query()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4513936" y="5084064"/>
            <a:ext cx="2121408" cy="658368"/>
          </a:xfrm>
          <a:prstGeom prst="roundRect">
            <a:avLst>
              <a:gd name="adj" fmla="val 11111"/>
            </a:avLst>
          </a:prstGeom>
          <a:solidFill>
            <a:srgbClr val="162035"/>
          </a:solidFill>
          <a:ln w="12700">
            <a:solidFill>
              <a:srgbClr val="A78BFA"/>
            </a:solidFill>
            <a:prstDash val="solid"/>
          </a:ln>
          <a:effectLst>
            <a:outerShdw sx="100000" sy="100000" kx="0" ky="0" algn="bl" rotWithShape="0" blurRad="19050" dist="3810" dir="2700000">
              <a:srgbClr val="000000">
                <a:alpha val="8000"/>
              </a:srgbClr>
            </a:outerShdw>
          </a:effectLst>
        </p:spPr>
      </p:sp>
      <p:sp>
        <p:nvSpPr>
          <p:cNvPr id="77" name="Text 75"/>
          <p:cNvSpPr/>
          <p:nvPr/>
        </p:nvSpPr>
        <p:spPr>
          <a:xfrm>
            <a:off x="4587088" y="5175504"/>
            <a:ext cx="1975104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78BFA"/>
                </a:solidFill>
              </a:rPr>
              <a:t>MCP Client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4587088" y="5426415"/>
            <a:ext cx="1975104" cy="263347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8A9BB5"/>
                </a:solidFill>
              </a:rPr>
              <a:t>外部 server 能力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6818224" y="5084064"/>
            <a:ext cx="2121408" cy="658368"/>
          </a:xfrm>
          <a:prstGeom prst="roundRect">
            <a:avLst>
              <a:gd name="adj" fmla="val 11111"/>
            </a:avLst>
          </a:prstGeom>
          <a:solidFill>
            <a:srgbClr val="162035"/>
          </a:solidFill>
          <a:ln w="12700">
            <a:solidFill>
              <a:srgbClr val="A78BFA"/>
            </a:solidFill>
            <a:prstDash val="solid"/>
          </a:ln>
          <a:effectLst>
            <a:outerShdw sx="100000" sy="100000" kx="0" ky="0" algn="bl" rotWithShape="0" blurRad="19050" dist="3810" dir="2700000">
              <a:srgbClr val="000000">
                <a:alpha val="8000"/>
              </a:srgbClr>
            </a:outerShdw>
          </a:effectLst>
        </p:spPr>
      </p:sp>
      <p:sp>
        <p:nvSpPr>
          <p:cNvPr id="80" name="Text 78"/>
          <p:cNvSpPr/>
          <p:nvPr/>
        </p:nvSpPr>
        <p:spPr>
          <a:xfrm>
            <a:off x="6891376" y="5175504"/>
            <a:ext cx="1975104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78BFA"/>
                </a:solidFill>
              </a:rPr>
              <a:t>Skills + Plugins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6891376" y="5426415"/>
            <a:ext cx="1975104" cy="263347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8A9BB5"/>
                </a:solidFill>
              </a:rPr>
              <a:t>工作流封装</a:t>
            </a:r>
            <a:endParaRPr lang="en-US" sz="850" dirty="0"/>
          </a:p>
        </p:txBody>
      </p:sp>
      <p:sp>
        <p:nvSpPr>
          <p:cNvPr id="82" name="Shape 80"/>
          <p:cNvSpPr/>
          <p:nvPr/>
        </p:nvSpPr>
        <p:spPr>
          <a:xfrm>
            <a:off x="9122512" y="5084064"/>
            <a:ext cx="2121408" cy="658368"/>
          </a:xfrm>
          <a:prstGeom prst="roundRect">
            <a:avLst>
              <a:gd name="adj" fmla="val 11111"/>
            </a:avLst>
          </a:prstGeom>
          <a:solidFill>
            <a:srgbClr val="162035"/>
          </a:solidFill>
          <a:ln w="12700">
            <a:solidFill>
              <a:srgbClr val="A78BFA"/>
            </a:solidFill>
            <a:prstDash val="solid"/>
          </a:ln>
          <a:effectLst>
            <a:outerShdw sx="100000" sy="100000" kx="0" ky="0" algn="bl" rotWithShape="0" blurRad="19050" dist="3810" dir="2700000">
              <a:srgbClr val="000000">
                <a:alpha val="8000"/>
              </a:srgbClr>
            </a:outerShdw>
          </a:effectLst>
        </p:spPr>
      </p:sp>
      <p:sp>
        <p:nvSpPr>
          <p:cNvPr id="83" name="Text 81"/>
          <p:cNvSpPr/>
          <p:nvPr/>
        </p:nvSpPr>
        <p:spPr>
          <a:xfrm>
            <a:off x="9195664" y="5175504"/>
            <a:ext cx="1975104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78BFA"/>
                </a:solidFill>
              </a:rPr>
              <a:t>101 Commands</a:t>
            </a:r>
            <a:endParaRPr lang="en-US" sz="1100" dirty="0"/>
          </a:p>
        </p:txBody>
      </p:sp>
      <p:sp>
        <p:nvSpPr>
          <p:cNvPr id="84" name="Text 82"/>
          <p:cNvSpPr/>
          <p:nvPr/>
        </p:nvSpPr>
        <p:spPr>
          <a:xfrm>
            <a:off x="9195664" y="5426415"/>
            <a:ext cx="1975104" cy="263347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8A9BB5"/>
                </a:solidFill>
              </a:rPr>
              <a:t>用户显式入口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9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943600" cy="6858000"/>
          </a:xfrm>
          <a:prstGeom prst="rect">
            <a:avLst/>
          </a:prstGeom>
          <a:solidFill>
            <a:srgbClr val="0D1829"/>
          </a:solidFill>
          <a:ln w="12700">
            <a:solidFill>
              <a:srgbClr val="0D182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0" y="0"/>
            <a:ext cx="6248095" cy="68580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0" y="0"/>
            <a:ext cx="6248095" cy="13716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0" y="960120"/>
            <a:ext cx="6248095" cy="13716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0" y="1920240"/>
            <a:ext cx="6248095" cy="13716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0" y="2880360"/>
            <a:ext cx="6248095" cy="13716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0" y="3840480"/>
            <a:ext cx="6248095" cy="13716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0" y="4800600"/>
            <a:ext cx="6248095" cy="13716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943600" y="5760720"/>
            <a:ext cx="6248095" cy="13716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43600" y="6720840"/>
            <a:ext cx="6248095" cy="13716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109728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F5A623"/>
                </a:solidFill>
              </a:rPr>
              <a:t>SECTION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914400" y="14173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E8EDF5"/>
                </a:solidFill>
              </a:rPr>
              <a:t>Query Loop</a:t>
            </a:r>
            <a:endParaRPr lang="en-US" sz="2700" dirty="0"/>
          </a:p>
          <a:p>
            <a:pPr indent="0" marL="0">
              <a:buNone/>
            </a:pPr>
            <a:r>
              <a:rPr lang="en-US" sz="2700" b="1" dirty="0">
                <a:solidFill>
                  <a:srgbClr val="E8EDF5"/>
                </a:solidFill>
              </a:rPr>
              <a:t>执行内核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914400" y="3108960"/>
            <a:ext cx="4206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9BB5"/>
                </a:solidFill>
              </a:rPr>
              <a:t>从用户按下回车，到 agent 递归执行，系统究竟怎么串起来的？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766560" y="164592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FFFFF">
                    <a:alpha val="80000"/>
                  </a:srgbClr>
                </a:solidFill>
              </a:rPr>
              <a:t>02</a:t>
            </a:r>
            <a:endParaRPr lang="en-US" sz="8000" dirty="0"/>
          </a:p>
        </p:txBody>
      </p:sp>
      <p:sp>
        <p:nvSpPr>
          <p:cNvPr id="16" name="Text 14"/>
          <p:cNvSpPr/>
          <p:nvPr/>
        </p:nvSpPr>
        <p:spPr>
          <a:xfrm>
            <a:off x="6583680" y="3200400"/>
            <a:ext cx="5029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>
                    <a:alpha val="85000"/>
                  </a:srgbClr>
                </a:solidFill>
              </a:rPr>
              <a:t>这里才是系统真正的大脑，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>
                    <a:alpha val="85000"/>
                  </a:srgbClr>
                </a:solidFill>
              </a:rPr>
              <a:t>而不是 UI 或 CLI 入口。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94360" y="6254496"/>
            <a:ext cx="11002975" cy="13716"/>
          </a:xfrm>
          <a:prstGeom prst="rect">
            <a:avLst/>
          </a:prstGeom>
          <a:solidFill>
            <a:srgbClr val="2A3F5F"/>
          </a:solidFill>
          <a:ln w="12700">
            <a:solidFill>
              <a:srgbClr val="2A3F5F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6309360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8A9BB5"/>
                </a:solidFill>
              </a:rPr>
              <a:t>Claude Code Sourcemap 源码解读 · 仅供研究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11228832" y="6364224"/>
            <a:ext cx="73152" cy="7315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698480" y="6291072"/>
            <a:ext cx="502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B0BDD0"/>
                </a:solidFill>
              </a:rPr>
              <a:t>08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9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" y="274320"/>
            <a:ext cx="1531620" cy="201168"/>
          </a:xfrm>
          <a:prstGeom prst="roundRect">
            <a:avLst>
              <a:gd name="adj" fmla="val 18182"/>
            </a:avLst>
          </a:prstGeom>
          <a:solidFill>
            <a:srgbClr val="1E2E4A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288036"/>
            <a:ext cx="3200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A623"/>
                </a:solidFill>
              </a:rPr>
              <a:t>Query Loop · 01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58368" y="54864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8EDF5"/>
                </a:solidFill>
              </a:rPr>
              <a:t>QueryEngine 与 query.ts：会话生命周期 vs 单轮状态机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58368" y="1115568"/>
            <a:ext cx="10515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B5"/>
                </a:solidFill>
              </a:rPr>
              <a:t>这是理解整套系统最关键的一对概念。两者职责完全不同，却又紧密配合。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94360" y="6254496"/>
            <a:ext cx="11002975" cy="13716"/>
          </a:xfrm>
          <a:prstGeom prst="rect">
            <a:avLst/>
          </a:prstGeom>
          <a:solidFill>
            <a:srgbClr val="2A3F5F"/>
          </a:solidFill>
          <a:ln w="12700">
            <a:solidFill>
              <a:srgbClr val="2A3F5F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6309360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8A9BB5"/>
                </a:solidFill>
              </a:rPr>
              <a:t>Claude Code Sourcemap 源码解读 · 仅供研究</a:t>
            </a:r>
            <a:endParaRPr lang="en-US" sz="780" dirty="0"/>
          </a:p>
        </p:txBody>
      </p:sp>
      <p:sp>
        <p:nvSpPr>
          <p:cNvPr id="9" name="Shape 7"/>
          <p:cNvSpPr/>
          <p:nvPr/>
        </p:nvSpPr>
        <p:spPr>
          <a:xfrm>
            <a:off x="11228832" y="6364224"/>
            <a:ext cx="73152" cy="7315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98480" y="6291072"/>
            <a:ext cx="502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B0BDD0"/>
                </a:solidFill>
              </a:rPr>
              <a:t>09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621792" y="1536192"/>
            <a:ext cx="5376672" cy="4206240"/>
          </a:xfrm>
          <a:prstGeom prst="roundRect">
            <a:avLst>
              <a:gd name="adj" fmla="val 1522"/>
            </a:avLst>
          </a:prstGeom>
          <a:solidFill>
            <a:srgbClr val="162035"/>
          </a:solidFill>
          <a:ln w="12700">
            <a:solidFill>
              <a:srgbClr val="2A3F5F"/>
            </a:solidFill>
            <a:prstDash val="solid"/>
          </a:ln>
          <a:effectLst>
            <a:outerShdw sx="100000" sy="100000" kx="0" ky="0" algn="bl" rotWithShape="0" blurRad="19050" dist="4445" dir="27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04672" y="1664208"/>
            <a:ext cx="50109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A623"/>
                </a:solidFill>
              </a:rPr>
              <a:t>QueryEngine（会话对象）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04672" y="1956816"/>
            <a:ext cx="5010912" cy="36941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80" dirty="0">
                <a:solidFill>
                  <a:srgbClr val="C4CDD8"/>
                </a:solidFill>
              </a:rPr>
              <a:t>• one QueryEngine per conversation（注释明确说明）</a:t>
            </a:r>
            <a:endParaRPr lang="en-US" sz="1180" dirty="0"/>
          </a:p>
          <a:p>
            <a:pPr indent="0" marL="0">
              <a:buNone/>
            </a:pPr>
            <a:r>
              <a:rPr lang="en-US" sz="1180" dirty="0">
                <a:solidFill>
                  <a:srgbClr val="C4CDD8"/>
                </a:solidFill>
              </a:rPr>
              <a:t>• 维护 mutableMessages：整个会话累积的全部消息</a:t>
            </a:r>
            <a:endParaRPr lang="en-US" sz="1180" dirty="0"/>
          </a:p>
          <a:p>
            <a:pPr indent="0" marL="0">
              <a:buNone/>
            </a:pPr>
            <a:r>
              <a:rPr lang="en-US" sz="1180" dirty="0">
                <a:solidFill>
                  <a:srgbClr val="C4CDD8"/>
                </a:solidFill>
              </a:rPr>
              <a:t>• 管理 abortController：支持终止单轮或整个会话</a:t>
            </a:r>
            <a:endParaRPr lang="en-US" sz="1180" dirty="0"/>
          </a:p>
          <a:p>
            <a:pPr indent="0" marL="0">
              <a:buNone/>
            </a:pPr>
            <a:r>
              <a:rPr lang="en-US" sz="1180" dirty="0">
                <a:solidFill>
                  <a:srgbClr val="C4CDD8"/>
                </a:solidFill>
              </a:rPr>
              <a:t>• 记录 permissionDenials / totalUsage / readFileState</a:t>
            </a:r>
            <a:endParaRPr lang="en-US" sz="1180" dirty="0"/>
          </a:p>
          <a:p>
            <a:pPr indent="0" marL="0">
              <a:buNone/>
            </a:pPr>
            <a:r>
              <a:rPr lang="en-US" sz="1180" dirty="0">
                <a:solidFill>
                  <a:srgbClr val="C4CDD8"/>
                </a:solidFill>
              </a:rPr>
              <a:t>• 封装 SDK/headless 接口，对外提供稳定 API</a:t>
            </a:r>
            <a:endParaRPr lang="en-US" sz="1180" dirty="0"/>
          </a:p>
          <a:p>
            <a:pPr indent="0" marL="0">
              <a:buNone/>
            </a:pPr>
            <a:r>
              <a:rPr lang="en-US" sz="1180" dirty="0">
                <a:solidFill>
                  <a:srgbClr val="C4CDD8"/>
                </a:solidFill>
              </a:rPr>
              <a:t>• 处理 orphaned permission / skill discovery / session persist</a:t>
            </a:r>
            <a:endParaRPr lang="en-US" sz="1180" dirty="0"/>
          </a:p>
          <a:p>
            <a:pPr indent="0" marL="0">
              <a:buNone/>
            </a:pPr>
            <a:r>
              <a:rPr lang="en-US" sz="1180" dirty="0">
                <a:solidFill>
                  <a:srgbClr val="C4CDD8"/>
                </a:solidFill>
              </a:rPr>
              <a:t>• submitMessage() 启动新一轮 turn，把实际递归交给 query()</a:t>
            </a:r>
            <a:endParaRPr lang="en-US" sz="1180" dirty="0"/>
          </a:p>
        </p:txBody>
      </p:sp>
      <p:sp>
        <p:nvSpPr>
          <p:cNvPr id="14" name="Shape 12"/>
          <p:cNvSpPr/>
          <p:nvPr/>
        </p:nvSpPr>
        <p:spPr>
          <a:xfrm>
            <a:off x="6153912" y="1536192"/>
            <a:ext cx="5376672" cy="4206240"/>
          </a:xfrm>
          <a:prstGeom prst="roundRect">
            <a:avLst>
              <a:gd name="adj" fmla="val 1522"/>
            </a:avLst>
          </a:prstGeom>
          <a:solidFill>
            <a:srgbClr val="1A2640"/>
          </a:solidFill>
          <a:ln w="12700">
            <a:solidFill>
              <a:srgbClr val="2A3F5F"/>
            </a:solidFill>
            <a:prstDash val="solid"/>
          </a:ln>
          <a:effectLst>
            <a:outerShdw sx="100000" sy="100000" kx="0" ky="0" algn="bl" rotWithShape="0" blurRad="19050" dist="4445" dir="27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336792" y="1664208"/>
            <a:ext cx="50109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B8EF5"/>
                </a:solidFill>
              </a:rPr>
              <a:t>query.ts（单轮状态机）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336792" y="1956816"/>
            <a:ext cx="5010912" cy="36941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80" dirty="0">
                <a:solidFill>
                  <a:srgbClr val="C4CDD8"/>
                </a:solidFill>
              </a:rPr>
              <a:t>• buildQueryConfig()：将当次 turn 所需配置快照下来</a:t>
            </a:r>
            <a:endParaRPr lang="en-US" sz="1180" dirty="0"/>
          </a:p>
          <a:p>
            <a:pPr indent="0" marL="0">
              <a:buNone/>
            </a:pPr>
            <a:r>
              <a:rPr lang="en-US" sz="1180" dirty="0">
                <a:solidFill>
                  <a:srgbClr val="C4CDD8"/>
                </a:solidFill>
              </a:rPr>
              <a:t>• 调用模型 API，流式消费 stream_event</a:t>
            </a:r>
            <a:endParaRPr lang="en-US" sz="1180" dirty="0"/>
          </a:p>
          <a:p>
            <a:pPr indent="0" marL="0">
              <a:buNone/>
            </a:pPr>
            <a:r>
              <a:rPr lang="en-US" sz="1180" dirty="0">
                <a:solidFill>
                  <a:srgbClr val="C4CDD8"/>
                </a:solidFill>
              </a:rPr>
              <a:t>• 并行维护三个集合：assistantMessages / toolResults / toolUseBlocks</a:t>
            </a:r>
            <a:endParaRPr lang="en-US" sz="1180" dirty="0"/>
          </a:p>
          <a:p>
            <a:pPr indent="0" marL="0">
              <a:buNone/>
            </a:pPr>
            <a:r>
              <a:rPr lang="en-US" sz="1180" dirty="0">
                <a:solidFill>
                  <a:srgbClr val="C4CDD8"/>
                </a:solidFill>
              </a:rPr>
              <a:t>• 检测到 tool_use → 不结束，而是切入执行阶段</a:t>
            </a:r>
            <a:endParaRPr lang="en-US" sz="1180" dirty="0"/>
          </a:p>
          <a:p>
            <a:pPr indent="0" marL="0">
              <a:buNone/>
            </a:pPr>
            <a:r>
              <a:rPr lang="en-US" sz="1180" dirty="0">
                <a:solidFill>
                  <a:srgbClr val="C4CDD8"/>
                </a:solidFill>
              </a:rPr>
              <a:t>• runTools() / StreamingToolExecutor 执行所有工具</a:t>
            </a:r>
            <a:endParaRPr lang="en-US" sz="1180" dirty="0"/>
          </a:p>
          <a:p>
            <a:pPr indent="0" marL="0">
              <a:buNone/>
            </a:pPr>
            <a:r>
              <a:rPr lang="en-US" sz="1180" dirty="0">
                <a:solidFill>
                  <a:srgbClr val="C4CDD8"/>
                </a:solidFill>
              </a:rPr>
              <a:t>• tool results 回注为新的 user messages → 进入下一轮</a:t>
            </a:r>
            <a:endParaRPr lang="en-US" sz="1180" dirty="0"/>
          </a:p>
          <a:p>
            <a:pPr indent="0" marL="0">
              <a:buNone/>
            </a:pPr>
            <a:r>
              <a:rPr lang="en-US" sz="1180" dirty="0">
                <a:solidFill>
                  <a:srgbClr val="C4CDD8"/>
                </a:solidFill>
              </a:rPr>
              <a:t>• needsFollowUp / maxTurns / compact 共同控制边界</a:t>
            </a:r>
            <a:endParaRPr lang="en-US" sz="11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9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" y="274320"/>
            <a:ext cx="1531620" cy="201168"/>
          </a:xfrm>
          <a:prstGeom prst="roundRect">
            <a:avLst>
              <a:gd name="adj" fmla="val 18182"/>
            </a:avLst>
          </a:prstGeom>
          <a:solidFill>
            <a:srgbClr val="1E2E4A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288036"/>
            <a:ext cx="3200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A623"/>
                </a:solidFill>
              </a:rPr>
              <a:t>Query Loop · 02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58368" y="54864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8EDF5"/>
                </a:solidFill>
              </a:rPr>
              <a:t>一次 Turn 的完整执行时序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58368" y="1115568"/>
            <a:ext cx="10515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B5"/>
                </a:solidFill>
              </a:rPr>
              <a:t>从 submitMessage() 到「继续还是停止」——每一步都在 query.ts 中有对应代码。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94360" y="6254496"/>
            <a:ext cx="11002975" cy="13716"/>
          </a:xfrm>
          <a:prstGeom prst="rect">
            <a:avLst/>
          </a:prstGeom>
          <a:solidFill>
            <a:srgbClr val="2A3F5F"/>
          </a:solidFill>
          <a:ln w="12700">
            <a:solidFill>
              <a:srgbClr val="2A3F5F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6309360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8A9BB5"/>
                </a:solidFill>
              </a:rPr>
              <a:t>Claude Code Sourcemap 源码解读 · 仅供研究</a:t>
            </a:r>
            <a:endParaRPr lang="en-US" sz="780" dirty="0"/>
          </a:p>
        </p:txBody>
      </p:sp>
      <p:sp>
        <p:nvSpPr>
          <p:cNvPr id="9" name="Shape 7"/>
          <p:cNvSpPr/>
          <p:nvPr/>
        </p:nvSpPr>
        <p:spPr>
          <a:xfrm>
            <a:off x="11228832" y="6364224"/>
            <a:ext cx="73152" cy="7315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98480" y="6291072"/>
            <a:ext cx="502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B0BDD0"/>
                </a:solidFill>
              </a:rPr>
              <a:t>10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-48920" y="1627632"/>
            <a:ext cx="1536192" cy="960120"/>
          </a:xfrm>
          <a:prstGeom prst="roundRect">
            <a:avLst>
              <a:gd name="adj" fmla="val 6667"/>
            </a:avLst>
          </a:prstGeom>
          <a:solidFill>
            <a:srgbClr val="162035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-48920" y="1627632"/>
            <a:ext cx="1536192" cy="10972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4" y="1792224"/>
            <a:ext cx="1426464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A623"/>
                </a:solidFill>
              </a:rPr>
              <a:t>submitMessage()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944" y="2103120"/>
            <a:ext cx="142646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8A9BB5"/>
                </a:solidFill>
              </a:rPr>
              <a:t>QueryEngine</a:t>
            </a:r>
            <a:endParaRPr lang="en-US" sz="8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8A9BB5"/>
                </a:solidFill>
              </a:rPr>
              <a:t>会话层入口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1496416" y="2020824"/>
            <a:ext cx="256032" cy="182880"/>
          </a:xfrm>
          <a:prstGeom prst="chevron">
            <a:avLst/>
          </a:prstGeom>
          <a:solidFill>
            <a:srgbClr val="F5A623"/>
          </a:solidFill>
          <a:ln w="12700">
            <a:solidFill>
              <a:srgbClr val="F5A623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43304" y="1627632"/>
            <a:ext cx="1536192" cy="960120"/>
          </a:xfrm>
          <a:prstGeom prst="roundRect">
            <a:avLst>
              <a:gd name="adj" fmla="val 6667"/>
            </a:avLst>
          </a:prstGeom>
          <a:solidFill>
            <a:srgbClr val="162035"/>
          </a:solidFill>
          <a:ln w="12700">
            <a:solidFill>
              <a:srgbClr val="4B8EF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743304" y="1627632"/>
            <a:ext cx="1536192" cy="109728"/>
          </a:xfrm>
          <a:prstGeom prst="rect">
            <a:avLst/>
          </a:prstGeom>
          <a:solidFill>
            <a:srgbClr val="4B8EF5"/>
          </a:solidFill>
          <a:ln w="12700">
            <a:solidFill>
              <a:srgbClr val="4B8EF5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798168" y="1792224"/>
            <a:ext cx="1426464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8EF5"/>
                </a:solidFill>
              </a:rPr>
              <a:t>buildQueryConfig()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798168" y="2103120"/>
            <a:ext cx="142646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8A9BB5"/>
                </a:solidFill>
              </a:rPr>
              <a:t>快照运行时配置</a:t>
            </a:r>
            <a:endParaRPr lang="en-US" sz="8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8A9BB5"/>
                </a:solidFill>
              </a:rPr>
              <a:t>避免状态漂移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288640" y="2020824"/>
            <a:ext cx="256032" cy="182880"/>
          </a:xfrm>
          <a:prstGeom prst="chevron">
            <a:avLst/>
          </a:prstGeom>
          <a:solidFill>
            <a:srgbClr val="4B8EF5"/>
          </a:solidFill>
          <a:ln w="12700">
            <a:solidFill>
              <a:srgbClr val="4B8EF5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35528" y="1627632"/>
            <a:ext cx="1536192" cy="960120"/>
          </a:xfrm>
          <a:prstGeom prst="roundRect">
            <a:avLst>
              <a:gd name="adj" fmla="val 6667"/>
            </a:avLst>
          </a:prstGeom>
          <a:solidFill>
            <a:srgbClr val="162035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35528" y="1627632"/>
            <a:ext cx="1536192" cy="1097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590392" y="1792224"/>
            <a:ext cx="1426464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2D3EE"/>
                </a:solidFill>
              </a:rPr>
              <a:t>Stream Model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590392" y="2103120"/>
            <a:ext cx="142646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8A9BB5"/>
                </a:solidFill>
              </a:rPr>
              <a:t>流式消费</a:t>
            </a:r>
            <a:endParaRPr lang="en-US" sz="8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8A9BB5"/>
                </a:solidFill>
              </a:rPr>
              <a:t>stream_event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080864" y="2020824"/>
            <a:ext cx="256032" cy="182880"/>
          </a:xfrm>
          <a:prstGeom prst="chevron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327752" y="1627632"/>
            <a:ext cx="1536192" cy="960120"/>
          </a:xfrm>
          <a:prstGeom prst="roundRect">
            <a:avLst>
              <a:gd name="adj" fmla="val 6667"/>
            </a:avLst>
          </a:prstGeom>
          <a:solidFill>
            <a:srgbClr val="162035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27752" y="1627632"/>
            <a:ext cx="1536192" cy="109728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82616" y="1792224"/>
            <a:ext cx="1426464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B923C"/>
                </a:solidFill>
              </a:rPr>
              <a:t>Collect tool_use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382616" y="2103120"/>
            <a:ext cx="142646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8A9BB5"/>
                </a:solidFill>
              </a:rPr>
              <a:t>显式收集</a:t>
            </a:r>
            <a:endParaRPr lang="en-US" sz="8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8A9BB5"/>
                </a:solidFill>
              </a:rPr>
              <a:t>toolUseBlocks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873088" y="2020824"/>
            <a:ext cx="256032" cy="182880"/>
          </a:xfrm>
          <a:prstGeom prst="chevron">
            <a:avLst/>
          </a:prstGeom>
          <a:solidFill>
            <a:srgbClr val="FB923C"/>
          </a:solidFill>
          <a:ln w="12700">
            <a:solidFill>
              <a:srgbClr val="FB923C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119976" y="1627632"/>
            <a:ext cx="1536192" cy="960120"/>
          </a:xfrm>
          <a:prstGeom prst="roundRect">
            <a:avLst>
              <a:gd name="adj" fmla="val 6667"/>
            </a:avLst>
          </a:prstGeom>
          <a:solidFill>
            <a:srgbClr val="162035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119976" y="1627632"/>
            <a:ext cx="1536192" cy="109728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74840" y="1792224"/>
            <a:ext cx="1426464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87171"/>
                </a:solidFill>
              </a:rPr>
              <a:t>runTools()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174840" y="2103120"/>
            <a:ext cx="142646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8A9BB5"/>
                </a:solidFill>
              </a:rPr>
              <a:t>并行 / 串行</a:t>
            </a:r>
            <a:endParaRPr lang="en-US" sz="8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8A9BB5"/>
                </a:solidFill>
              </a:rPr>
              <a:t>执行所有工具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8665312" y="2020824"/>
            <a:ext cx="256032" cy="182880"/>
          </a:xfrm>
          <a:prstGeom prst="chevron">
            <a:avLst/>
          </a:prstGeom>
          <a:solidFill>
            <a:srgbClr val="F87171"/>
          </a:solidFill>
          <a:ln w="12700">
            <a:solidFill>
              <a:srgbClr val="F87171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912200" y="1627632"/>
            <a:ext cx="1536192" cy="960120"/>
          </a:xfrm>
          <a:prstGeom prst="roundRect">
            <a:avLst>
              <a:gd name="adj" fmla="val 6667"/>
            </a:avLst>
          </a:prstGeom>
          <a:solidFill>
            <a:srgbClr val="162035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912200" y="1627632"/>
            <a:ext cx="1536192" cy="10972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>
                <a:alpha val="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967064" y="1792224"/>
            <a:ext cx="1426464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4D399"/>
                </a:solidFill>
              </a:rPr>
              <a:t>Inject Results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967064" y="2103120"/>
            <a:ext cx="142646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8A9BB5"/>
                </a:solidFill>
              </a:rPr>
              <a:t>结果回注为</a:t>
            </a:r>
            <a:endParaRPr lang="en-US" sz="8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8A9BB5"/>
                </a:solidFill>
              </a:rPr>
              <a:t>new user message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10457536" y="2020824"/>
            <a:ext cx="256032" cy="182880"/>
          </a:xfrm>
          <a:prstGeom prst="chevron">
            <a:avLst/>
          </a:prstGeom>
          <a:solidFill>
            <a:srgbClr val="34D399"/>
          </a:solidFill>
          <a:ln w="12700">
            <a:solidFill>
              <a:srgbClr val="34D399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704424" y="1627632"/>
            <a:ext cx="1536192" cy="960120"/>
          </a:xfrm>
          <a:prstGeom prst="roundRect">
            <a:avLst>
              <a:gd name="adj" fmla="val 6667"/>
            </a:avLst>
          </a:prstGeom>
          <a:solidFill>
            <a:srgbClr val="162035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0704424" y="1627632"/>
            <a:ext cx="1536192" cy="10972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0759288" y="1792224"/>
            <a:ext cx="1426464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78BFA"/>
                </a:solidFill>
              </a:rPr>
              <a:t>Continue / Stop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0759288" y="2103120"/>
            <a:ext cx="142646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8A9BB5"/>
                </a:solidFill>
              </a:rPr>
              <a:t>needsFollowUp</a:t>
            </a:r>
            <a:endParaRPr lang="en-US" sz="8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8A9BB5"/>
                </a:solidFill>
              </a:rPr>
              <a:t>maxTurns / hooks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21792" y="2907792"/>
            <a:ext cx="10954512" cy="2633472"/>
          </a:xfrm>
          <a:prstGeom prst="roundRect">
            <a:avLst>
              <a:gd name="adj" fmla="val 2431"/>
            </a:avLst>
          </a:prstGeom>
          <a:solidFill>
            <a:srgbClr val="162035"/>
          </a:solidFill>
          <a:ln w="12700">
            <a:solidFill>
              <a:srgbClr val="2A3F5F"/>
            </a:solidFill>
            <a:prstDash val="solid"/>
          </a:ln>
          <a:effectLst>
            <a:outerShdw sx="100000" sy="100000" kx="0" ky="0" algn="bl" rotWithShape="0" blurRad="19050" dist="4445" dir="2700000">
              <a:srgbClr val="000000">
                <a:alpha val="10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804672" y="3035808"/>
            <a:ext cx="105887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A623"/>
                </a:solidFill>
              </a:rPr>
              <a:t>关键设计信号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804672" y="3218688"/>
            <a:ext cx="25420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7171"/>
                </a:solidFill>
              </a:rPr>
              <a:t>stop_reason 不可靠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804672" y="3456432"/>
            <a:ext cx="2542032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C4CDD8"/>
                </a:solidFill>
              </a:rPr>
              <a:t>stop_reason=tool_use 在流式场景下有缺陷，因此 query.ts 在流式过程中显式收集 toolUseBlocks 作为判断依据</a:t>
            </a:r>
            <a:endParaRPr lang="en-US" sz="980" dirty="0"/>
          </a:p>
        </p:txBody>
      </p:sp>
      <p:sp>
        <p:nvSpPr>
          <p:cNvPr id="49" name="Shape 47"/>
          <p:cNvSpPr/>
          <p:nvPr/>
        </p:nvSpPr>
        <p:spPr>
          <a:xfrm>
            <a:off x="3364992" y="3218688"/>
            <a:ext cx="13716" cy="2194560"/>
          </a:xfrm>
          <a:prstGeom prst="rect">
            <a:avLst/>
          </a:prstGeom>
          <a:solidFill>
            <a:srgbClr val="2A3F5F"/>
          </a:solidFill>
          <a:ln w="12700">
            <a:solidFill>
              <a:srgbClr val="2A3F5F">
                <a:alpha val="0"/>
              </a:srgbClr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529584" y="3218688"/>
            <a:ext cx="25420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A623"/>
                </a:solidFill>
              </a:rPr>
              <a:t>工具结果不是副作用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3529584" y="3456432"/>
            <a:ext cx="2542032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C4CDD8"/>
                </a:solidFill>
              </a:rPr>
              <a:t>tool results 被编码成新的 user/attachment messages 回注对话，成为下一轮推理的输入——这是 agent loop 的核心机制</a:t>
            </a:r>
            <a:endParaRPr lang="en-US" sz="980" dirty="0"/>
          </a:p>
        </p:txBody>
      </p:sp>
      <p:sp>
        <p:nvSpPr>
          <p:cNvPr id="52" name="Shape 50"/>
          <p:cNvSpPr/>
          <p:nvPr/>
        </p:nvSpPr>
        <p:spPr>
          <a:xfrm>
            <a:off x="6089904" y="3218688"/>
            <a:ext cx="13716" cy="2194560"/>
          </a:xfrm>
          <a:prstGeom prst="rect">
            <a:avLst/>
          </a:prstGeom>
          <a:solidFill>
            <a:srgbClr val="2A3F5F"/>
          </a:solidFill>
          <a:ln w="12700">
            <a:solidFill>
              <a:srgbClr val="2A3F5F">
                <a:alpha val="0"/>
              </a:srgbClr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254496" y="3218688"/>
            <a:ext cx="25420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4D399"/>
                </a:solidFill>
              </a:rPr>
              <a:t>StreamingToolExecutor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6254496" y="3456432"/>
            <a:ext cx="2542032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C4CDD8"/>
                </a:solidFill>
              </a:rPr>
              <a:t>feature gate 打开时，启用 StreamingToolExecutor 允许工具在模型仍在输出时并行开始执行，降低端到端延迟</a:t>
            </a:r>
            <a:endParaRPr lang="en-US" sz="980" dirty="0"/>
          </a:p>
        </p:txBody>
      </p:sp>
      <p:sp>
        <p:nvSpPr>
          <p:cNvPr id="55" name="Shape 53"/>
          <p:cNvSpPr/>
          <p:nvPr/>
        </p:nvSpPr>
        <p:spPr>
          <a:xfrm>
            <a:off x="8814816" y="3218688"/>
            <a:ext cx="13716" cy="2194560"/>
          </a:xfrm>
          <a:prstGeom prst="rect">
            <a:avLst/>
          </a:prstGeom>
          <a:solidFill>
            <a:srgbClr val="2A3F5F"/>
          </a:solidFill>
          <a:ln w="12700">
            <a:solidFill>
              <a:srgbClr val="2A3F5F">
                <a:alpha val="0"/>
              </a:srgbClr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979408" y="3218688"/>
            <a:ext cx="25420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78BFA"/>
                </a:solidFill>
              </a:rPr>
              <a:t>Budget &amp; Compact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8979408" y="3456432"/>
            <a:ext cx="2542032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C4CDD8"/>
                </a:solidFill>
              </a:rPr>
              <a:t>taskBudget / compactWarning / microCompact 共同保证长时任务不会因 context 膨胀而崩溃</a:t>
            </a:r>
            <a:endParaRPr lang="en-US" sz="9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9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" y="274320"/>
            <a:ext cx="1531620" cy="201168"/>
          </a:xfrm>
          <a:prstGeom prst="roundRect">
            <a:avLst>
              <a:gd name="adj" fmla="val 18182"/>
            </a:avLst>
          </a:prstGeom>
          <a:solidFill>
            <a:srgbClr val="1E2E4A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288036"/>
            <a:ext cx="3200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A623"/>
                </a:solidFill>
              </a:rPr>
              <a:t>Query Loop · 03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58368" y="54864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8EDF5"/>
                </a:solidFill>
              </a:rPr>
              <a:t>长任务稳定性：Fallback 恢复、Context 压缩与预算管理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58368" y="1115568"/>
            <a:ext cx="10515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B5"/>
                </a:solidFill>
              </a:rPr>
              <a:t>这部分代码量不小，但它们是 Claude Code 能真正跑完大型任务的基础设施。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94360" y="6254496"/>
            <a:ext cx="11002975" cy="13716"/>
          </a:xfrm>
          <a:prstGeom prst="rect">
            <a:avLst/>
          </a:prstGeom>
          <a:solidFill>
            <a:srgbClr val="2A3F5F"/>
          </a:solidFill>
          <a:ln w="12700">
            <a:solidFill>
              <a:srgbClr val="2A3F5F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6309360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8A9BB5"/>
                </a:solidFill>
              </a:rPr>
              <a:t>Claude Code Sourcemap 源码解读 · 仅供研究</a:t>
            </a:r>
            <a:endParaRPr lang="en-US" sz="780" dirty="0"/>
          </a:p>
        </p:txBody>
      </p:sp>
      <p:sp>
        <p:nvSpPr>
          <p:cNvPr id="9" name="Shape 7"/>
          <p:cNvSpPr/>
          <p:nvPr/>
        </p:nvSpPr>
        <p:spPr>
          <a:xfrm>
            <a:off x="11228832" y="6364224"/>
            <a:ext cx="73152" cy="7315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98480" y="6291072"/>
            <a:ext cx="502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B0BDD0"/>
                </a:solidFill>
              </a:rPr>
              <a:t>11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621792" y="1536192"/>
            <a:ext cx="3493008" cy="4206240"/>
          </a:xfrm>
          <a:prstGeom prst="roundRect">
            <a:avLst>
              <a:gd name="adj" fmla="val 1832"/>
            </a:avLst>
          </a:prstGeom>
          <a:solidFill>
            <a:srgbClr val="162035"/>
          </a:solidFill>
          <a:ln w="12700">
            <a:solidFill>
              <a:srgbClr val="2A3F5F"/>
            </a:solidFill>
            <a:prstDash val="solid"/>
          </a:ln>
          <a:effectLst>
            <a:outerShdw sx="100000" sy="100000" kx="0" ky="0" algn="bl" rotWithShape="0" blurRad="19050" dist="4445" dir="27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04672" y="1664208"/>
            <a:ext cx="312724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87171"/>
                </a:solidFill>
              </a:rPr>
              <a:t>流式 Fallback 恢复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04672" y="1956816"/>
            <a:ext cx="3127248" cy="36941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C4CDD8"/>
                </a:solidFill>
              </a:rPr>
              <a:t>• prompt-too-long / media-size /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4CDD8"/>
                </a:solidFill>
              </a:rPr>
              <a:t>max-output-tokens 错误会先被 withheld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4CDD8"/>
                </a:solidFill>
              </a:rPr>
              <a:t>• recovery 逻辑判断是否能自救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4CDD8"/>
                </a:solidFill>
              </a:rPr>
              <a:t>• 如需 fallback：给旧 assistant message 发 tombstone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4CDD8"/>
                </a:solidFill>
              </a:rPr>
              <a:t>• 清空旧的 toolUse / toolResult 暂存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4CDD8"/>
                </a:solidFill>
              </a:rPr>
              <a:t>• 重建 StreamingToolExecutor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4CDD8"/>
                </a:solidFill>
              </a:rPr>
              <a:t>（避免旧 tool_use_id 泄漏进 retry）</a:t>
            </a:r>
            <a:endParaRPr lang="en-US" sz="1080" dirty="0"/>
          </a:p>
        </p:txBody>
      </p:sp>
      <p:sp>
        <p:nvSpPr>
          <p:cNvPr id="14" name="Shape 12"/>
          <p:cNvSpPr/>
          <p:nvPr/>
        </p:nvSpPr>
        <p:spPr>
          <a:xfrm>
            <a:off x="4261104" y="1536192"/>
            <a:ext cx="3493008" cy="4206240"/>
          </a:xfrm>
          <a:prstGeom prst="roundRect">
            <a:avLst>
              <a:gd name="adj" fmla="val 1832"/>
            </a:avLst>
          </a:prstGeom>
          <a:solidFill>
            <a:srgbClr val="1A2640"/>
          </a:solidFill>
          <a:ln w="12700">
            <a:solidFill>
              <a:srgbClr val="2A3F5F"/>
            </a:solidFill>
            <a:prstDash val="solid"/>
          </a:ln>
          <a:effectLst>
            <a:outerShdw sx="100000" sy="100000" kx="0" ky="0" algn="bl" rotWithShape="0" blurRad="19050" dist="4445" dir="27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443984" y="1664208"/>
            <a:ext cx="312724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78BFA"/>
                </a:solidFill>
              </a:rPr>
              <a:t>Context 压缩策略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443984" y="1956816"/>
            <a:ext cx="3127248" cy="36941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C4CDD8"/>
                </a:solidFill>
              </a:rPr>
              <a:t>• autoCompact：自动触发上下文压缩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4CDD8"/>
                </a:solidFill>
              </a:rPr>
              <a:t>• microCompact：轻量级压缩，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4CDD8"/>
                </a:solidFill>
              </a:rPr>
              <a:t>保留最近 turns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4CDD8"/>
                </a:solidFill>
              </a:rPr>
              <a:t>• compact：完整会话摘要替换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4CDD8"/>
                </a:solidFill>
              </a:rPr>
              <a:t>• sessionMemoryCompact：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4CDD8"/>
                </a:solidFill>
              </a:rPr>
              <a:t>跨会话记忆压缩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4CDD8"/>
                </a:solidFill>
              </a:rPr>
              <a:t>• compactWarning：提前预警，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4CDD8"/>
                </a:solidFill>
              </a:rPr>
              <a:t>给用户调整机会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7900416" y="1536192"/>
            <a:ext cx="3493008" cy="4206240"/>
          </a:xfrm>
          <a:prstGeom prst="roundRect">
            <a:avLst>
              <a:gd name="adj" fmla="val 1832"/>
            </a:avLst>
          </a:prstGeom>
          <a:solidFill>
            <a:srgbClr val="162035"/>
          </a:solidFill>
          <a:ln w="12700">
            <a:solidFill>
              <a:srgbClr val="2A3F5F"/>
            </a:solidFill>
            <a:prstDash val="solid"/>
          </a:ln>
          <a:effectLst>
            <a:outerShdw sx="100000" sy="100000" kx="0" ky="0" algn="bl" rotWithShape="0" blurRad="19050" dist="4445" dir="27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083296" y="1664208"/>
            <a:ext cx="312724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4D399"/>
                </a:solidFill>
              </a:rPr>
              <a:t>预算与续跑控制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083296" y="1956816"/>
            <a:ext cx="3127248" cy="36941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C4CDD8"/>
                </a:solidFill>
              </a:rPr>
              <a:t>• taskBudget：整个 agentic turn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4CDD8"/>
                </a:solidFill>
              </a:rPr>
              <a:t>的 API 调用预算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4CDD8"/>
                </a:solidFill>
              </a:rPr>
              <a:t>• 动态计算 token budget /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4CDD8"/>
                </a:solidFill>
              </a:rPr>
              <a:t>output tokens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4CDD8"/>
                </a:solidFill>
              </a:rPr>
              <a:t>• continuation 计数防止无限递归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4CDD8"/>
                </a:solidFill>
              </a:rPr>
              <a:t>• fallback model 切换（降级到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4CDD8"/>
                </a:solidFill>
              </a:rPr>
              <a:t>更便宜的模型）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4CDD8"/>
                </a:solidFill>
              </a:rPr>
              <a:t>• maxTurns 硬限制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4CDD8"/>
                </a:solidFill>
              </a:rPr>
              <a:t>作为最后防线</a:t>
            </a:r>
            <a:endParaRPr lang="en-US" sz="10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9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" y="274320"/>
            <a:ext cx="1065276" cy="201168"/>
          </a:xfrm>
          <a:prstGeom prst="roundRect">
            <a:avLst>
              <a:gd name="adj" fmla="val 18182"/>
            </a:avLst>
          </a:prstGeom>
          <a:solidFill>
            <a:srgbClr val="1E2E4A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288036"/>
            <a:ext cx="3200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A623"/>
                </a:solidFill>
              </a:rPr>
              <a:t>架构图解 · 02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58368" y="54864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8EDF5"/>
                </a:solidFill>
              </a:rPr>
              <a:t>Turn 循环图——Agent Loop 的核心执行路径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58368" y="1115568"/>
            <a:ext cx="10515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B5"/>
                </a:solidFill>
              </a:rPr>
              <a:t>每轮 turn 都是完整的 Stream → Collect → Execute → Inject → Decide 循环。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94360" y="6254496"/>
            <a:ext cx="11002975" cy="13716"/>
          </a:xfrm>
          <a:prstGeom prst="rect">
            <a:avLst/>
          </a:prstGeom>
          <a:solidFill>
            <a:srgbClr val="2A3F5F"/>
          </a:solidFill>
          <a:ln w="12700">
            <a:solidFill>
              <a:srgbClr val="2A3F5F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6309360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8A9BB5"/>
                </a:solidFill>
              </a:rPr>
              <a:t>Claude Code Sourcemap 源码解读 · 仅供研究</a:t>
            </a:r>
            <a:endParaRPr lang="en-US" sz="780" dirty="0"/>
          </a:p>
        </p:txBody>
      </p:sp>
      <p:sp>
        <p:nvSpPr>
          <p:cNvPr id="9" name="Shape 7"/>
          <p:cNvSpPr/>
          <p:nvPr/>
        </p:nvSpPr>
        <p:spPr>
          <a:xfrm>
            <a:off x="11228832" y="6364224"/>
            <a:ext cx="73152" cy="7315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98480" y="6291072"/>
            <a:ext cx="502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B0BDD0"/>
                </a:solidFill>
              </a:rPr>
              <a:t>12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5364328" y="2971800"/>
            <a:ext cx="1463040" cy="1463040"/>
          </a:xfrm>
          <a:prstGeom prst="ellipse">
            <a:avLst/>
          </a:prstGeom>
          <a:solidFill>
            <a:srgbClr val="1E2E4A"/>
          </a:solidFill>
          <a:ln w="12700">
            <a:solidFill>
              <a:srgbClr val="F5A623"/>
            </a:solidFill>
            <a:prstDash val="solid"/>
          </a:ln>
          <a:effectLst>
            <a:outerShdw sx="100000" sy="100000" kx="0" ky="0" algn="bl" rotWithShape="0" blurRad="25400" dist="4445" dir="27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10048" y="3374136"/>
            <a:ext cx="1371600" cy="6583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A623"/>
                </a:solidFill>
              </a:rPr>
              <a:t>Query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5A623"/>
                </a:solidFill>
              </a:rPr>
              <a:t>Loop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272888" y="1536192"/>
            <a:ext cx="1938528" cy="777240"/>
          </a:xfrm>
          <a:prstGeom prst="roundRect">
            <a:avLst>
              <a:gd name="adj" fmla="val 9412"/>
            </a:avLst>
          </a:prstGeom>
          <a:solidFill>
            <a:srgbClr val="162035"/>
          </a:solidFill>
          <a:ln w="12700">
            <a:solidFill>
              <a:srgbClr val="22D3EE"/>
            </a:solidFill>
            <a:prstDash val="solid"/>
          </a:ln>
          <a:effectLst>
            <a:outerShdw sx="100000" sy="100000" kx="0" ky="0" algn="bl" rotWithShape="0" blurRad="19050" dist="3810" dir="270000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346040" y="1627632"/>
            <a:ext cx="1792224" cy="388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2D3EE"/>
                </a:solidFill>
              </a:rPr>
              <a:t>submitMessage()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346040" y="1940357"/>
            <a:ext cx="1792224" cy="3108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8A9BB5"/>
                </a:solidFill>
              </a:rPr>
              <a:t>QueryEngine 入口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211416" y="1924812"/>
            <a:ext cx="73152" cy="914"/>
          </a:xfrm>
          <a:prstGeom prst="line">
            <a:avLst/>
          </a:prstGeom>
          <a:noFill/>
          <a:ln w="12700">
            <a:solidFill>
              <a:srgbClr val="22D3E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84568" y="1536192"/>
            <a:ext cx="1938528" cy="777240"/>
          </a:xfrm>
          <a:prstGeom prst="roundRect">
            <a:avLst>
              <a:gd name="adj" fmla="val 9412"/>
            </a:avLst>
          </a:prstGeom>
          <a:solidFill>
            <a:srgbClr val="162035"/>
          </a:solidFill>
          <a:ln w="12700">
            <a:solidFill>
              <a:srgbClr val="4B8EF5"/>
            </a:solidFill>
            <a:prstDash val="solid"/>
          </a:ln>
          <a:effectLst>
            <a:outerShdw sx="100000" sy="100000" kx="0" ky="0" algn="bl" rotWithShape="0" blurRad="19050" dist="3810" dir="27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357720" y="1627632"/>
            <a:ext cx="1792224" cy="388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B8EF5"/>
                </a:solidFill>
              </a:rPr>
              <a:t>Stream Model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357720" y="1940357"/>
            <a:ext cx="1792224" cy="3108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8A9BB5"/>
                </a:solidFill>
              </a:rPr>
              <a:t>流式消费 API 响应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 flipH="1">
            <a:off x="9021928" y="1924812"/>
            <a:ext cx="201168" cy="1371600"/>
          </a:xfrm>
          <a:prstGeom prst="line">
            <a:avLst/>
          </a:prstGeom>
          <a:noFill/>
          <a:ln w="12700">
            <a:solidFill>
              <a:srgbClr val="4B8EF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021928" y="2907792"/>
            <a:ext cx="1938528" cy="777240"/>
          </a:xfrm>
          <a:prstGeom prst="roundRect">
            <a:avLst>
              <a:gd name="adj" fmla="val 9412"/>
            </a:avLst>
          </a:prstGeom>
          <a:solidFill>
            <a:srgbClr val="162035"/>
          </a:solidFill>
          <a:ln w="12700">
            <a:solidFill>
              <a:srgbClr val="FB923C"/>
            </a:solidFill>
            <a:prstDash val="solid"/>
          </a:ln>
          <a:effectLst>
            <a:outerShdw sx="100000" sy="100000" kx="0" ky="0" algn="bl" rotWithShape="0" blurRad="19050" dist="3810" dir="2700000">
              <a:srgbClr val="000000">
                <a:alpha val="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095080" y="2999232"/>
            <a:ext cx="1792224" cy="388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B923C"/>
                </a:solidFill>
              </a:rPr>
              <a:t>Collect tool_use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9095080" y="3311957"/>
            <a:ext cx="1792224" cy="3108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8A9BB5"/>
                </a:solidFill>
              </a:rPr>
              <a:t>显式收集 toolUseBlocks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 flipH="1">
            <a:off x="8711032" y="3685032"/>
            <a:ext cx="1280160" cy="777240"/>
          </a:xfrm>
          <a:prstGeom prst="line">
            <a:avLst/>
          </a:prstGeom>
          <a:noFill/>
          <a:ln w="12700">
            <a:solidFill>
              <a:srgbClr val="FB923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741768" y="4462272"/>
            <a:ext cx="1938528" cy="777240"/>
          </a:xfrm>
          <a:prstGeom prst="roundRect">
            <a:avLst>
              <a:gd name="adj" fmla="val 9412"/>
            </a:avLst>
          </a:prstGeom>
          <a:solidFill>
            <a:srgbClr val="162035"/>
          </a:solidFill>
          <a:ln w="12700">
            <a:solidFill>
              <a:srgbClr val="F87171"/>
            </a:solidFill>
            <a:prstDash val="solid"/>
          </a:ln>
          <a:effectLst>
            <a:outerShdw sx="100000" sy="100000" kx="0" ky="0" algn="bl" rotWithShape="0" blurRad="19050" dist="3810" dir="2700000">
              <a:srgbClr val="000000">
                <a:alpha val="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7814920" y="4553712"/>
            <a:ext cx="1792224" cy="388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87171"/>
                </a:solidFill>
              </a:rPr>
              <a:t>runTools()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814920" y="4866437"/>
            <a:ext cx="1792224" cy="3108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8A9BB5"/>
                </a:solidFill>
              </a:rPr>
              <a:t>并行/串行执行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 flipH="1">
            <a:off x="6937096" y="4850892"/>
            <a:ext cx="804672" cy="274320"/>
          </a:xfrm>
          <a:prstGeom prst="line">
            <a:avLst/>
          </a:prstGeom>
          <a:noFill/>
          <a:ln w="12700">
            <a:solidFill>
              <a:srgbClr val="F8717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98568" y="4736592"/>
            <a:ext cx="1938528" cy="777240"/>
          </a:xfrm>
          <a:prstGeom prst="roundRect">
            <a:avLst>
              <a:gd name="adj" fmla="val 9412"/>
            </a:avLst>
          </a:prstGeom>
          <a:solidFill>
            <a:srgbClr val="162035"/>
          </a:solidFill>
          <a:ln w="12700">
            <a:solidFill>
              <a:srgbClr val="34D399"/>
            </a:solidFill>
            <a:prstDash val="solid"/>
          </a:ln>
          <a:effectLst>
            <a:outerShdw sx="100000" sy="100000" kx="0" ky="0" algn="bl" rotWithShape="0" blurRad="19050" dist="3810" dir="2700000">
              <a:srgbClr val="000000">
                <a:alpha val="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5071720" y="4828032"/>
            <a:ext cx="1792224" cy="388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4D399"/>
                </a:solidFill>
              </a:rPr>
              <a:t>Inject Results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071720" y="5140757"/>
            <a:ext cx="1792224" cy="3108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8A9BB5"/>
                </a:solidFill>
              </a:rPr>
              <a:t>回注为 user message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 flipH="1">
            <a:off x="4833976" y="3296412"/>
            <a:ext cx="164592" cy="1828800"/>
          </a:xfrm>
          <a:prstGeom prst="line">
            <a:avLst/>
          </a:prstGeom>
          <a:noFill/>
          <a:ln w="12700">
            <a:solidFill>
              <a:srgbClr val="34D39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895448" y="2907792"/>
            <a:ext cx="1938528" cy="777240"/>
          </a:xfrm>
          <a:prstGeom prst="roundRect">
            <a:avLst>
              <a:gd name="adj" fmla="val 9412"/>
            </a:avLst>
          </a:prstGeom>
          <a:solidFill>
            <a:srgbClr val="162035"/>
          </a:solidFill>
          <a:ln w="12700">
            <a:solidFill>
              <a:srgbClr val="A78BFA"/>
            </a:solidFill>
            <a:prstDash val="solid"/>
          </a:ln>
          <a:effectLst>
            <a:outerShdw sx="100000" sy="100000" kx="0" ky="0" algn="bl" rotWithShape="0" blurRad="19050" dist="3810" dir="2700000">
              <a:srgbClr val="000000">
                <a:alpha val="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2968600" y="2999232"/>
            <a:ext cx="1792224" cy="388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78BFA"/>
                </a:solidFill>
              </a:rPr>
              <a:t>needsFollowUp?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2968600" y="3311957"/>
            <a:ext cx="1792224" cy="3108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8A9BB5"/>
                </a:solidFill>
              </a:rPr>
              <a:t>maxTurns / budget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3864712" y="2313432"/>
            <a:ext cx="2377440" cy="594360"/>
          </a:xfrm>
          <a:prstGeom prst="line">
            <a:avLst/>
          </a:prstGeom>
          <a:noFill/>
          <a:ln w="12700">
            <a:solidFill>
              <a:srgbClr val="A78BF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686800" y="1536192"/>
            <a:ext cx="3200400" cy="1874520"/>
          </a:xfrm>
          <a:prstGeom prst="roundRect">
            <a:avLst>
              <a:gd name="adj" fmla="val 3415"/>
            </a:avLst>
          </a:prstGeom>
          <a:solidFill>
            <a:srgbClr val="1A2640"/>
          </a:solidFill>
          <a:ln w="12700">
            <a:solidFill>
              <a:srgbClr val="2A3F5F"/>
            </a:solidFill>
            <a:prstDash val="solid"/>
          </a:ln>
          <a:effectLst>
            <a:outerShdw sx="100000" sy="100000" kx="0" ky="0" algn="bl" rotWithShape="0" blurRad="19050" dist="4445" dir="2700000">
              <a:srgbClr val="000000">
                <a:alpha val="10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8869680" y="1664208"/>
            <a:ext cx="2834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87171"/>
                </a:solidFill>
              </a:rPr>
              <a:t>Stop 条件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8869680" y="1956816"/>
            <a:ext cx="2834640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C4CDD8"/>
                </a:solidFill>
              </a:rPr>
              <a:t>• stop_reason = end_turn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4CDD8"/>
                </a:solidFill>
              </a:rPr>
              <a:t>• needsFollowUp = false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4CDD8"/>
                </a:solidFill>
              </a:rPr>
              <a:t>• maxTurns 达到上限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4CDD8"/>
                </a:solidFill>
              </a:rPr>
              <a:t>• taskBudget 耗尽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8686800" y="3547872"/>
            <a:ext cx="3200400" cy="1874520"/>
          </a:xfrm>
          <a:prstGeom prst="roundRect">
            <a:avLst>
              <a:gd name="adj" fmla="val 3415"/>
            </a:avLst>
          </a:prstGeom>
          <a:solidFill>
            <a:srgbClr val="162035"/>
          </a:solidFill>
          <a:ln w="12700">
            <a:solidFill>
              <a:srgbClr val="2A3F5F"/>
            </a:solidFill>
            <a:prstDash val="solid"/>
          </a:ln>
          <a:effectLst>
            <a:outerShdw sx="100000" sy="100000" kx="0" ky="0" algn="bl" rotWithShape="0" blurRad="19050" dist="4445" dir="2700000">
              <a:srgbClr val="000000">
                <a:alpha val="10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8869680" y="3675888"/>
            <a:ext cx="2834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4D399"/>
                </a:solidFill>
              </a:rPr>
              <a:t>Continue 条件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8869680" y="3968496"/>
            <a:ext cx="2834640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C4CDD8"/>
                </a:solidFill>
              </a:rPr>
              <a:t>• 有 tool_use blocks 待执行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4CDD8"/>
                </a:solidFill>
              </a:rPr>
              <a:t>• 工具结果已回注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4CDD8"/>
                </a:solidFill>
              </a:rPr>
              <a:t>• compact 后仍有 budget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4CDD8"/>
                </a:solidFill>
              </a:rPr>
              <a:t>• 无 abort 信号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9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943600" cy="6858000"/>
          </a:xfrm>
          <a:prstGeom prst="rect">
            <a:avLst/>
          </a:prstGeom>
          <a:solidFill>
            <a:srgbClr val="0D1829"/>
          </a:solidFill>
          <a:ln w="12700">
            <a:solidFill>
              <a:srgbClr val="0D182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0" y="0"/>
            <a:ext cx="6248095" cy="6858000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0" y="0"/>
            <a:ext cx="6248095" cy="13716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0" y="960120"/>
            <a:ext cx="6248095" cy="13716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0" y="1920240"/>
            <a:ext cx="6248095" cy="13716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0" y="2880360"/>
            <a:ext cx="6248095" cy="13716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0" y="3840480"/>
            <a:ext cx="6248095" cy="13716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0" y="4800600"/>
            <a:ext cx="6248095" cy="13716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943600" y="5760720"/>
            <a:ext cx="6248095" cy="13716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43600" y="6720840"/>
            <a:ext cx="6248095" cy="13716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109728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F5A623"/>
                </a:solidFill>
              </a:rPr>
              <a:t>SECTION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914400" y="14173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E8EDF5"/>
                </a:solidFill>
              </a:rPr>
              <a:t>Tool Runtime</a:t>
            </a:r>
            <a:endParaRPr lang="en-US" sz="2700" dirty="0"/>
          </a:p>
          <a:p>
            <a:pPr indent="0" marL="0">
              <a:buNone/>
            </a:pPr>
            <a:r>
              <a:rPr lang="en-US" sz="2700" b="1" dirty="0">
                <a:solidFill>
                  <a:srgbClr val="E8EDF5"/>
                </a:solidFill>
              </a:rPr>
              <a:t>&amp; Permission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914400" y="3108960"/>
            <a:ext cx="4206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9BB5"/>
                </a:solidFill>
              </a:rPr>
              <a:t>模型提出动作，runtime 决定能不能做、怎么做——这才是真正的「受控执行」。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766560" y="164592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FFFFF">
                    <a:alpha val="80000"/>
                  </a:srgbClr>
                </a:solidFill>
              </a:rPr>
              <a:t>03</a:t>
            </a:r>
            <a:endParaRPr lang="en-US" sz="8000" dirty="0"/>
          </a:p>
        </p:txBody>
      </p:sp>
      <p:sp>
        <p:nvSpPr>
          <p:cNvPr id="16" name="Text 14"/>
          <p:cNvSpPr/>
          <p:nvPr/>
        </p:nvSpPr>
        <p:spPr>
          <a:xfrm>
            <a:off x="6583680" y="3200400"/>
            <a:ext cx="5029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>
                    <a:alpha val="85000"/>
                  </a:srgbClr>
                </a:solidFill>
              </a:rPr>
              <a:t>权限不是外围 UI，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>
                    <a:alpha val="85000"/>
                  </a:srgbClr>
                </a:solidFill>
              </a:rPr>
              <a:t>而是工具执行主路径的组成部分。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94360" y="6254496"/>
            <a:ext cx="11002975" cy="13716"/>
          </a:xfrm>
          <a:prstGeom prst="rect">
            <a:avLst/>
          </a:prstGeom>
          <a:solidFill>
            <a:srgbClr val="2A3F5F"/>
          </a:solidFill>
          <a:ln w="12700">
            <a:solidFill>
              <a:srgbClr val="2A3F5F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6309360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8A9BB5"/>
                </a:solidFill>
              </a:rPr>
              <a:t>Claude Code Sourcemap 源码解读 · 仅供研究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11228832" y="6364224"/>
            <a:ext cx="73152" cy="73152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698480" y="6291072"/>
            <a:ext cx="502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B0BDD0"/>
                </a:solidFill>
              </a:rPr>
              <a:t>13</a:t>
            </a:r>
            <a:endParaRPr lang="en-US" sz="8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9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" y="274320"/>
            <a:ext cx="1687068" cy="201168"/>
          </a:xfrm>
          <a:prstGeom prst="roundRect">
            <a:avLst>
              <a:gd name="adj" fmla="val 18182"/>
            </a:avLst>
          </a:prstGeom>
          <a:solidFill>
            <a:srgbClr val="1E2E4A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288036"/>
            <a:ext cx="3200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B923C"/>
                </a:solidFill>
              </a:rPr>
              <a:t>Tool Runtime · 01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58368" y="54864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8EDF5"/>
                </a:solidFill>
              </a:rPr>
              <a:t>40+ 内置工具：覆盖从代码编辑到系统管理的完整工作流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58368" y="1115568"/>
            <a:ext cx="10515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B5"/>
                </a:solidFill>
              </a:rPr>
              <a:t>工具不是简单的函数，而是带有 schema、权限声明、hook 交互能力的可治理执行单元。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94360" y="6254496"/>
            <a:ext cx="11002975" cy="13716"/>
          </a:xfrm>
          <a:prstGeom prst="rect">
            <a:avLst/>
          </a:prstGeom>
          <a:solidFill>
            <a:srgbClr val="2A3F5F"/>
          </a:solidFill>
          <a:ln w="12700">
            <a:solidFill>
              <a:srgbClr val="2A3F5F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6309360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8A9BB5"/>
                </a:solidFill>
              </a:rPr>
              <a:t>Claude Code Sourcemap 源码解读 · 仅供研究</a:t>
            </a:r>
            <a:endParaRPr lang="en-US" sz="780" dirty="0"/>
          </a:p>
        </p:txBody>
      </p:sp>
      <p:sp>
        <p:nvSpPr>
          <p:cNvPr id="9" name="Shape 7"/>
          <p:cNvSpPr/>
          <p:nvPr/>
        </p:nvSpPr>
        <p:spPr>
          <a:xfrm>
            <a:off x="11228832" y="6364224"/>
            <a:ext cx="73152" cy="73152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98480" y="6291072"/>
            <a:ext cx="502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B0BDD0"/>
                </a:solidFill>
              </a:rPr>
              <a:t>14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621792" y="1554480"/>
            <a:ext cx="3639312" cy="1938528"/>
          </a:xfrm>
          <a:prstGeom prst="roundRect">
            <a:avLst>
              <a:gd name="adj" fmla="val 3302"/>
            </a:avLst>
          </a:prstGeom>
          <a:solidFill>
            <a:srgbClr val="162035"/>
          </a:solidFill>
          <a:ln w="12700">
            <a:solidFill>
              <a:srgbClr val="4B8E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1554480"/>
            <a:ext cx="3639312" cy="91440"/>
          </a:xfrm>
          <a:prstGeom prst="rect">
            <a:avLst/>
          </a:prstGeom>
          <a:solidFill>
            <a:srgbClr val="4B8EF5"/>
          </a:solidFill>
          <a:ln w="12700">
            <a:solidFill>
              <a:srgbClr val="4B8EF5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58952" y="1700784"/>
            <a:ext cx="33649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B8EF5"/>
                </a:solidFill>
              </a:rPr>
              <a:t>文件操作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58952" y="1993392"/>
            <a:ext cx="3364992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C4CDD8"/>
                </a:solidFill>
              </a:rPr>
              <a:t>FileReadTool  ·  FileWriteTool  ·  FileEditTool  ·  GlobTool  ·  GrepTool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443984" y="1554480"/>
            <a:ext cx="3639312" cy="1938528"/>
          </a:xfrm>
          <a:prstGeom prst="roundRect">
            <a:avLst>
              <a:gd name="adj" fmla="val 3302"/>
            </a:avLst>
          </a:prstGeom>
          <a:solidFill>
            <a:srgbClr val="162035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43984" y="1554480"/>
            <a:ext cx="3639312" cy="9144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81144" y="1700784"/>
            <a:ext cx="33649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7171"/>
                </a:solidFill>
              </a:rPr>
              <a:t>代码执行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81144" y="1993392"/>
            <a:ext cx="3364992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C4CDD8"/>
                </a:solidFill>
              </a:rPr>
              <a:t>BashTool  ·  PowerShellTool  ·  REPLTool (JS)  ·  NotebookEditTool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266176" y="1554480"/>
            <a:ext cx="3639312" cy="1938528"/>
          </a:xfrm>
          <a:prstGeom prst="roundRect">
            <a:avLst>
              <a:gd name="adj" fmla="val 3302"/>
            </a:avLst>
          </a:prstGeom>
          <a:solidFill>
            <a:srgbClr val="162035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66176" y="1554480"/>
            <a:ext cx="3639312" cy="9144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03336" y="1700784"/>
            <a:ext cx="33649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78BFA"/>
                </a:solidFill>
              </a:rPr>
              <a:t>Agent 协作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403336" y="1993392"/>
            <a:ext cx="3364992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C4CDD8"/>
                </a:solidFill>
              </a:rPr>
              <a:t>AgentTool  ·  TaskCreateTool  ·  TaskGetTool  ·  TaskListTool  ·  TeamCreateTool  ·  SendMessageTool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21792" y="3794760"/>
            <a:ext cx="3639312" cy="1938528"/>
          </a:xfrm>
          <a:prstGeom prst="roundRect">
            <a:avLst>
              <a:gd name="adj" fmla="val 3302"/>
            </a:avLst>
          </a:prstGeom>
          <a:solidFill>
            <a:srgbClr val="162035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1792" y="3794760"/>
            <a:ext cx="3639312" cy="914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58952" y="3941064"/>
            <a:ext cx="33649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D3EE"/>
                </a:solidFill>
              </a:rPr>
              <a:t>外部集成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58952" y="4233672"/>
            <a:ext cx="3364992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C4CDD8"/>
                </a:solidFill>
              </a:rPr>
              <a:t>MCPTool  ·  WebSearchTool  ·  WebFetchTool  ·  McpAuthTool  ·  ListMcpResourcesTool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443984" y="3794760"/>
            <a:ext cx="3639312" cy="1938528"/>
          </a:xfrm>
          <a:prstGeom prst="roundRect">
            <a:avLst>
              <a:gd name="adj" fmla="val 3302"/>
            </a:avLst>
          </a:prstGeom>
          <a:solidFill>
            <a:srgbClr val="162035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43984" y="3794760"/>
            <a:ext cx="3639312" cy="9144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81144" y="3941064"/>
            <a:ext cx="33649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4D399"/>
                </a:solidFill>
              </a:rPr>
              <a:t>开发辅助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581144" y="4233672"/>
            <a:ext cx="3364992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C4CDD8"/>
                </a:solidFill>
              </a:rPr>
              <a:t>LSPTool  ·  AskUserQuestionTool  ·  SkillTool  ·  BriefTool  ·  TodoWriteTool  ·  ToolSearchTool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266176" y="3794760"/>
            <a:ext cx="3639312" cy="1938528"/>
          </a:xfrm>
          <a:prstGeom prst="roundRect">
            <a:avLst>
              <a:gd name="adj" fmla="val 3302"/>
            </a:avLst>
          </a:prstGeom>
          <a:solidFill>
            <a:srgbClr val="162035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66176" y="3794760"/>
            <a:ext cx="3639312" cy="91440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403336" y="3941064"/>
            <a:ext cx="33649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923C"/>
                </a:solidFill>
              </a:rPr>
              <a:t>流程控制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403336" y="4233672"/>
            <a:ext cx="3364992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C4CDD8"/>
                </a:solidFill>
              </a:rPr>
              <a:t>EnterPlanModeTool  ·  ExitPlanModeTool  ·  EnterWorktreeTool  ·  SleepTool  ·  ScheduleCronTool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9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" y="274320"/>
            <a:ext cx="1687068" cy="201168"/>
          </a:xfrm>
          <a:prstGeom prst="roundRect">
            <a:avLst>
              <a:gd name="adj" fmla="val 18182"/>
            </a:avLst>
          </a:prstGeom>
          <a:solidFill>
            <a:srgbClr val="1E2E4A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288036"/>
            <a:ext cx="3200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B923C"/>
                </a:solidFill>
              </a:rPr>
              <a:t>Tool Runtime · 02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58368" y="54864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8EDF5"/>
                </a:solidFill>
              </a:rPr>
              <a:t>Hook 不是扩展点，而是执行主路径的组成部分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58368" y="1115568"/>
            <a:ext cx="10515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B5"/>
                </a:solidFill>
              </a:rPr>
              <a:t>Pre Hook / 权限决策 / Post Hook / Failure Hook 贯穿工具执行的全生命周期。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94360" y="6254496"/>
            <a:ext cx="11002975" cy="13716"/>
          </a:xfrm>
          <a:prstGeom prst="rect">
            <a:avLst/>
          </a:prstGeom>
          <a:solidFill>
            <a:srgbClr val="2A3F5F"/>
          </a:solidFill>
          <a:ln w="12700">
            <a:solidFill>
              <a:srgbClr val="2A3F5F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6309360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8A9BB5"/>
                </a:solidFill>
              </a:rPr>
              <a:t>Claude Code Sourcemap 源码解读 · 仅供研究</a:t>
            </a:r>
            <a:endParaRPr lang="en-US" sz="780" dirty="0"/>
          </a:p>
        </p:txBody>
      </p:sp>
      <p:sp>
        <p:nvSpPr>
          <p:cNvPr id="9" name="Shape 7"/>
          <p:cNvSpPr/>
          <p:nvPr/>
        </p:nvSpPr>
        <p:spPr>
          <a:xfrm>
            <a:off x="11228832" y="6364224"/>
            <a:ext cx="73152" cy="73152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98480" y="6291072"/>
            <a:ext cx="502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B0BDD0"/>
                </a:solidFill>
              </a:rPr>
              <a:t>15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594360" y="1600200"/>
            <a:ext cx="1664208" cy="896112"/>
          </a:xfrm>
          <a:prstGeom prst="roundRect">
            <a:avLst>
              <a:gd name="adj" fmla="val 7143"/>
            </a:avLst>
          </a:prstGeom>
          <a:solidFill>
            <a:srgbClr val="162035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94360" y="1600200"/>
            <a:ext cx="1664208" cy="914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" y="1746504"/>
            <a:ext cx="151790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D3EE"/>
                </a:solidFill>
              </a:rPr>
              <a:t>Input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2D3EE"/>
                </a:solidFill>
              </a:rPr>
              <a:t>Validate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67512" y="2167128"/>
            <a:ext cx="151790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BB5"/>
                </a:solidFill>
              </a:rPr>
              <a:t>zod schema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276856" y="1938528"/>
            <a:ext cx="256032" cy="182880"/>
          </a:xfrm>
          <a:prstGeom prst="chevron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14600" y="1600200"/>
            <a:ext cx="1664208" cy="896112"/>
          </a:xfrm>
          <a:prstGeom prst="roundRect">
            <a:avLst>
              <a:gd name="adj" fmla="val 7143"/>
            </a:avLst>
          </a:prstGeom>
          <a:solidFill>
            <a:srgbClr val="162035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14600" y="1600200"/>
            <a:ext cx="1664208" cy="9144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587752" y="1746504"/>
            <a:ext cx="151790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78BFA"/>
                </a:solidFill>
              </a:rPr>
              <a:t>Pre-Tool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A78BFA"/>
                </a:solidFill>
              </a:rPr>
              <a:t>Hooks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587752" y="2167128"/>
            <a:ext cx="151790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BB5"/>
                </a:solidFill>
              </a:rPr>
              <a:t>策略注入点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197096" y="1938528"/>
            <a:ext cx="256032" cy="182880"/>
          </a:xfrm>
          <a:prstGeom prst="chevron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434840" y="1600200"/>
            <a:ext cx="1664208" cy="896112"/>
          </a:xfrm>
          <a:prstGeom prst="roundRect">
            <a:avLst>
              <a:gd name="adj" fmla="val 7143"/>
            </a:avLst>
          </a:prstGeom>
          <a:solidFill>
            <a:srgbClr val="162035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34840" y="1600200"/>
            <a:ext cx="1664208" cy="9144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07992" y="1746504"/>
            <a:ext cx="151790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7171"/>
                </a:solidFill>
              </a:rPr>
              <a:t>Permission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87171"/>
                </a:solidFill>
              </a:rPr>
              <a:t>Resolve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07992" y="2167128"/>
            <a:ext cx="151790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BB5"/>
                </a:solidFill>
              </a:rPr>
              <a:t>多层决策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117336" y="1938528"/>
            <a:ext cx="256032" cy="182880"/>
          </a:xfrm>
          <a:prstGeom prst="chevron">
            <a:avLst/>
          </a:prstGeom>
          <a:solidFill>
            <a:srgbClr val="F87171"/>
          </a:solidFill>
          <a:ln w="12700">
            <a:solidFill>
              <a:srgbClr val="F87171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55080" y="1600200"/>
            <a:ext cx="1664208" cy="896112"/>
          </a:xfrm>
          <a:prstGeom prst="roundRect">
            <a:avLst>
              <a:gd name="adj" fmla="val 7143"/>
            </a:avLst>
          </a:prstGeom>
          <a:solidFill>
            <a:srgbClr val="162035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355080" y="1600200"/>
            <a:ext cx="1664208" cy="9144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28232" y="1746504"/>
            <a:ext cx="151790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4D399"/>
                </a:solidFill>
              </a:rPr>
              <a:t>tool.call()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428232" y="2167128"/>
            <a:ext cx="151790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BB5"/>
                </a:solidFill>
              </a:rPr>
              <a:t>实际执行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8037576" y="1938528"/>
            <a:ext cx="256032" cy="182880"/>
          </a:xfrm>
          <a:prstGeom prst="chevron">
            <a:avLst/>
          </a:prstGeom>
          <a:solidFill>
            <a:srgbClr val="34D399"/>
          </a:solidFill>
          <a:ln w="12700">
            <a:solidFill>
              <a:srgbClr val="34D399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75320" y="1600200"/>
            <a:ext cx="1664208" cy="896112"/>
          </a:xfrm>
          <a:prstGeom prst="roundRect">
            <a:avLst>
              <a:gd name="adj" fmla="val 7143"/>
            </a:avLst>
          </a:prstGeom>
          <a:solidFill>
            <a:srgbClr val="162035"/>
          </a:solidFill>
          <a:ln w="12700">
            <a:solidFill>
              <a:srgbClr val="4B8EF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75320" y="1600200"/>
            <a:ext cx="1664208" cy="91440"/>
          </a:xfrm>
          <a:prstGeom prst="rect">
            <a:avLst/>
          </a:prstGeom>
          <a:solidFill>
            <a:srgbClr val="4B8EF5"/>
          </a:solidFill>
          <a:ln w="12700">
            <a:solidFill>
              <a:srgbClr val="4B8EF5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48472" y="1746504"/>
            <a:ext cx="151790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8EF5"/>
                </a:solidFill>
              </a:rPr>
              <a:t>Post-Tool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4B8EF5"/>
                </a:solidFill>
              </a:rPr>
              <a:t>Hooks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348472" y="2167128"/>
            <a:ext cx="151790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BB5"/>
                </a:solidFill>
              </a:rPr>
              <a:t>结果改写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9957816" y="1938528"/>
            <a:ext cx="256032" cy="182880"/>
          </a:xfrm>
          <a:prstGeom prst="chevron">
            <a:avLst/>
          </a:prstGeom>
          <a:solidFill>
            <a:srgbClr val="4B8EF5"/>
          </a:solidFill>
          <a:ln w="12700">
            <a:solidFill>
              <a:srgbClr val="4B8EF5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0195560" y="1600200"/>
            <a:ext cx="1664208" cy="896112"/>
          </a:xfrm>
          <a:prstGeom prst="roundRect">
            <a:avLst>
              <a:gd name="adj" fmla="val 7143"/>
            </a:avLst>
          </a:prstGeom>
          <a:solidFill>
            <a:srgbClr val="162035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0195560" y="1600200"/>
            <a:ext cx="1664208" cy="91440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>
                <a:alpha val="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268712" y="1746504"/>
            <a:ext cx="151790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B923C"/>
                </a:solidFill>
              </a:rPr>
              <a:t>Failure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B923C"/>
                </a:solidFill>
              </a:rPr>
              <a:t>Hooks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0268712" y="2167128"/>
            <a:ext cx="151790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BB5"/>
                </a:solidFill>
              </a:rPr>
              <a:t>错误处理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21792" y="2761488"/>
            <a:ext cx="3566160" cy="3017520"/>
          </a:xfrm>
          <a:prstGeom prst="roundRect">
            <a:avLst>
              <a:gd name="adj" fmla="val 2121"/>
            </a:avLst>
          </a:prstGeom>
          <a:solidFill>
            <a:srgbClr val="162035"/>
          </a:solidFill>
          <a:ln w="12700">
            <a:solidFill>
              <a:srgbClr val="2A3F5F"/>
            </a:solidFill>
            <a:prstDash val="solid"/>
          </a:ln>
          <a:effectLst>
            <a:outerShdw sx="100000" sy="100000" kx="0" ky="0" algn="bl" rotWithShape="0" blurRad="19050" dist="4445" dir="2700000">
              <a:srgbClr val="000000">
                <a:alpha val="10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804672" y="2889504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78BFA"/>
                </a:solidFill>
              </a:rPr>
              <a:t>Pre Hook 能返回什么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804672" y="3182112"/>
            <a:ext cx="3200400" cy="2505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C4CDD8"/>
                </a:solidFill>
              </a:rPr>
              <a:t>• message：直接注入 UI / transcript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4CDD8"/>
                </a:solidFill>
              </a:rPr>
              <a:t>• hookPermissionResult：allow / ask / deny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4CDD8"/>
                </a:solidFill>
              </a:rPr>
              <a:t>• hookUpdatedInput：只改输入，不改权限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4CDD8"/>
                </a:solidFill>
              </a:rPr>
              <a:t>• preventContinuation：阻断后续控制流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4CDD8"/>
                </a:solidFill>
              </a:rPr>
              <a:t>• additionalContext：附加上下文给模型</a:t>
            </a:r>
            <a:endParaRPr lang="en-US" sz="1080" dirty="0"/>
          </a:p>
        </p:txBody>
      </p:sp>
      <p:sp>
        <p:nvSpPr>
          <p:cNvPr id="43" name="Shape 41"/>
          <p:cNvSpPr/>
          <p:nvPr/>
        </p:nvSpPr>
        <p:spPr>
          <a:xfrm>
            <a:off x="4315968" y="2761488"/>
            <a:ext cx="3566160" cy="3017520"/>
          </a:xfrm>
          <a:prstGeom prst="roundRect">
            <a:avLst>
              <a:gd name="adj" fmla="val 2121"/>
            </a:avLst>
          </a:prstGeom>
          <a:solidFill>
            <a:srgbClr val="1A2640"/>
          </a:solidFill>
          <a:ln w="12700">
            <a:solidFill>
              <a:srgbClr val="2A3F5F"/>
            </a:solidFill>
            <a:prstDash val="solid"/>
          </a:ln>
          <a:effectLst>
            <a:outerShdw sx="100000" sy="100000" kx="0" ky="0" algn="bl" rotWithShape="0" blurRad="19050" dist="4445" dir="2700000">
              <a:srgbClr val="000000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4498848" y="2889504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87171"/>
                </a:solidFill>
              </a:rPr>
              <a:t>权限决策优先级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4498848" y="3182112"/>
            <a:ext cx="3200400" cy="2505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C4CDD8"/>
                </a:solidFill>
              </a:rPr>
              <a:t>• ① Hook deny → 直接拒绝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4CDD8"/>
                </a:solidFill>
              </a:rPr>
              <a:t>• ② Hook allow → 再跑 checkRuleBasedPermissions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4CDD8"/>
                </a:solidFill>
              </a:rPr>
              <a:t>• ③ Rule deny/ask → 可覆盖 hook allow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4CDD8"/>
                </a:solidFill>
              </a:rPr>
              <a:t>• ④ 无 hook 决策 → 进入 canUseTool() 流程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4CDD8"/>
                </a:solidFill>
              </a:rPr>
              <a:t>• 结论：权限是 hook + rule + UI 三层叠加</a:t>
            </a:r>
            <a:endParaRPr lang="en-US" sz="1080" dirty="0"/>
          </a:p>
        </p:txBody>
      </p:sp>
      <p:sp>
        <p:nvSpPr>
          <p:cNvPr id="46" name="Shape 44"/>
          <p:cNvSpPr/>
          <p:nvPr/>
        </p:nvSpPr>
        <p:spPr>
          <a:xfrm>
            <a:off x="8010144" y="2761488"/>
            <a:ext cx="3566160" cy="3017520"/>
          </a:xfrm>
          <a:prstGeom prst="roundRect">
            <a:avLst>
              <a:gd name="adj" fmla="val 2121"/>
            </a:avLst>
          </a:prstGeom>
          <a:solidFill>
            <a:srgbClr val="162035"/>
          </a:solidFill>
          <a:ln w="12700">
            <a:solidFill>
              <a:srgbClr val="2A3F5F"/>
            </a:solidFill>
            <a:prstDash val="solid"/>
          </a:ln>
          <a:effectLst>
            <a:outerShdw sx="100000" sy="100000" kx="0" ky="0" algn="bl" rotWithShape="0" blurRad="19050" dist="4445" dir="2700000">
              <a:srgbClr val="000000">
                <a:alpha val="10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8193024" y="2889504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B8EF5"/>
                </a:solidFill>
              </a:rPr>
              <a:t>Post / Failure Hook</a:t>
            </a: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8193024" y="3182112"/>
            <a:ext cx="3200400" cy="2505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C4CDD8"/>
                </a:solidFill>
              </a:rPr>
              <a:t>• 成功：可产出额外 attachment / message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4CDD8"/>
                </a:solidFill>
              </a:rPr>
              <a:t>• 成功：可 preventContinuation 阻止继续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4CDD8"/>
                </a:solidFill>
              </a:rPr>
              <a:t>• MCP tool：可 updatedMCPToolOutput 改写输出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4CDD8"/>
                </a:solidFill>
              </a:rPr>
              <a:t>• 失败：runPostToolUseFailureHooks() 策略化处理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4CDD8"/>
                </a:solidFill>
              </a:rPr>
              <a:t>• 因此成功与失败都被统一纳入 hook 协议</a:t>
            </a:r>
            <a:endParaRPr lang="en-US" sz="108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9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" y="274320"/>
            <a:ext cx="1687068" cy="201168"/>
          </a:xfrm>
          <a:prstGeom prst="roundRect">
            <a:avLst>
              <a:gd name="adj" fmla="val 18182"/>
            </a:avLst>
          </a:prstGeom>
          <a:solidFill>
            <a:srgbClr val="1E2E4A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288036"/>
            <a:ext cx="3200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B923C"/>
                </a:solidFill>
              </a:rPr>
              <a:t>Tool Runtime · 03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58368" y="54864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8EDF5"/>
                </a:solidFill>
              </a:rPr>
              <a:t>权限系统：不是一个 bool，而是 Mode + Rules + Classifier + Shell Analysis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58368" y="1115568"/>
            <a:ext cx="10515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B5"/>
                </a:solidFill>
              </a:rPr>
              <a:t>这套系统让 Claude Code 可以被企业策略、本地规则和用户偏好共同治理。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94360" y="6254496"/>
            <a:ext cx="11002975" cy="13716"/>
          </a:xfrm>
          <a:prstGeom prst="rect">
            <a:avLst/>
          </a:prstGeom>
          <a:solidFill>
            <a:srgbClr val="2A3F5F"/>
          </a:solidFill>
          <a:ln w="12700">
            <a:solidFill>
              <a:srgbClr val="2A3F5F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6309360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8A9BB5"/>
                </a:solidFill>
              </a:rPr>
              <a:t>Claude Code Sourcemap 源码解读 · 仅供研究</a:t>
            </a:r>
            <a:endParaRPr lang="en-US" sz="780" dirty="0"/>
          </a:p>
        </p:txBody>
      </p:sp>
      <p:sp>
        <p:nvSpPr>
          <p:cNvPr id="9" name="Shape 7"/>
          <p:cNvSpPr/>
          <p:nvPr/>
        </p:nvSpPr>
        <p:spPr>
          <a:xfrm>
            <a:off x="11228832" y="6364224"/>
            <a:ext cx="73152" cy="73152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98480" y="6291072"/>
            <a:ext cx="502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B0BDD0"/>
                </a:solidFill>
              </a:rPr>
              <a:t>16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621792" y="1536192"/>
            <a:ext cx="3310128" cy="4206240"/>
          </a:xfrm>
          <a:prstGeom prst="roundRect">
            <a:avLst>
              <a:gd name="adj" fmla="val 1934"/>
            </a:avLst>
          </a:prstGeom>
          <a:solidFill>
            <a:srgbClr val="162035"/>
          </a:solidFill>
          <a:ln w="12700">
            <a:solidFill>
              <a:srgbClr val="2A3F5F"/>
            </a:solidFill>
            <a:prstDash val="solid"/>
          </a:ln>
          <a:effectLst>
            <a:outerShdw sx="100000" sy="100000" kx="0" ky="0" algn="bl" rotWithShape="0" blurRad="19050" dist="4445" dir="27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04672" y="1664208"/>
            <a:ext cx="2944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A623"/>
                </a:solidFill>
              </a:rPr>
              <a:t>Permission Modes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04672" y="1956816"/>
            <a:ext cx="2944368" cy="36941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C4CDD8"/>
                </a:solidFill>
              </a:rPr>
              <a:t>• default：默认交互模式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4CDD8"/>
                </a:solidFill>
              </a:rPr>
              <a:t>• plan：只规划，不执行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4CDD8"/>
                </a:solidFill>
              </a:rPr>
              <a:t>• acceptEdits：自动接受文件修改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4CDD8"/>
                </a:solidFill>
              </a:rPr>
              <a:t>• bypassPermissions：受信任模式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4CDD8"/>
                </a:solidFill>
              </a:rPr>
              <a:t>• dontAsk：静默模式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4CDD8"/>
                </a:solidFill>
              </a:rPr>
              <a:t>• auto：自动（feature gated）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4CDD8"/>
                </a:solidFill>
              </a:rPr>
              <a:t>• 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4CDD8"/>
                </a:solidFill>
              </a:rPr>
              <a:t>• 每个 mode 都有 title / symbol /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4CDD8"/>
                </a:solidFill>
              </a:rPr>
              <a:t>color / external 映射，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4CDD8"/>
                </a:solidFill>
              </a:rPr>
              <a:t>同时服务策略、UI 和对外接口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078224" y="1536192"/>
            <a:ext cx="3310128" cy="4206240"/>
          </a:xfrm>
          <a:prstGeom prst="roundRect">
            <a:avLst>
              <a:gd name="adj" fmla="val 1934"/>
            </a:avLst>
          </a:prstGeom>
          <a:solidFill>
            <a:srgbClr val="1A2640"/>
          </a:solidFill>
          <a:ln w="12700">
            <a:solidFill>
              <a:srgbClr val="2A3F5F"/>
            </a:solidFill>
            <a:prstDash val="solid"/>
          </a:ln>
          <a:effectLst>
            <a:outerShdw sx="100000" sy="100000" kx="0" ky="0" algn="bl" rotWithShape="0" blurRad="19050" dist="4445" dir="27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261104" y="1664208"/>
            <a:ext cx="2944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87171"/>
                </a:solidFill>
              </a:rPr>
              <a:t>规则系统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261104" y="1956816"/>
            <a:ext cx="2944368" cy="36941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C4CDD8"/>
                </a:solidFill>
              </a:rPr>
              <a:t>• permissionRuleParser.ts 解析规则字符串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4CDD8"/>
                </a:solidFill>
              </a:rPr>
              <a:t>• 例：Bash(npm install) / Edit(src/**)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4CDD8"/>
                </a:solidFill>
              </a:rPr>
              <a:t>• shellRuleMatching.ts 匹配 shell 命令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4CDD8"/>
                </a:solidFill>
              </a:rPr>
              <a:t>• filesystem.ts 处理读写范围与路径分析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4CDD8"/>
                </a:solidFill>
              </a:rPr>
              <a:t>• shadowedRuleDetection.ts 检测冗余规则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4CDD8"/>
                </a:solidFill>
              </a:rPr>
              <a:t>• 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4CDD8"/>
                </a:solidFill>
              </a:rPr>
              <a:t>• 规则可来自：CLAUDE.md / 企业策略 /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4CDD8"/>
                </a:solidFill>
              </a:rPr>
              <a:t>用户设置 / 会话临时授权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534656" y="1536192"/>
            <a:ext cx="4041648" cy="4206240"/>
          </a:xfrm>
          <a:prstGeom prst="roundRect">
            <a:avLst>
              <a:gd name="adj" fmla="val 1584"/>
            </a:avLst>
          </a:prstGeom>
          <a:solidFill>
            <a:srgbClr val="162035"/>
          </a:solidFill>
          <a:ln w="12700">
            <a:solidFill>
              <a:srgbClr val="2A3F5F"/>
            </a:solidFill>
            <a:prstDash val="solid"/>
          </a:ln>
          <a:effectLst>
            <a:outerShdw sx="100000" sy="100000" kx="0" ky="0" algn="bl" rotWithShape="0" blurRad="19050" dist="4445" dir="27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717536" y="1664208"/>
            <a:ext cx="36758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78BFA"/>
                </a:solidFill>
              </a:rPr>
              <a:t>Bash Classifier（自动审批）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717536" y="1956816"/>
            <a:ext cx="3675888" cy="36941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C4CDD8"/>
                </a:solidFill>
              </a:rPr>
              <a:t>• bashClassifier.ts 对 shell 命令做风险分类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4CDD8"/>
                </a:solidFill>
              </a:rPr>
              <a:t>• yoloClassifier.ts 在 bypass 模式下处理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4CDD8"/>
                </a:solidFill>
              </a:rPr>
              <a:t>• dangerousPatterns.ts 维护危险命令模式库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4CDD8"/>
                </a:solidFill>
              </a:rPr>
              <a:t>• classifierDecision.ts 给出审批建议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4CDD8"/>
                </a:solidFill>
              </a:rPr>
              <a:t>• 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4CDD8"/>
                </a:solidFill>
              </a:rPr>
              <a:t>• 高置信度安全命令可跳过用户确认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4CDD8"/>
                </a:solidFill>
              </a:rPr>
              <a:t>• 这使 agent 在 auto 模式下能高效运行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4CDD8"/>
                </a:solidFill>
              </a:rPr>
              <a:t>• 同时保留对高风险命令的拦截能力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9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" y="274320"/>
            <a:ext cx="1065276" cy="201168"/>
          </a:xfrm>
          <a:prstGeom prst="roundRect">
            <a:avLst>
              <a:gd name="adj" fmla="val 18182"/>
            </a:avLst>
          </a:prstGeom>
          <a:solidFill>
            <a:srgbClr val="1E2E4A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288036"/>
            <a:ext cx="3200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B923C"/>
                </a:solidFill>
              </a:rPr>
              <a:t>架构图解 · 03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58368" y="54864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8EDF5"/>
                </a:solidFill>
              </a:rPr>
              <a:t>权限决策树——一次工具调用经历的四层判断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58368" y="1115568"/>
            <a:ext cx="10515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B5"/>
                </a:solidFill>
              </a:rPr>
              <a:t>从 Hook 到 Rule 到 Classifier 到 UI，每层都可能中断或放行。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94360" y="6254496"/>
            <a:ext cx="11002975" cy="13716"/>
          </a:xfrm>
          <a:prstGeom prst="rect">
            <a:avLst/>
          </a:prstGeom>
          <a:solidFill>
            <a:srgbClr val="2A3F5F"/>
          </a:solidFill>
          <a:ln w="12700">
            <a:solidFill>
              <a:srgbClr val="2A3F5F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6309360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8A9BB5"/>
                </a:solidFill>
              </a:rPr>
              <a:t>Claude Code Sourcemap 源码解读 · 仅供研究</a:t>
            </a:r>
            <a:endParaRPr lang="en-US" sz="780" dirty="0"/>
          </a:p>
        </p:txBody>
      </p:sp>
      <p:sp>
        <p:nvSpPr>
          <p:cNvPr id="9" name="Shape 7"/>
          <p:cNvSpPr/>
          <p:nvPr/>
        </p:nvSpPr>
        <p:spPr>
          <a:xfrm>
            <a:off x="11228832" y="6364224"/>
            <a:ext cx="73152" cy="73152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98480" y="6291072"/>
            <a:ext cx="502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B0BDD0"/>
                </a:solidFill>
              </a:rPr>
              <a:t>17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658368" y="1572768"/>
            <a:ext cx="2395728" cy="329184"/>
          </a:xfrm>
          <a:prstGeom prst="roundRect">
            <a:avLst>
              <a:gd name="adj" fmla="val 11111"/>
            </a:avLst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609344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9111F"/>
                </a:solidFill>
              </a:rPr>
              <a:t>Layer 1: Hook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58368" y="2048256"/>
            <a:ext cx="2395728" cy="658368"/>
          </a:xfrm>
          <a:prstGeom prst="roundRect">
            <a:avLst>
              <a:gd name="adj" fmla="val 11111"/>
            </a:avLst>
          </a:prstGeom>
          <a:solidFill>
            <a:srgbClr val="162035"/>
          </a:solidFill>
          <a:ln w="12700">
            <a:solidFill>
              <a:srgbClr val="A78BFA"/>
            </a:solidFill>
            <a:prstDash val="solid"/>
          </a:ln>
          <a:effectLst>
            <a:outerShdw sx="100000" sy="100000" kx="0" ky="0" algn="bl" rotWithShape="0" blurRad="19050" dist="3810" dir="270000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2139696"/>
            <a:ext cx="2249424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78BFA"/>
                </a:solidFill>
              </a:rPr>
              <a:t>Pre Hook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31520" y="2390607"/>
            <a:ext cx="2249424" cy="263347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8A9BB5"/>
                </a:solidFill>
              </a:rPr>
              <a:t>hookPermissionResult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658368" y="2889504"/>
            <a:ext cx="762000" cy="786384"/>
          </a:xfrm>
          <a:prstGeom prst="roundRect">
            <a:avLst>
              <a:gd name="adj" fmla="val 6000"/>
            </a:avLst>
          </a:prstGeom>
          <a:solidFill>
            <a:srgbClr val="1A2640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4944" y="2944368"/>
            <a:ext cx="6888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4CDD8"/>
                </a:solidFill>
              </a:rPr>
              <a:t>deny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694944" y="3255264"/>
            <a:ext cx="68884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87171"/>
                </a:solidFill>
              </a:rPr>
              <a:t>REJECT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 flipH="1">
            <a:off x="1039368" y="2706624"/>
            <a:ext cx="816864" cy="182880"/>
          </a:xfrm>
          <a:prstGeom prst="line">
            <a:avLst/>
          </a:prstGeom>
          <a:noFill/>
          <a:ln w="12700">
            <a:solidFill>
              <a:srgbClr val="A78BF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56944" y="2889504"/>
            <a:ext cx="762000" cy="786384"/>
          </a:xfrm>
          <a:prstGeom prst="roundRect">
            <a:avLst>
              <a:gd name="adj" fmla="val 6000"/>
            </a:avLst>
          </a:prstGeom>
          <a:solidFill>
            <a:srgbClr val="1A2640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493520" y="2944368"/>
            <a:ext cx="6888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4CDD8"/>
                </a:solidFill>
              </a:rPr>
              <a:t>allow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493520" y="3255264"/>
            <a:ext cx="68884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4D399"/>
                </a:solidFill>
              </a:rPr>
              <a:t>-&gt; Layer 2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 flipH="1">
            <a:off x="1837944" y="2706624"/>
            <a:ext cx="18288" cy="182880"/>
          </a:xfrm>
          <a:prstGeom prst="line">
            <a:avLst/>
          </a:prstGeom>
          <a:noFill/>
          <a:ln w="12700">
            <a:solidFill>
              <a:srgbClr val="A78BF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55520" y="2889504"/>
            <a:ext cx="762000" cy="786384"/>
          </a:xfrm>
          <a:prstGeom prst="roundRect">
            <a:avLst>
              <a:gd name="adj" fmla="val 6000"/>
            </a:avLst>
          </a:prstGeom>
          <a:solidFill>
            <a:srgbClr val="1A2640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292096" y="2944368"/>
            <a:ext cx="6888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4CDD8"/>
                </a:solidFill>
              </a:rPr>
              <a:t>ask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2292096" y="3255264"/>
            <a:ext cx="68884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A623"/>
                </a:solidFill>
              </a:rPr>
              <a:t>-&gt; Layer 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1856232" y="2706624"/>
            <a:ext cx="780288" cy="182880"/>
          </a:xfrm>
          <a:prstGeom prst="line">
            <a:avLst/>
          </a:prstGeom>
          <a:noFill/>
          <a:ln w="12700">
            <a:solidFill>
              <a:srgbClr val="A78BF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54096" y="2377440"/>
            <a:ext cx="292608" cy="914"/>
          </a:xfrm>
          <a:prstGeom prst="line">
            <a:avLst/>
          </a:prstGeom>
          <a:noFill/>
          <a:ln w="12700">
            <a:solidFill>
              <a:srgbClr val="A78BF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46704" y="1572768"/>
            <a:ext cx="2395728" cy="329184"/>
          </a:xfrm>
          <a:prstGeom prst="roundRect">
            <a:avLst>
              <a:gd name="adj" fmla="val 11111"/>
            </a:avLst>
          </a:prstGeom>
          <a:solidFill>
            <a:srgbClr val="4B8EF5"/>
          </a:solidFill>
          <a:ln w="12700">
            <a:solidFill>
              <a:srgbClr val="4B8EF5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19856" y="1609344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9111F"/>
                </a:solidFill>
              </a:rPr>
              <a:t>Layer 2: Rules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346704" y="2048256"/>
            <a:ext cx="2395728" cy="658368"/>
          </a:xfrm>
          <a:prstGeom prst="roundRect">
            <a:avLst>
              <a:gd name="adj" fmla="val 11111"/>
            </a:avLst>
          </a:prstGeom>
          <a:solidFill>
            <a:srgbClr val="162035"/>
          </a:solidFill>
          <a:ln w="12700">
            <a:solidFill>
              <a:srgbClr val="4B8EF5"/>
            </a:solidFill>
            <a:prstDash val="solid"/>
          </a:ln>
          <a:effectLst>
            <a:outerShdw sx="100000" sy="100000" kx="0" ky="0" algn="bl" rotWithShape="0" blurRad="19050" dist="3810" dir="2700000">
              <a:srgbClr val="000000">
                <a:alpha val="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419856" y="2139696"/>
            <a:ext cx="2249424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8EF5"/>
                </a:solidFill>
              </a:rPr>
              <a:t>checkRuleBasedPermissions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419856" y="2390607"/>
            <a:ext cx="2249424" cy="263347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8A9BB5"/>
                </a:solidFill>
              </a:rPr>
              <a:t>PermissionRule[]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3346704" y="2889504"/>
            <a:ext cx="762000" cy="786384"/>
          </a:xfrm>
          <a:prstGeom prst="roundRect">
            <a:avLst>
              <a:gd name="adj" fmla="val 6000"/>
            </a:avLst>
          </a:prstGeom>
          <a:solidFill>
            <a:srgbClr val="1A2640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83280" y="2944368"/>
            <a:ext cx="6888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4CDD8"/>
                </a:solidFill>
              </a:rPr>
              <a:t>rule deny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3383280" y="3255264"/>
            <a:ext cx="68884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87171"/>
                </a:solidFill>
              </a:rPr>
              <a:t>REJECT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 flipH="1">
            <a:off x="3727704" y="2706624"/>
            <a:ext cx="816864" cy="182880"/>
          </a:xfrm>
          <a:prstGeom prst="line">
            <a:avLst/>
          </a:prstGeom>
          <a:noFill/>
          <a:ln w="12700">
            <a:solidFill>
              <a:srgbClr val="4B8EF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145280" y="2889504"/>
            <a:ext cx="762000" cy="786384"/>
          </a:xfrm>
          <a:prstGeom prst="roundRect">
            <a:avLst>
              <a:gd name="adj" fmla="val 6000"/>
            </a:avLst>
          </a:prstGeom>
          <a:solidFill>
            <a:srgbClr val="1A2640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181856" y="2944368"/>
            <a:ext cx="6888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4CDD8"/>
                </a:solidFill>
              </a:rPr>
              <a:t>rule allow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181856" y="3255264"/>
            <a:ext cx="68884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4D399"/>
                </a:solidFill>
              </a:rPr>
              <a:t>ALLOW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 flipH="1">
            <a:off x="4526280" y="2706624"/>
            <a:ext cx="18288" cy="182880"/>
          </a:xfrm>
          <a:prstGeom prst="line">
            <a:avLst/>
          </a:prstGeom>
          <a:noFill/>
          <a:ln w="12700">
            <a:solidFill>
              <a:srgbClr val="4B8EF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943856" y="2889504"/>
            <a:ext cx="762000" cy="786384"/>
          </a:xfrm>
          <a:prstGeom prst="roundRect">
            <a:avLst>
              <a:gd name="adj" fmla="val 6000"/>
            </a:avLst>
          </a:prstGeom>
          <a:solidFill>
            <a:srgbClr val="1A2640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980432" y="2944368"/>
            <a:ext cx="6888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4CDD8"/>
                </a:solidFill>
              </a:rPr>
              <a:t>no match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4980432" y="3255264"/>
            <a:ext cx="68884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A623"/>
                </a:solidFill>
              </a:rPr>
              <a:t>-&gt; Layer 3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544568" y="2706624"/>
            <a:ext cx="780288" cy="182880"/>
          </a:xfrm>
          <a:prstGeom prst="line">
            <a:avLst/>
          </a:prstGeom>
          <a:noFill/>
          <a:ln w="12700">
            <a:solidFill>
              <a:srgbClr val="4B8EF5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742432" y="2377440"/>
            <a:ext cx="292608" cy="914"/>
          </a:xfrm>
          <a:prstGeom prst="line">
            <a:avLst/>
          </a:prstGeom>
          <a:noFill/>
          <a:ln w="12700">
            <a:solidFill>
              <a:srgbClr val="4B8EF5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035040" y="1572768"/>
            <a:ext cx="2395728" cy="329184"/>
          </a:xfrm>
          <a:prstGeom prst="roundRect">
            <a:avLst>
              <a:gd name="adj" fmla="val 11111"/>
            </a:avLst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108192" y="1609344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9111F"/>
                </a:solidFill>
              </a:rPr>
              <a:t>Layer 3: Classifier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6035040" y="2048256"/>
            <a:ext cx="2395728" cy="658368"/>
          </a:xfrm>
          <a:prstGeom prst="roundRect">
            <a:avLst>
              <a:gd name="adj" fmla="val 11111"/>
            </a:avLst>
          </a:prstGeom>
          <a:solidFill>
            <a:srgbClr val="162035"/>
          </a:solidFill>
          <a:ln w="12700">
            <a:solidFill>
              <a:srgbClr val="22D3EE"/>
            </a:solidFill>
            <a:prstDash val="solid"/>
          </a:ln>
          <a:effectLst>
            <a:outerShdw sx="100000" sy="100000" kx="0" ky="0" algn="bl" rotWithShape="0" blurRad="19050" dist="3810" dir="2700000">
              <a:srgbClr val="000000">
                <a:alpha val="8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6108192" y="2139696"/>
            <a:ext cx="2249424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2D3EE"/>
                </a:solidFill>
              </a:rPr>
              <a:t>bashClassifier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6108192" y="2390607"/>
            <a:ext cx="2249424" cy="263347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8A9BB5"/>
                </a:solidFill>
              </a:rPr>
              <a:t>BashTool only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6035040" y="2889504"/>
            <a:ext cx="762000" cy="786384"/>
          </a:xfrm>
          <a:prstGeom prst="roundRect">
            <a:avLst>
              <a:gd name="adj" fmla="val 6000"/>
            </a:avLst>
          </a:prstGeom>
          <a:solidFill>
            <a:srgbClr val="1A2640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71616" y="2944368"/>
            <a:ext cx="6888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4CDD8"/>
                </a:solidFill>
              </a:rPr>
              <a:t>safe pattern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6071616" y="3255264"/>
            <a:ext cx="68884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4D399"/>
                </a:solidFill>
              </a:rPr>
              <a:t>AUTO ALLOW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 flipH="1">
            <a:off x="6416040" y="2706624"/>
            <a:ext cx="816864" cy="182880"/>
          </a:xfrm>
          <a:prstGeom prst="line">
            <a:avLst/>
          </a:prstGeom>
          <a:noFill/>
          <a:ln w="12700">
            <a:solidFill>
              <a:srgbClr val="22D3EE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833616" y="2889504"/>
            <a:ext cx="762000" cy="786384"/>
          </a:xfrm>
          <a:prstGeom prst="roundRect">
            <a:avLst>
              <a:gd name="adj" fmla="val 6000"/>
            </a:avLst>
          </a:prstGeom>
          <a:solidFill>
            <a:srgbClr val="1A2640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870192" y="2944368"/>
            <a:ext cx="6888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4CDD8"/>
                </a:solidFill>
              </a:rPr>
              <a:t>dangerous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6870192" y="3255264"/>
            <a:ext cx="68884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A623"/>
                </a:solidFill>
              </a:rPr>
              <a:t>-&gt; Layer 4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 flipH="1">
            <a:off x="7214616" y="2706624"/>
            <a:ext cx="18288" cy="182880"/>
          </a:xfrm>
          <a:prstGeom prst="line">
            <a:avLst/>
          </a:prstGeom>
          <a:noFill/>
          <a:ln w="12700">
            <a:solidFill>
              <a:srgbClr val="22D3EE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632192" y="2889504"/>
            <a:ext cx="762000" cy="786384"/>
          </a:xfrm>
          <a:prstGeom prst="roundRect">
            <a:avLst>
              <a:gd name="adj" fmla="val 6000"/>
            </a:avLst>
          </a:prstGeom>
          <a:solidFill>
            <a:srgbClr val="1A2640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668768" y="2944368"/>
            <a:ext cx="6888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4CDD8"/>
                </a:solidFill>
              </a:rPr>
              <a:t>unknown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7668768" y="3255264"/>
            <a:ext cx="68884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A623"/>
                </a:solidFill>
              </a:rPr>
              <a:t>-&gt; Layer 4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232904" y="2706624"/>
            <a:ext cx="780288" cy="182880"/>
          </a:xfrm>
          <a:prstGeom prst="line">
            <a:avLst/>
          </a:prstGeom>
          <a:noFill/>
          <a:ln w="12700">
            <a:solidFill>
              <a:srgbClr val="22D3EE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430768" y="2377440"/>
            <a:ext cx="292608" cy="914"/>
          </a:xfrm>
          <a:prstGeom prst="line">
            <a:avLst/>
          </a:prstGeom>
          <a:noFill/>
          <a:ln w="12700">
            <a:solidFill>
              <a:srgbClr val="22D3EE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8723376" y="1572768"/>
            <a:ext cx="2395728" cy="329184"/>
          </a:xfrm>
          <a:prstGeom prst="roundRect">
            <a:avLst>
              <a:gd name="adj" fmla="val 11111"/>
            </a:avLst>
          </a:prstGeom>
          <a:solidFill>
            <a:srgbClr val="F5A623"/>
          </a:solidFill>
          <a:ln w="12700">
            <a:solidFill>
              <a:srgbClr val="F5A623">
                <a:alpha val="0"/>
              </a:srgbClr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796528" y="1609344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9111F"/>
                </a:solidFill>
              </a:rPr>
              <a:t>Layer 4: User UI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8723376" y="2048256"/>
            <a:ext cx="2395728" cy="658368"/>
          </a:xfrm>
          <a:prstGeom prst="roundRect">
            <a:avLst>
              <a:gd name="adj" fmla="val 11111"/>
            </a:avLst>
          </a:prstGeom>
          <a:solidFill>
            <a:srgbClr val="162035"/>
          </a:solidFill>
          <a:ln w="12700">
            <a:solidFill>
              <a:srgbClr val="F5A623"/>
            </a:solidFill>
            <a:prstDash val="solid"/>
          </a:ln>
          <a:effectLst>
            <a:outerShdw sx="100000" sy="100000" kx="0" ky="0" algn="bl" rotWithShape="0" blurRad="19050" dist="3810" dir="2700000">
              <a:srgbClr val="000000">
                <a:alpha val="8000"/>
              </a:srgbClr>
            </a:outerShdw>
          </a:effectLst>
        </p:spPr>
      </p:sp>
      <p:sp>
        <p:nvSpPr>
          <p:cNvPr id="68" name="Text 66"/>
          <p:cNvSpPr/>
          <p:nvPr/>
        </p:nvSpPr>
        <p:spPr>
          <a:xfrm>
            <a:off x="8796528" y="2139696"/>
            <a:ext cx="2249424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A623"/>
                </a:solidFill>
              </a:rPr>
              <a:t>canUseTool()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8796528" y="2390607"/>
            <a:ext cx="2249424" cy="263347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8A9BB5"/>
                </a:solidFill>
              </a:rPr>
              <a:t>最终兜底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8723376" y="2889504"/>
            <a:ext cx="762000" cy="786384"/>
          </a:xfrm>
          <a:prstGeom prst="roundRect">
            <a:avLst>
              <a:gd name="adj" fmla="val 6000"/>
            </a:avLst>
          </a:prstGeom>
          <a:solidFill>
            <a:srgbClr val="1A2640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8759952" y="2944368"/>
            <a:ext cx="6888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4CDD8"/>
                </a:solidFill>
              </a:rPr>
              <a:t>user allow</a:t>
            </a:r>
            <a:endParaRPr lang="en-US" sz="850" dirty="0"/>
          </a:p>
        </p:txBody>
      </p:sp>
      <p:sp>
        <p:nvSpPr>
          <p:cNvPr id="72" name="Text 70"/>
          <p:cNvSpPr/>
          <p:nvPr/>
        </p:nvSpPr>
        <p:spPr>
          <a:xfrm>
            <a:off x="8759952" y="3255264"/>
            <a:ext cx="68884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4D399"/>
                </a:solidFill>
              </a:rPr>
              <a:t>ALLOW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 flipH="1">
            <a:off x="9104376" y="2706624"/>
            <a:ext cx="816864" cy="182880"/>
          </a:xfrm>
          <a:prstGeom prst="line">
            <a:avLst/>
          </a:prstGeom>
          <a:noFill/>
          <a:ln w="12700">
            <a:solidFill>
              <a:srgbClr val="F5A623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521952" y="2889504"/>
            <a:ext cx="762000" cy="786384"/>
          </a:xfrm>
          <a:prstGeom prst="roundRect">
            <a:avLst>
              <a:gd name="adj" fmla="val 6000"/>
            </a:avLst>
          </a:prstGeom>
          <a:solidFill>
            <a:srgbClr val="1A2640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558528" y="2944368"/>
            <a:ext cx="6888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4CDD8"/>
                </a:solidFill>
              </a:rPr>
              <a:t>user deny</a:t>
            </a:r>
            <a:endParaRPr lang="en-US" sz="850" dirty="0"/>
          </a:p>
        </p:txBody>
      </p:sp>
      <p:sp>
        <p:nvSpPr>
          <p:cNvPr id="76" name="Text 74"/>
          <p:cNvSpPr/>
          <p:nvPr/>
        </p:nvSpPr>
        <p:spPr>
          <a:xfrm>
            <a:off x="9558528" y="3255264"/>
            <a:ext cx="68884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87171"/>
                </a:solidFill>
              </a:rPr>
              <a:t>REJECT</a:t>
            </a:r>
            <a:endParaRPr lang="en-US" sz="900" dirty="0"/>
          </a:p>
        </p:txBody>
      </p:sp>
      <p:sp>
        <p:nvSpPr>
          <p:cNvPr id="77" name="Shape 75"/>
          <p:cNvSpPr/>
          <p:nvPr/>
        </p:nvSpPr>
        <p:spPr>
          <a:xfrm flipH="1">
            <a:off x="9902952" y="2706624"/>
            <a:ext cx="18288" cy="182880"/>
          </a:xfrm>
          <a:prstGeom prst="line">
            <a:avLst/>
          </a:prstGeom>
          <a:noFill/>
          <a:ln w="12700">
            <a:solidFill>
              <a:srgbClr val="F5A623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10320528" y="2889504"/>
            <a:ext cx="762000" cy="786384"/>
          </a:xfrm>
          <a:prstGeom prst="roundRect">
            <a:avLst>
              <a:gd name="adj" fmla="val 6000"/>
            </a:avLst>
          </a:prstGeom>
          <a:solidFill>
            <a:srgbClr val="1A2640"/>
          </a:solidFill>
          <a:ln w="12700">
            <a:solidFill>
              <a:srgbClr val="4B8EF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10357104" y="2944368"/>
            <a:ext cx="6888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4CDD8"/>
                </a:solidFill>
              </a:rPr>
              <a:t>always allow</a:t>
            </a:r>
            <a:endParaRPr lang="en-US" sz="850" dirty="0"/>
          </a:p>
        </p:txBody>
      </p:sp>
      <p:sp>
        <p:nvSpPr>
          <p:cNvPr id="80" name="Text 78"/>
          <p:cNvSpPr/>
          <p:nvPr/>
        </p:nvSpPr>
        <p:spPr>
          <a:xfrm>
            <a:off x="10357104" y="3255264"/>
            <a:ext cx="68884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B8EF5"/>
                </a:solidFill>
              </a:rPr>
              <a:t>write rule</a:t>
            </a:r>
            <a:endParaRPr lang="en-US" sz="900" dirty="0"/>
          </a:p>
        </p:txBody>
      </p:sp>
      <p:sp>
        <p:nvSpPr>
          <p:cNvPr id="81" name="Shape 79"/>
          <p:cNvSpPr/>
          <p:nvPr/>
        </p:nvSpPr>
        <p:spPr>
          <a:xfrm>
            <a:off x="9921240" y="2706624"/>
            <a:ext cx="780288" cy="182880"/>
          </a:xfrm>
          <a:prstGeom prst="line">
            <a:avLst/>
          </a:prstGeom>
          <a:noFill/>
          <a:ln w="12700">
            <a:solidFill>
              <a:srgbClr val="F5A623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658368" y="3657600"/>
            <a:ext cx="10835640" cy="2176272"/>
          </a:xfrm>
          <a:prstGeom prst="roundRect">
            <a:avLst>
              <a:gd name="adj" fmla="val 2941"/>
            </a:avLst>
          </a:prstGeom>
          <a:solidFill>
            <a:srgbClr val="162035"/>
          </a:solidFill>
          <a:ln w="12700">
            <a:solidFill>
              <a:srgbClr val="2A3F5F"/>
            </a:solidFill>
            <a:prstDash val="solid"/>
          </a:ln>
          <a:effectLst>
            <a:outerShdw sx="100000" sy="100000" kx="0" ky="0" algn="bl" rotWithShape="0" blurRad="19050" dist="4445" dir="2700000">
              <a:srgbClr val="000000">
                <a:alpha val="10000"/>
              </a:srgbClr>
            </a:outerShdw>
          </a:effectLst>
        </p:spPr>
      </p:sp>
      <p:sp>
        <p:nvSpPr>
          <p:cNvPr id="83" name="Text 81"/>
          <p:cNvSpPr/>
          <p:nvPr/>
        </p:nvSpPr>
        <p:spPr>
          <a:xfrm>
            <a:off x="841248" y="3785616"/>
            <a:ext cx="10469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B923C"/>
                </a:solidFill>
              </a:rPr>
              <a:t>权限系统的工程意义</a:t>
            </a:r>
            <a:endParaRPr lang="en-US" sz="1250" dirty="0"/>
          </a:p>
        </p:txBody>
      </p:sp>
      <p:sp>
        <p:nvSpPr>
          <p:cNvPr id="84" name="Text 82"/>
          <p:cNvSpPr/>
          <p:nvPr/>
        </p:nvSpPr>
        <p:spPr>
          <a:xfrm>
            <a:off x="841248" y="3986784"/>
            <a:ext cx="2487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7171"/>
                </a:solidFill>
              </a:rPr>
              <a:t>不可绕过</a:t>
            </a:r>
            <a:endParaRPr lang="en-US" sz="1050" dirty="0"/>
          </a:p>
        </p:txBody>
      </p:sp>
      <p:sp>
        <p:nvSpPr>
          <p:cNvPr id="85" name="Text 83"/>
          <p:cNvSpPr/>
          <p:nvPr/>
        </p:nvSpPr>
        <p:spPr>
          <a:xfrm>
            <a:off x="841248" y="4224528"/>
            <a:ext cx="248716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C4CDD8"/>
                </a:solidFill>
              </a:rPr>
              <a:t>权限检查在 toolExecution.ts 主路径上，不是可选 middleware。跳过执行 = 跳过权限检查 = 工具不会被调用。</a:t>
            </a:r>
            <a:endParaRPr lang="en-US" sz="950" dirty="0"/>
          </a:p>
        </p:txBody>
      </p:sp>
      <p:sp>
        <p:nvSpPr>
          <p:cNvPr id="86" name="Shape 84"/>
          <p:cNvSpPr/>
          <p:nvPr/>
        </p:nvSpPr>
        <p:spPr>
          <a:xfrm>
            <a:off x="3346704" y="3986784"/>
            <a:ext cx="13716" cy="1645920"/>
          </a:xfrm>
          <a:prstGeom prst="rect">
            <a:avLst/>
          </a:prstGeom>
          <a:solidFill>
            <a:srgbClr val="2A3F5F"/>
          </a:solidFill>
          <a:ln w="12700">
            <a:solidFill>
              <a:srgbClr val="2A3F5F">
                <a:alpha val="0"/>
              </a:srgbClr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3529584" y="3986784"/>
            <a:ext cx="2487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78BFA"/>
                </a:solidFill>
              </a:rPr>
              <a:t>层层叠加</a:t>
            </a:r>
            <a:endParaRPr lang="en-US" sz="1050" dirty="0"/>
          </a:p>
        </p:txBody>
      </p:sp>
      <p:sp>
        <p:nvSpPr>
          <p:cNvPr id="88" name="Text 86"/>
          <p:cNvSpPr/>
          <p:nvPr/>
        </p:nvSpPr>
        <p:spPr>
          <a:xfrm>
            <a:off x="3529584" y="4224528"/>
            <a:ext cx="248716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C4CDD8"/>
                </a:solidFill>
              </a:rPr>
              <a:t>Hook deny 最优先，但 Hook allow 不代表通过——Rule 层仍可覆盖。这使企业策略 &gt; 用户偏好成为可能。</a:t>
            </a:r>
            <a:endParaRPr lang="en-US" sz="950" dirty="0"/>
          </a:p>
        </p:txBody>
      </p:sp>
      <p:sp>
        <p:nvSpPr>
          <p:cNvPr id="89" name="Shape 87"/>
          <p:cNvSpPr/>
          <p:nvPr/>
        </p:nvSpPr>
        <p:spPr>
          <a:xfrm>
            <a:off x="6035040" y="3986784"/>
            <a:ext cx="13716" cy="1645920"/>
          </a:xfrm>
          <a:prstGeom prst="rect">
            <a:avLst/>
          </a:prstGeom>
          <a:solidFill>
            <a:srgbClr val="2A3F5F"/>
          </a:solidFill>
          <a:ln w="12700">
            <a:solidFill>
              <a:srgbClr val="2A3F5F">
                <a:alpha val="0"/>
              </a:srgbClr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217920" y="3986784"/>
            <a:ext cx="2487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4D399"/>
                </a:solidFill>
              </a:rPr>
              <a:t>自动化友好</a:t>
            </a:r>
            <a:endParaRPr lang="en-US" sz="1050" dirty="0"/>
          </a:p>
        </p:txBody>
      </p:sp>
      <p:sp>
        <p:nvSpPr>
          <p:cNvPr id="91" name="Text 89"/>
          <p:cNvSpPr/>
          <p:nvPr/>
        </p:nvSpPr>
        <p:spPr>
          <a:xfrm>
            <a:off x="6217920" y="4224528"/>
            <a:ext cx="248716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C4CDD8"/>
                </a:solidFill>
              </a:rPr>
              <a:t>bashClassifier + yoloClassifier 让 auto 模式下安全命令跳过确认，同时保留对 rm -rf / sudo 等的拦截。</a:t>
            </a:r>
            <a:endParaRPr lang="en-US" sz="950" dirty="0"/>
          </a:p>
        </p:txBody>
      </p:sp>
      <p:sp>
        <p:nvSpPr>
          <p:cNvPr id="92" name="Shape 90"/>
          <p:cNvSpPr/>
          <p:nvPr/>
        </p:nvSpPr>
        <p:spPr>
          <a:xfrm>
            <a:off x="8723376" y="3986784"/>
            <a:ext cx="13716" cy="1645920"/>
          </a:xfrm>
          <a:prstGeom prst="rect">
            <a:avLst/>
          </a:prstGeom>
          <a:solidFill>
            <a:srgbClr val="2A3F5F"/>
          </a:solidFill>
          <a:ln w="12700">
            <a:solidFill>
              <a:srgbClr val="2A3F5F">
                <a:alpha val="0"/>
              </a:srgbClr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8906256" y="3986784"/>
            <a:ext cx="2487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A623"/>
                </a:solidFill>
              </a:rPr>
              <a:t>可追溯</a:t>
            </a:r>
            <a:endParaRPr lang="en-US" sz="1050" dirty="0"/>
          </a:p>
        </p:txBody>
      </p:sp>
      <p:sp>
        <p:nvSpPr>
          <p:cNvPr id="94" name="Text 92"/>
          <p:cNvSpPr/>
          <p:nvPr/>
        </p:nvSpPr>
        <p:spPr>
          <a:xfrm>
            <a:off x="8906256" y="4224528"/>
            <a:ext cx="248716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C4CDD8"/>
                </a:solidFill>
              </a:rPr>
              <a:t>permissionDenials 在 QueryEngine 中累积，denialTracking.ts 记录完整决策链路，可用于事后审计。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9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943600" cy="6858000"/>
          </a:xfrm>
          <a:prstGeom prst="rect">
            <a:avLst/>
          </a:prstGeom>
          <a:solidFill>
            <a:srgbClr val="0D1829"/>
          </a:solidFill>
          <a:ln w="12700">
            <a:solidFill>
              <a:srgbClr val="0D182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0" y="0"/>
            <a:ext cx="6248095" cy="685800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0" y="0"/>
            <a:ext cx="6248095" cy="13716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0" y="960120"/>
            <a:ext cx="6248095" cy="13716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0" y="1920240"/>
            <a:ext cx="6248095" cy="13716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0" y="2880360"/>
            <a:ext cx="6248095" cy="13716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0" y="3840480"/>
            <a:ext cx="6248095" cy="13716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0" y="4800600"/>
            <a:ext cx="6248095" cy="13716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943600" y="5760720"/>
            <a:ext cx="6248095" cy="13716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43600" y="6720840"/>
            <a:ext cx="6248095" cy="13716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109728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F5A623"/>
                </a:solidFill>
              </a:rPr>
              <a:t>SECTION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914400" y="14173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E8EDF5"/>
                </a:solidFill>
              </a:rPr>
              <a:t>Multi-Agent</a:t>
            </a:r>
            <a:endParaRPr lang="en-US" sz="2700" dirty="0"/>
          </a:p>
          <a:p>
            <a:pPr indent="0" marL="0">
              <a:buNone/>
            </a:pPr>
            <a:r>
              <a:rPr lang="en-US" sz="2700" b="1" dirty="0">
                <a:solidFill>
                  <a:srgbClr val="E8EDF5"/>
                </a:solidFill>
              </a:rPr>
              <a:t>Swarm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914400" y="3108960"/>
            <a:ext cx="4206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9BB5"/>
                </a:solidFill>
              </a:rPr>
              <a:t>多 Agent 不是演示特性，而是带状态、可追踪、可治理的 Actor 子系统。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766560" y="164592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FFFFF">
                    <a:alpha val="80000"/>
                  </a:srgbClr>
                </a:solidFill>
              </a:rPr>
              <a:t>04</a:t>
            </a:r>
            <a:endParaRPr lang="en-US" sz="8000" dirty="0"/>
          </a:p>
        </p:txBody>
      </p:sp>
      <p:sp>
        <p:nvSpPr>
          <p:cNvPr id="16" name="Text 14"/>
          <p:cNvSpPr/>
          <p:nvPr/>
        </p:nvSpPr>
        <p:spPr>
          <a:xfrm>
            <a:off x="6583680" y="3200400"/>
            <a:ext cx="5029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>
                    <a:alpha val="85000"/>
                  </a:srgbClr>
                </a:solidFill>
              </a:rPr>
              <a:t>主 agent 只是第一个 agent，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>
                    <a:alpha val="85000"/>
                  </a:srgbClr>
                </a:solidFill>
              </a:rPr>
              <a:t>系统从一开始就允许递归生成更多。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94360" y="6254496"/>
            <a:ext cx="11002975" cy="13716"/>
          </a:xfrm>
          <a:prstGeom prst="rect">
            <a:avLst/>
          </a:prstGeom>
          <a:solidFill>
            <a:srgbClr val="2A3F5F"/>
          </a:solidFill>
          <a:ln w="12700">
            <a:solidFill>
              <a:srgbClr val="2A3F5F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6309360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8A9BB5"/>
                </a:solidFill>
              </a:rPr>
              <a:t>Claude Code Sourcemap 源码解读 · 仅供研究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11228832" y="6364224"/>
            <a:ext cx="73152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698480" y="6291072"/>
            <a:ext cx="502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B0BDD0"/>
                </a:solidFill>
              </a:rPr>
              <a:t>18</a:t>
            </a:r>
            <a:endParaRPr lang="en-US" sz="82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9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" y="274320"/>
            <a:ext cx="1609344" cy="201168"/>
          </a:xfrm>
          <a:prstGeom prst="roundRect">
            <a:avLst>
              <a:gd name="adj" fmla="val 18182"/>
            </a:avLst>
          </a:prstGeom>
          <a:solidFill>
            <a:srgbClr val="1E2E4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288036"/>
            <a:ext cx="3200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A78BFA"/>
                </a:solidFill>
              </a:rPr>
              <a:t>Multi-Agent · 01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58368" y="54864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8EDF5"/>
                </a:solidFill>
              </a:rPr>
              <a:t>AgentTool → runAgent → inProcessRunner：从工具调用到子 Agent 运行时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58368" y="1115568"/>
            <a:ext cx="10515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B5"/>
                </a:solidFill>
              </a:rPr>
              <a:t>这条链路证明：多 Agent 是 Query Loop 的内生能力，不是外部 orchestration shell。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94360" y="6254496"/>
            <a:ext cx="11002975" cy="13716"/>
          </a:xfrm>
          <a:prstGeom prst="rect">
            <a:avLst/>
          </a:prstGeom>
          <a:solidFill>
            <a:srgbClr val="2A3F5F"/>
          </a:solidFill>
          <a:ln w="12700">
            <a:solidFill>
              <a:srgbClr val="2A3F5F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6309360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8A9BB5"/>
                </a:solidFill>
              </a:rPr>
              <a:t>Claude Code Sourcemap 源码解读 · 仅供研究</a:t>
            </a:r>
            <a:endParaRPr lang="en-US" sz="780" dirty="0"/>
          </a:p>
        </p:txBody>
      </p:sp>
      <p:sp>
        <p:nvSpPr>
          <p:cNvPr id="9" name="Shape 7"/>
          <p:cNvSpPr/>
          <p:nvPr/>
        </p:nvSpPr>
        <p:spPr>
          <a:xfrm>
            <a:off x="11228832" y="6364224"/>
            <a:ext cx="73152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98480" y="6291072"/>
            <a:ext cx="502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B0BDD0"/>
                </a:solidFill>
              </a:rPr>
              <a:t>19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566928" y="1600200"/>
            <a:ext cx="2103120" cy="1005840"/>
          </a:xfrm>
          <a:prstGeom prst="roundRect">
            <a:avLst>
              <a:gd name="adj" fmla="val 6364"/>
            </a:avLst>
          </a:prstGeom>
          <a:solidFill>
            <a:srgbClr val="162035"/>
          </a:solidFill>
          <a:ln w="12700">
            <a:solidFill>
              <a:srgbClr val="4B8E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" y="1600200"/>
            <a:ext cx="2103120" cy="91440"/>
          </a:xfrm>
          <a:prstGeom prst="rect">
            <a:avLst/>
          </a:prstGeom>
          <a:solidFill>
            <a:srgbClr val="4B8EF5"/>
          </a:solidFill>
          <a:ln w="12700">
            <a:solidFill>
              <a:srgbClr val="4B8EF5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1737360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8EF5"/>
                </a:solidFill>
              </a:rPr>
              <a:t>模型调用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4B8EF5"/>
                </a:solidFill>
              </a:rPr>
              <a:t>AgentTool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58368" y="2157984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8A9BB5"/>
                </a:solidFill>
              </a:rPr>
              <a:t>像调用普通工具一样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2679192" y="2029968"/>
            <a:ext cx="256032" cy="182880"/>
          </a:xfrm>
          <a:prstGeom prst="chevron">
            <a:avLst/>
          </a:prstGeom>
          <a:solidFill>
            <a:srgbClr val="4B8EF5"/>
          </a:solidFill>
          <a:ln w="12700">
            <a:solidFill>
              <a:srgbClr val="4B8EF5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98648" y="1600200"/>
            <a:ext cx="2103120" cy="1005840"/>
          </a:xfrm>
          <a:prstGeom prst="roundRect">
            <a:avLst>
              <a:gd name="adj" fmla="val 6364"/>
            </a:avLst>
          </a:prstGeom>
          <a:solidFill>
            <a:srgbClr val="162035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98648" y="1600200"/>
            <a:ext cx="2103120" cy="9144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90088" y="1737360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78BFA"/>
                </a:solidFill>
              </a:rPr>
              <a:t>AgentTool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A78BFA"/>
                </a:solidFill>
              </a:rPr>
              <a:t>解析参数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990088" y="2157984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8A9BB5"/>
                </a:solidFill>
              </a:rPr>
              <a:t>prompt / type / mode</a:t>
            </a:r>
            <a:endParaRPr lang="en-US" sz="88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8A9BB5"/>
                </a:solidFill>
              </a:rPr>
              <a:t>isolation / cwd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5010912" y="2029968"/>
            <a:ext cx="256032" cy="182880"/>
          </a:xfrm>
          <a:prstGeom prst="chevron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230368" y="1600200"/>
            <a:ext cx="2103120" cy="1005840"/>
          </a:xfrm>
          <a:prstGeom prst="roundRect">
            <a:avLst>
              <a:gd name="adj" fmla="val 6364"/>
            </a:avLst>
          </a:prstGeom>
          <a:solidFill>
            <a:srgbClr val="162035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230368" y="1600200"/>
            <a:ext cx="2103120" cy="914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21808" y="1737360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A623"/>
                </a:solidFill>
              </a:rPr>
              <a:t>runAgent()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5A623"/>
                </a:solidFill>
              </a:rPr>
              <a:t>构建子运行时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321808" y="2157984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8A9BB5"/>
                </a:solidFill>
              </a:rPr>
              <a:t>agentId / transcript</a:t>
            </a:r>
            <a:endParaRPr lang="en-US" sz="88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8A9BB5"/>
                </a:solidFill>
              </a:rPr>
              <a:t>裁剪上下文 / 初始化</a:t>
            </a:r>
            <a:endParaRPr lang="en-US" sz="880" dirty="0"/>
          </a:p>
        </p:txBody>
      </p:sp>
      <p:sp>
        <p:nvSpPr>
          <p:cNvPr id="25" name="Shape 23"/>
          <p:cNvSpPr/>
          <p:nvPr/>
        </p:nvSpPr>
        <p:spPr>
          <a:xfrm>
            <a:off x="7342632" y="2029968"/>
            <a:ext cx="256032" cy="182880"/>
          </a:xfrm>
          <a:prstGeom prst="chevron">
            <a:avLst/>
          </a:prstGeom>
          <a:solidFill>
            <a:srgbClr val="F5A623"/>
          </a:solidFill>
          <a:ln w="12700">
            <a:solidFill>
              <a:srgbClr val="F5A623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562088" y="1600200"/>
            <a:ext cx="2103120" cy="1005840"/>
          </a:xfrm>
          <a:prstGeom prst="roundRect">
            <a:avLst>
              <a:gd name="adj" fmla="val 6364"/>
            </a:avLst>
          </a:prstGeom>
          <a:solidFill>
            <a:srgbClr val="162035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562088" y="1600200"/>
            <a:ext cx="2103120" cy="91440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653528" y="1737360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B923C"/>
                </a:solidFill>
              </a:rPr>
              <a:t>inProcessRunner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B923C"/>
                </a:solidFill>
              </a:rPr>
              <a:t>或 background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653528" y="2157984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8A9BB5"/>
                </a:solidFill>
              </a:rPr>
              <a:t>context 隔离</a:t>
            </a:r>
            <a:endParaRPr lang="en-US" sz="88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8A9BB5"/>
                </a:solidFill>
              </a:rPr>
              <a:t>共享终端</a:t>
            </a:r>
            <a:endParaRPr lang="en-US" sz="880" dirty="0"/>
          </a:p>
        </p:txBody>
      </p:sp>
      <p:sp>
        <p:nvSpPr>
          <p:cNvPr id="30" name="Shape 28"/>
          <p:cNvSpPr/>
          <p:nvPr/>
        </p:nvSpPr>
        <p:spPr>
          <a:xfrm>
            <a:off x="9674352" y="2029968"/>
            <a:ext cx="256032" cy="182880"/>
          </a:xfrm>
          <a:prstGeom prst="chevron">
            <a:avLst/>
          </a:prstGeom>
          <a:solidFill>
            <a:srgbClr val="FB923C"/>
          </a:solidFill>
          <a:ln w="12700">
            <a:solidFill>
              <a:srgbClr val="FB923C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893808" y="1600200"/>
            <a:ext cx="2103120" cy="1005840"/>
          </a:xfrm>
          <a:prstGeom prst="roundRect">
            <a:avLst>
              <a:gd name="adj" fmla="val 6364"/>
            </a:avLst>
          </a:prstGeom>
          <a:solidFill>
            <a:srgbClr val="162035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893808" y="1600200"/>
            <a:ext cx="2103120" cy="9144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985248" y="1737360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7171"/>
                </a:solidFill>
              </a:rPr>
              <a:t>query.ts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87171"/>
                </a:solidFill>
              </a:rPr>
              <a:t>子代理循环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9985248" y="2157984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8A9BB5"/>
                </a:solidFill>
              </a:rPr>
              <a:t>完整 agent loop</a:t>
            </a:r>
            <a:endParaRPr lang="en-US" sz="88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8A9BB5"/>
                </a:solidFill>
              </a:rPr>
              <a:t>复用主内核</a:t>
            </a:r>
            <a:endParaRPr lang="en-US" sz="880" dirty="0"/>
          </a:p>
        </p:txBody>
      </p:sp>
      <p:sp>
        <p:nvSpPr>
          <p:cNvPr id="35" name="Shape 33"/>
          <p:cNvSpPr/>
          <p:nvPr/>
        </p:nvSpPr>
        <p:spPr>
          <a:xfrm>
            <a:off x="621792" y="2926080"/>
            <a:ext cx="5376672" cy="2798064"/>
          </a:xfrm>
          <a:prstGeom prst="roundRect">
            <a:avLst>
              <a:gd name="adj" fmla="val 2288"/>
            </a:avLst>
          </a:prstGeom>
          <a:solidFill>
            <a:srgbClr val="162035"/>
          </a:solidFill>
          <a:ln w="12700">
            <a:solidFill>
              <a:srgbClr val="2A3F5F"/>
            </a:solidFill>
            <a:prstDash val="solid"/>
          </a:ln>
          <a:effectLst>
            <a:outerShdw sx="100000" sy="100000" kx="0" ky="0" algn="bl" rotWithShape="0" blurRad="19050" dist="4445" dir="2700000">
              <a:srgbClr val="000000">
                <a:alpha val="1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804672" y="3054096"/>
            <a:ext cx="50109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A623"/>
                </a:solidFill>
              </a:rPr>
              <a:t>runAgent() 关键逻辑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804672" y="3346704"/>
            <a:ext cx="501091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4CDD8"/>
                </a:solidFill>
              </a:rPr>
              <a:t>• 计算子代理使用的 model（可与父代理不同）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4CDD8"/>
                </a:solidFill>
              </a:rPr>
              <a:t>• 创建 agentId，设置 transcript 子目录与 trace 层级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4CDD8"/>
                </a:solidFill>
              </a:rPr>
              <a:t>• 构造 initialMessages，过滤 incomplete tool calls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4CDD8"/>
                </a:solidFill>
              </a:rPr>
              <a:t>• 根据 agent type 裁剪 claudeMd / gitStatus 等上下文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4CDD8"/>
                </a:solidFill>
              </a:rPr>
              <a:t>• 子代理不继承父代理所有上下文——这是关键设计决策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4CDD8"/>
                </a:solidFill>
              </a:rPr>
              <a:t>• 最终调用 query()，形成子代理递归 loop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153912" y="2926080"/>
            <a:ext cx="5413248" cy="2798064"/>
          </a:xfrm>
          <a:prstGeom prst="roundRect">
            <a:avLst>
              <a:gd name="adj" fmla="val 2288"/>
            </a:avLst>
          </a:prstGeom>
          <a:solidFill>
            <a:srgbClr val="1A2640"/>
          </a:solidFill>
          <a:ln w="12700">
            <a:solidFill>
              <a:srgbClr val="2A3F5F"/>
            </a:solidFill>
            <a:prstDash val="solid"/>
          </a:ln>
          <a:effectLst>
            <a:outerShdw sx="100000" sy="100000" kx="0" ky="0" algn="bl" rotWithShape="0" blurRad="19050" dist="4445" dir="2700000">
              <a:srgbClr val="000000">
                <a:alpha val="10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6336792" y="3054096"/>
            <a:ext cx="50474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78BFA"/>
                </a:solidFill>
              </a:rPr>
              <a:t>inProcessRunner 额外职责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6336792" y="3346704"/>
            <a:ext cx="504748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4CDD8"/>
                </a:solidFill>
              </a:rPr>
              <a:t>• AsyncLocalStorage / teammate context 做上下文隔离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4CDD8"/>
                </a:solidFill>
              </a:rPr>
              <a:t>• 把进度更新和 AppState 写回 leader 可见状态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4CDD8"/>
                </a:solidFill>
              </a:rPr>
              <a:t>• 完成后给 leader 发 idle notification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4CDD8"/>
                </a:solidFill>
              </a:rPr>
              <a:t>• 支持 plan mode approval flow / abort cleanup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4CDD8"/>
                </a:solidFill>
              </a:rPr>
              <a:t>• 权限申请优先通过 leader UI bridge，不可用时降级为 mailbox sync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9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" y="274320"/>
            <a:ext cx="1609344" cy="201168"/>
          </a:xfrm>
          <a:prstGeom prst="roundRect">
            <a:avLst>
              <a:gd name="adj" fmla="val 18182"/>
            </a:avLst>
          </a:prstGeom>
          <a:solidFill>
            <a:srgbClr val="1E2E4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288036"/>
            <a:ext cx="3200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A78BFA"/>
                </a:solidFill>
              </a:rPr>
              <a:t>Multi-Agent · 02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58368" y="54864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8EDF5"/>
                </a:solidFill>
              </a:rPr>
              <a:t>Teammate 是持续存活的 Actor，而不是一次性函数调用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58368" y="1115568"/>
            <a:ext cx="10515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B5"/>
                </a:solidFill>
              </a:rPr>
              <a:t>waitForNextPromptOrShutdown() 实现的 idle 循环，让 subagent 能响应多轮任务。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94360" y="6254496"/>
            <a:ext cx="11002975" cy="13716"/>
          </a:xfrm>
          <a:prstGeom prst="rect">
            <a:avLst/>
          </a:prstGeom>
          <a:solidFill>
            <a:srgbClr val="2A3F5F"/>
          </a:solidFill>
          <a:ln w="12700">
            <a:solidFill>
              <a:srgbClr val="2A3F5F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6309360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8A9BB5"/>
                </a:solidFill>
              </a:rPr>
              <a:t>Claude Code Sourcemap 源码解读 · 仅供研究</a:t>
            </a:r>
            <a:endParaRPr lang="en-US" sz="780" dirty="0"/>
          </a:p>
        </p:txBody>
      </p:sp>
      <p:sp>
        <p:nvSpPr>
          <p:cNvPr id="9" name="Shape 7"/>
          <p:cNvSpPr/>
          <p:nvPr/>
        </p:nvSpPr>
        <p:spPr>
          <a:xfrm>
            <a:off x="11228832" y="6364224"/>
            <a:ext cx="73152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98480" y="6291072"/>
            <a:ext cx="502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B0BDD0"/>
                </a:solidFill>
              </a:rPr>
              <a:t>20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713232" y="1691640"/>
            <a:ext cx="1645920" cy="841248"/>
          </a:xfrm>
          <a:prstGeom prst="roundRect">
            <a:avLst>
              <a:gd name="adj" fmla="val 7609"/>
            </a:avLst>
          </a:prstGeom>
          <a:solidFill>
            <a:srgbClr val="162035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86384" y="1892808"/>
            <a:ext cx="149961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4D399"/>
                </a:solidFill>
              </a:rPr>
              <a:t>idle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395728" y="2002536"/>
            <a:ext cx="256032" cy="182880"/>
          </a:xfrm>
          <a:prstGeom prst="chevron">
            <a:avLst/>
          </a:prstGeom>
          <a:solidFill>
            <a:srgbClr val="34D399"/>
          </a:solidFill>
          <a:ln w="12700">
            <a:solidFill>
              <a:srgbClr val="34D399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42032" y="1691640"/>
            <a:ext cx="1645920" cy="841248"/>
          </a:xfrm>
          <a:prstGeom prst="roundRect">
            <a:avLst>
              <a:gd name="adj" fmla="val 7609"/>
            </a:avLst>
          </a:prstGeom>
          <a:solidFill>
            <a:srgbClr val="162035"/>
          </a:solidFill>
          <a:ln w="12700">
            <a:solidFill>
              <a:srgbClr val="4B8E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15184" y="1892808"/>
            <a:ext cx="149961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8EF5"/>
                </a:solidFill>
              </a:rPr>
              <a:t>check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4B8EF5"/>
                </a:solidFill>
              </a:rPr>
              <a:t>pending msgs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224528" y="2002536"/>
            <a:ext cx="256032" cy="182880"/>
          </a:xfrm>
          <a:prstGeom prst="chevron">
            <a:avLst/>
          </a:prstGeom>
          <a:solidFill>
            <a:srgbClr val="4B8EF5"/>
          </a:solidFill>
          <a:ln w="12700">
            <a:solidFill>
              <a:srgbClr val="4B8EF5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70832" y="1691640"/>
            <a:ext cx="1645920" cy="841248"/>
          </a:xfrm>
          <a:prstGeom prst="roundRect">
            <a:avLst>
              <a:gd name="adj" fmla="val 7609"/>
            </a:avLst>
          </a:prstGeom>
          <a:solidFill>
            <a:srgbClr val="162035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43984" y="1892808"/>
            <a:ext cx="149961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78BFA"/>
                </a:solidFill>
              </a:rPr>
              <a:t>poll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A78BFA"/>
                </a:solidFill>
              </a:rPr>
              <a:t>mailbox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053328" y="2002536"/>
            <a:ext cx="256032" cy="182880"/>
          </a:xfrm>
          <a:prstGeom prst="chevron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99632" y="1691640"/>
            <a:ext cx="1645920" cy="841248"/>
          </a:xfrm>
          <a:prstGeom prst="roundRect">
            <a:avLst>
              <a:gd name="adj" fmla="val 7609"/>
            </a:avLst>
          </a:prstGeom>
          <a:solidFill>
            <a:srgbClr val="162035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72784" y="1892808"/>
            <a:ext cx="149961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A623"/>
                </a:solidFill>
              </a:rPr>
              <a:t>claim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5A623"/>
                </a:solidFill>
              </a:rPr>
              <a:t>team task?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882128" y="2002536"/>
            <a:ext cx="256032" cy="182880"/>
          </a:xfrm>
          <a:prstGeom prst="chevron">
            <a:avLst/>
          </a:prstGeom>
          <a:solidFill>
            <a:srgbClr val="F5A623"/>
          </a:solidFill>
          <a:ln w="12700">
            <a:solidFill>
              <a:srgbClr val="F5A623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028432" y="1691640"/>
            <a:ext cx="1645920" cy="841248"/>
          </a:xfrm>
          <a:prstGeom prst="roundRect">
            <a:avLst>
              <a:gd name="adj" fmla="val 7609"/>
            </a:avLst>
          </a:prstGeom>
          <a:solidFill>
            <a:srgbClr val="162035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101584" y="1892808"/>
            <a:ext cx="149961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7171"/>
                </a:solidFill>
              </a:rPr>
              <a:t>run prompt /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87171"/>
                </a:solidFill>
              </a:rPr>
              <a:t>shutdown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57200" y="2724912"/>
            <a:ext cx="2286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BB5"/>
                </a:solidFill>
              </a:rPr>
              <a:t>每 500ms 轮询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21792" y="2880360"/>
            <a:ext cx="2743200" cy="2871216"/>
          </a:xfrm>
          <a:prstGeom prst="roundRect">
            <a:avLst>
              <a:gd name="adj" fmla="val 2333"/>
            </a:avLst>
          </a:prstGeom>
          <a:solidFill>
            <a:srgbClr val="162035"/>
          </a:solidFill>
          <a:ln w="12700">
            <a:solidFill>
              <a:srgbClr val="2A3F5F"/>
            </a:solidFill>
            <a:prstDash val="solid"/>
          </a:ln>
          <a:effectLst>
            <a:outerShdw sx="100000" sy="100000" kx="0" ky="0" algn="bl" rotWithShape="0" blurRad="19050" dist="4445" dir="2700000">
              <a:srgbClr val="000000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804672" y="3008376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78BFA"/>
                </a:solidFill>
              </a:rPr>
              <a:t>Mailbox 通信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804672" y="3300984"/>
            <a:ext cx="2377440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C4CDD8"/>
                </a:solidFill>
              </a:rPr>
              <a:t>• leader / teammate 通过 mailbox 交换消息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4CDD8"/>
                </a:solidFill>
              </a:rPr>
              <a:t>• 优先处理 shutdown request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4CDD8"/>
                </a:solidFill>
              </a:rPr>
              <a:t>• 再处理 team lead 消息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4CDD8"/>
                </a:solidFill>
              </a:rPr>
              <a:t>• teammateMailbox.ts 管理消息队列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511296" y="2880360"/>
            <a:ext cx="2743200" cy="2871216"/>
          </a:xfrm>
          <a:prstGeom prst="roundRect">
            <a:avLst>
              <a:gd name="adj" fmla="val 2333"/>
            </a:avLst>
          </a:prstGeom>
          <a:solidFill>
            <a:srgbClr val="162035"/>
          </a:solidFill>
          <a:ln w="12700">
            <a:solidFill>
              <a:srgbClr val="2A3F5F"/>
            </a:solidFill>
            <a:prstDash val="solid"/>
          </a:ln>
          <a:effectLst>
            <a:outerShdw sx="100000" sy="100000" kx="0" ky="0" algn="bl" rotWithShape="0" blurRad="19050" dist="4445" dir="2700000">
              <a:srgbClr val="000000">
                <a:alpha val="1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3694176" y="3008376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A623"/>
                </a:solidFill>
              </a:rPr>
              <a:t>Task Claim 系统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3694176" y="3300984"/>
            <a:ext cx="2377440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C4CDD8"/>
                </a:solidFill>
              </a:rPr>
              <a:t>• tasks.ts 维护团队任务列表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4CDD8"/>
                </a:solidFill>
              </a:rPr>
              <a:t>• 空闲时主动尝试 claim 可用任务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4CDD8"/>
                </a:solidFill>
              </a:rPr>
              <a:t>• 任务有 owner 概念，防止重复执行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4CDD8"/>
                </a:solidFill>
              </a:rPr>
              <a:t>• 完成后写回 task output，持久化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400800" y="2880360"/>
            <a:ext cx="2743200" cy="2871216"/>
          </a:xfrm>
          <a:prstGeom prst="roundRect">
            <a:avLst>
              <a:gd name="adj" fmla="val 2333"/>
            </a:avLst>
          </a:prstGeom>
          <a:solidFill>
            <a:srgbClr val="162035"/>
          </a:solidFill>
          <a:ln w="12700">
            <a:solidFill>
              <a:srgbClr val="2A3F5F"/>
            </a:solidFill>
            <a:prstDash val="solid"/>
          </a:ln>
          <a:effectLst>
            <a:outerShdw sx="100000" sy="100000" kx="0" ky="0" algn="bl" rotWithShape="0" blurRad="19050" dist="4445" dir="2700000">
              <a:srgbClr val="000000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583680" y="3008376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87171"/>
                </a:solidFill>
              </a:rPr>
              <a:t>Permission Bridge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6583680" y="3300984"/>
            <a:ext cx="2377440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C4CDD8"/>
                </a:solidFill>
              </a:rPr>
              <a:t>• worker ask 权限 → 先尝试 leader UI queue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4CDD8"/>
                </a:solidFill>
              </a:rPr>
              <a:t>• leader UI 不可用 → 降级为 mailbox sync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4CDD8"/>
                </a:solidFill>
              </a:rPr>
              <a:t>• 成功时写回 permission updates 到 leader context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4CDD8"/>
                </a:solidFill>
              </a:rPr>
              <a:t>• worker 不会绕开权限系统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9290304" y="2880360"/>
            <a:ext cx="2743200" cy="2871216"/>
          </a:xfrm>
          <a:prstGeom prst="roundRect">
            <a:avLst>
              <a:gd name="adj" fmla="val 2333"/>
            </a:avLst>
          </a:prstGeom>
          <a:solidFill>
            <a:srgbClr val="162035"/>
          </a:solidFill>
          <a:ln w="12700">
            <a:solidFill>
              <a:srgbClr val="2A3F5F"/>
            </a:solidFill>
            <a:prstDash val="solid"/>
          </a:ln>
          <a:effectLst>
            <a:outerShdw sx="100000" sy="100000" kx="0" ky="0" algn="bl" rotWithShape="0" blurRad="19050" dist="4445" dir="2700000">
              <a:srgbClr val="000000">
                <a:alpha val="1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9473184" y="3008376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B8EF5"/>
                </a:solidFill>
              </a:rPr>
              <a:t>Built-in Agents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9473184" y="3300984"/>
            <a:ext cx="2377440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C4CDD8"/>
                </a:solidFill>
              </a:rPr>
              <a:t>• builtInAgents.ts：feature-gated agent registry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4CDD8"/>
                </a:solidFill>
              </a:rPr>
              <a:t>• Explore / Plan / Verification / Code Guide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4CDD8"/>
                </a:solidFill>
              </a:rPr>
              <a:t>• SDK 场景可通过环境变量禁用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4CDD8"/>
                </a:solidFill>
              </a:rPr>
              <a:t>• coordinator mode 下使用 workerAgent.js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9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943600" cy="6858000"/>
          </a:xfrm>
          <a:prstGeom prst="rect">
            <a:avLst/>
          </a:prstGeom>
          <a:solidFill>
            <a:srgbClr val="0D1829"/>
          </a:solidFill>
          <a:ln w="12700">
            <a:solidFill>
              <a:srgbClr val="0D182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0" y="0"/>
            <a:ext cx="6248095" cy="685800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0" y="0"/>
            <a:ext cx="6248095" cy="13716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0" y="960120"/>
            <a:ext cx="6248095" cy="13716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0" y="1920240"/>
            <a:ext cx="6248095" cy="13716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0" y="2880360"/>
            <a:ext cx="6248095" cy="13716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0" y="3840480"/>
            <a:ext cx="6248095" cy="13716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0" y="4800600"/>
            <a:ext cx="6248095" cy="13716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943600" y="5760720"/>
            <a:ext cx="6248095" cy="13716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43600" y="6720840"/>
            <a:ext cx="6248095" cy="13716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109728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F5A623"/>
                </a:solidFill>
              </a:rPr>
              <a:t>SECTION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914400" y="14173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E8EDF5"/>
                </a:solidFill>
              </a:rPr>
              <a:t>扩展层与</a:t>
            </a:r>
            <a:endParaRPr lang="en-US" sz="2700" dirty="0"/>
          </a:p>
          <a:p>
            <a:pPr indent="0" marL="0">
              <a:buNone/>
            </a:pPr>
            <a:r>
              <a:rPr lang="en-US" sz="2700" b="1" dirty="0">
                <a:solidFill>
                  <a:srgbClr val="E8EDF5"/>
                </a:solidFill>
              </a:rPr>
              <a:t>多 Surface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914400" y="3108960"/>
            <a:ext cx="4206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9BB5"/>
                </a:solidFill>
              </a:rPr>
              <a:t>MCP / Skills / Plugins / Commands 如何汇合；Terminal / Bridge / SDK 如何共用一套引擎。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766560" y="164592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FFFFF">
                    <a:alpha val="80000"/>
                  </a:srgbClr>
                </a:solidFill>
              </a:rPr>
              <a:t>05</a:t>
            </a:r>
            <a:endParaRPr lang="en-US" sz="8000" dirty="0"/>
          </a:p>
        </p:txBody>
      </p:sp>
      <p:sp>
        <p:nvSpPr>
          <p:cNvPr id="16" name="Text 14"/>
          <p:cNvSpPr/>
          <p:nvPr/>
        </p:nvSpPr>
        <p:spPr>
          <a:xfrm>
            <a:off x="6583680" y="3200400"/>
            <a:ext cx="5029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>
                    <a:alpha val="85000"/>
                  </a:srgbClr>
                </a:solidFill>
              </a:rPr>
              <a:t>不同入口改变的只是 ingress/egress，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>
                    <a:alpha val="85000"/>
                  </a:srgbClr>
                </a:solidFill>
              </a:rPr>
              <a:t>推理内核始终是同一套。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94360" y="6254496"/>
            <a:ext cx="11002975" cy="13716"/>
          </a:xfrm>
          <a:prstGeom prst="rect">
            <a:avLst/>
          </a:prstGeom>
          <a:solidFill>
            <a:srgbClr val="2A3F5F"/>
          </a:solidFill>
          <a:ln w="12700">
            <a:solidFill>
              <a:srgbClr val="2A3F5F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6309360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8A9BB5"/>
                </a:solidFill>
              </a:rPr>
              <a:t>Claude Code Sourcemap 源码解读 · 仅供研究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11228832" y="6364224"/>
            <a:ext cx="73152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698480" y="6291072"/>
            <a:ext cx="502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B0BDD0"/>
                </a:solidFill>
              </a:rPr>
              <a:t>21</a:t>
            </a:r>
            <a:endParaRPr lang="en-US" sz="82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9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" y="274320"/>
            <a:ext cx="987552" cy="201168"/>
          </a:xfrm>
          <a:prstGeom prst="roundRect">
            <a:avLst>
              <a:gd name="adj" fmla="val 18182"/>
            </a:avLst>
          </a:prstGeom>
          <a:solidFill>
            <a:srgbClr val="1E2E4A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288036"/>
            <a:ext cx="3200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2D3EE"/>
                </a:solidFill>
              </a:rPr>
              <a:t>扩展层 · 01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58368" y="54864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8EDF5"/>
                </a:solidFill>
              </a:rPr>
              <a:t>Plugin / Skill / Command / MCP：四条通道，最终折叠进同一个 Tool Surface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58368" y="1115568"/>
            <a:ext cx="10515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B5"/>
                </a:solidFill>
              </a:rPr>
              <a:t>这四层经常被混淆，但在源码里边界非常清晰，职责完全不同。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94360" y="6254496"/>
            <a:ext cx="11002975" cy="13716"/>
          </a:xfrm>
          <a:prstGeom prst="rect">
            <a:avLst/>
          </a:prstGeom>
          <a:solidFill>
            <a:srgbClr val="2A3F5F"/>
          </a:solidFill>
          <a:ln w="12700">
            <a:solidFill>
              <a:srgbClr val="2A3F5F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6309360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8A9BB5"/>
                </a:solidFill>
              </a:rPr>
              <a:t>Claude Code Sourcemap 源码解读 · 仅供研究</a:t>
            </a:r>
            <a:endParaRPr lang="en-US" sz="780" dirty="0"/>
          </a:p>
        </p:txBody>
      </p:sp>
      <p:sp>
        <p:nvSpPr>
          <p:cNvPr id="9" name="Shape 7"/>
          <p:cNvSpPr/>
          <p:nvPr/>
        </p:nvSpPr>
        <p:spPr>
          <a:xfrm>
            <a:off x="11228832" y="6364224"/>
            <a:ext cx="73152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98480" y="6291072"/>
            <a:ext cx="502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B0BDD0"/>
                </a:solidFill>
              </a:rPr>
              <a:t>22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621792" y="1572768"/>
            <a:ext cx="2523744" cy="914400"/>
          </a:xfrm>
          <a:prstGeom prst="roundRect">
            <a:avLst>
              <a:gd name="adj" fmla="val 7000"/>
            </a:avLst>
          </a:prstGeom>
          <a:solidFill>
            <a:srgbClr val="162035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682496"/>
            <a:ext cx="23042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</a:rPr>
              <a:t>Plugin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31520" y="1956816"/>
            <a:ext cx="230428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8A9BB5"/>
                </a:solidFill>
              </a:rPr>
              <a:t>pluginLoader.ts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8A9BB5"/>
                </a:solidFill>
              </a:rPr>
              <a:t>安装 / manifest / 分发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 rot="5400000">
            <a:off x="1572768" y="2560320"/>
            <a:ext cx="566928" cy="292608"/>
          </a:xfrm>
          <a:prstGeom prst="chevron">
            <a:avLst/>
          </a:prstGeom>
          <a:solidFill>
            <a:srgbClr val="A78BFA">
              <a:alpha val="70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73552" y="1572768"/>
            <a:ext cx="2523744" cy="914400"/>
          </a:xfrm>
          <a:prstGeom prst="roundRect">
            <a:avLst>
              <a:gd name="adj" fmla="val 7000"/>
            </a:avLst>
          </a:prstGeom>
          <a:solidFill>
            <a:srgbClr val="162035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83280" y="1682496"/>
            <a:ext cx="23042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D399"/>
                </a:solidFill>
              </a:rPr>
              <a:t>Skill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383280" y="1956816"/>
            <a:ext cx="230428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8A9BB5"/>
                </a:solidFill>
              </a:rPr>
              <a:t>loadSkillsDir.ts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8A9BB5"/>
                </a:solidFill>
              </a:rPr>
              <a:t>工作流模板 / 经验封装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 rot="5400000">
            <a:off x="4224528" y="2560320"/>
            <a:ext cx="566928" cy="292608"/>
          </a:xfrm>
          <a:prstGeom prst="chevron">
            <a:avLst/>
          </a:prstGeom>
          <a:solidFill>
            <a:srgbClr val="34D399">
              <a:alpha val="70000"/>
            </a:srgbClr>
          </a:solidFill>
          <a:ln w="12700">
            <a:solidFill>
              <a:srgbClr val="34D399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25312" y="1572768"/>
            <a:ext cx="2523744" cy="914400"/>
          </a:xfrm>
          <a:prstGeom prst="roundRect">
            <a:avLst>
              <a:gd name="adj" fmla="val 7000"/>
            </a:avLst>
          </a:prstGeom>
          <a:solidFill>
            <a:srgbClr val="162035"/>
          </a:solidFill>
          <a:ln w="12700">
            <a:solidFill>
              <a:srgbClr val="4B8EF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35040" y="1682496"/>
            <a:ext cx="23042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B8EF5"/>
                </a:solidFill>
              </a:rPr>
              <a:t>Command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035040" y="1956816"/>
            <a:ext cx="230428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8A9BB5"/>
                </a:solidFill>
              </a:rPr>
              <a:t>commands.ts (101个)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8A9BB5"/>
                </a:solidFill>
              </a:rPr>
              <a:t>用户显式入口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 rot="5400000">
            <a:off x="6876288" y="2560320"/>
            <a:ext cx="566928" cy="292608"/>
          </a:xfrm>
          <a:prstGeom prst="chevron">
            <a:avLst/>
          </a:prstGeom>
          <a:solidFill>
            <a:srgbClr val="4B8EF5">
              <a:alpha val="70000"/>
            </a:srgbClr>
          </a:solidFill>
          <a:ln w="12700">
            <a:solidFill>
              <a:srgbClr val="4B8EF5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577072" y="1572768"/>
            <a:ext cx="2523744" cy="914400"/>
          </a:xfrm>
          <a:prstGeom prst="roundRect">
            <a:avLst>
              <a:gd name="adj" fmla="val 7000"/>
            </a:avLst>
          </a:prstGeom>
          <a:solidFill>
            <a:srgbClr val="162035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686800" y="1682496"/>
            <a:ext cx="23042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A623"/>
                </a:solidFill>
              </a:rPr>
              <a:t>MCP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686800" y="1956816"/>
            <a:ext cx="230428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8A9BB5"/>
                </a:solidFill>
              </a:rPr>
              <a:t>services/mcp/client.ts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8A9BB5"/>
                </a:solidFill>
              </a:rPr>
              <a:t>外部 server 能力桥接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 rot="5400000">
            <a:off x="9528048" y="2560320"/>
            <a:ext cx="566928" cy="292608"/>
          </a:xfrm>
          <a:prstGeom prst="chevron">
            <a:avLst/>
          </a:prstGeom>
          <a:solidFill>
            <a:srgbClr val="F5A623">
              <a:alpha val="70000"/>
            </a:srgbClr>
          </a:solidFill>
          <a:ln w="12700">
            <a:solidFill>
              <a:srgbClr val="F5A623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86000" y="2999232"/>
            <a:ext cx="7589520" cy="841248"/>
          </a:xfrm>
          <a:prstGeom prst="roundRect">
            <a:avLst>
              <a:gd name="adj" fmla="val 8696"/>
            </a:avLst>
          </a:prstGeom>
          <a:solidFill>
            <a:srgbClr val="F5A623"/>
          </a:solidFill>
          <a:ln w="12700">
            <a:solidFill>
              <a:srgbClr val="F5A623">
                <a:alpha val="0"/>
              </a:srgbClr>
            </a:solidFill>
            <a:prstDash val="solid"/>
          </a:ln>
          <a:effectLst>
            <a:outerShdw sx="100000" sy="100000" kx="0" ky="0" algn="bl" rotWithShape="0" blurRad="38100" dist="6350" dir="2700000">
              <a:srgbClr val="F5A623">
                <a:alpha val="2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2286000" y="3200400"/>
            <a:ext cx="7589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9111F"/>
                </a:solidFill>
              </a:rPr>
              <a:t>Shared Tool Surface  +  Command Surface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2286000" y="3602736"/>
            <a:ext cx="7589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D1829"/>
                </a:solidFill>
              </a:rPr>
              <a:t>tools.ts · toolExecution.ts · permissions · hooks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21792" y="4023360"/>
            <a:ext cx="2651760" cy="54864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21792" y="4133088"/>
            <a:ext cx="2651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78BFA"/>
                </a:solidFill>
              </a:rPr>
              <a:t>Plugin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21792" y="4389120"/>
            <a:ext cx="2651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C4CDD8"/>
                </a:solidFill>
              </a:rPr>
              <a:t>管分发、安装、manifest，最终转化为可用工具或命令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3438144" y="4023360"/>
            <a:ext cx="2651760" cy="54864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438144" y="4133088"/>
            <a:ext cx="2651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4D399"/>
                </a:solidFill>
              </a:rPr>
              <a:t>Skill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3438144" y="4389120"/>
            <a:ext cx="2651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C4CDD8"/>
                </a:solidFill>
              </a:rPr>
              <a:t>封装工作流模板，很多情况下最终下沉为 command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254496" y="4023360"/>
            <a:ext cx="2651760" cy="54864"/>
          </a:xfrm>
          <a:prstGeom prst="rect">
            <a:avLst/>
          </a:prstGeom>
          <a:solidFill>
            <a:srgbClr val="4B8EF5"/>
          </a:solidFill>
          <a:ln w="12700">
            <a:solidFill>
              <a:srgbClr val="4B8EF5">
                <a:alpha val="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254496" y="4133088"/>
            <a:ext cx="2651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B8EF5"/>
                </a:solidFill>
              </a:rPr>
              <a:t>Command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6254496" y="4389120"/>
            <a:ext cx="2651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C4CDD8"/>
                </a:solidFill>
              </a:rPr>
              <a:t>用户显式调用入口，101 个命令覆盖开发全流程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9070848" y="4023360"/>
            <a:ext cx="2651760" cy="54864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>
                <a:alpha val="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070848" y="4133088"/>
            <a:ext cx="2651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A623"/>
                </a:solidFill>
              </a:rPr>
              <a:t>MCP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9070848" y="4389120"/>
            <a:ext cx="2651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C4CDD8"/>
                </a:solidFill>
              </a:rPr>
              <a:t>把外部 server 的 tools / resources 映射进本地 runtime，仍受本地治理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9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" y="274320"/>
            <a:ext cx="987552" cy="201168"/>
          </a:xfrm>
          <a:prstGeom prst="roundRect">
            <a:avLst>
              <a:gd name="adj" fmla="val 18182"/>
            </a:avLst>
          </a:prstGeom>
          <a:solidFill>
            <a:srgbClr val="1E2E4A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288036"/>
            <a:ext cx="3200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2D3EE"/>
                </a:solidFill>
              </a:rPr>
              <a:t>扩展层 · 02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58368" y="54864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8EDF5"/>
                </a:solidFill>
              </a:rPr>
              <a:t>Terminal / Bridge / SDK：不同 Surface 共用同一套推理引擎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58368" y="1115568"/>
            <a:ext cx="10515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B5"/>
                </a:solidFill>
              </a:rPr>
              <a:t>这是「same engine across surfaces」在源码层面的真实落点。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94360" y="6254496"/>
            <a:ext cx="11002975" cy="13716"/>
          </a:xfrm>
          <a:prstGeom prst="rect">
            <a:avLst/>
          </a:prstGeom>
          <a:solidFill>
            <a:srgbClr val="2A3F5F"/>
          </a:solidFill>
          <a:ln w="12700">
            <a:solidFill>
              <a:srgbClr val="2A3F5F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6309360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8A9BB5"/>
                </a:solidFill>
              </a:rPr>
              <a:t>Claude Code Sourcemap 源码解读 · 仅供研究</a:t>
            </a:r>
            <a:endParaRPr lang="en-US" sz="780" dirty="0"/>
          </a:p>
        </p:txBody>
      </p:sp>
      <p:sp>
        <p:nvSpPr>
          <p:cNvPr id="9" name="Shape 7"/>
          <p:cNvSpPr/>
          <p:nvPr/>
        </p:nvSpPr>
        <p:spPr>
          <a:xfrm>
            <a:off x="11228832" y="6364224"/>
            <a:ext cx="73152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98480" y="6291072"/>
            <a:ext cx="502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B0BDD0"/>
                </a:solidFill>
              </a:rPr>
              <a:t>23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621792" y="1536192"/>
            <a:ext cx="3602736" cy="4553712"/>
          </a:xfrm>
          <a:prstGeom prst="roundRect">
            <a:avLst>
              <a:gd name="adj" fmla="val 1777"/>
            </a:avLst>
          </a:prstGeom>
          <a:solidFill>
            <a:srgbClr val="162035"/>
          </a:solidFill>
          <a:ln w="12700">
            <a:solidFill>
              <a:srgbClr val="2A3F5F"/>
            </a:solidFill>
            <a:prstDash val="solid"/>
          </a:ln>
          <a:effectLst>
            <a:outerShdw sx="100000" sy="100000" kx="0" ky="0" algn="bl" rotWithShape="0" blurRad="19050" dist="4445" dir="27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04672" y="1664208"/>
            <a:ext cx="323697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B8EF5"/>
                </a:solidFill>
              </a:rPr>
              <a:t>Terminal REPL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1792" y="1536192"/>
            <a:ext cx="3602736" cy="91440"/>
          </a:xfrm>
          <a:prstGeom prst="rect">
            <a:avLst/>
          </a:prstGeom>
          <a:solidFill>
            <a:srgbClr val="4B8EF5"/>
          </a:solidFill>
          <a:ln w="12700">
            <a:solidFill>
              <a:srgbClr val="4B8EF5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6384" y="1901952"/>
            <a:ext cx="3273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8A9BB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ink/components/App.tsx</a:t>
            </a:r>
            <a:endParaRPr lang="en-US" sz="88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8A9BB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AppStateProvider</a:t>
            </a:r>
            <a:endParaRPr lang="en-US" sz="88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8A9BB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cli/print.ts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786384" y="2423160"/>
            <a:ext cx="3273552" cy="9144"/>
          </a:xfrm>
          <a:prstGeom prst="rect">
            <a:avLst/>
          </a:prstGeom>
          <a:solidFill>
            <a:srgbClr val="2A3F5F"/>
          </a:solidFill>
          <a:ln w="12700">
            <a:solidFill>
              <a:srgbClr val="2A3F5F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86384" y="2487168"/>
            <a:ext cx="3273552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C4CDD8"/>
                </a:solidFill>
              </a:rPr>
              <a:t>• Ink (React 终端 UI) 渲染交互界面</a:t>
            </a:r>
            <a:endParaRPr lang="en-US" sz="10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C4CDD8"/>
                </a:solidFill>
              </a:rPr>
              <a:t>• AppState 共享运行时状态</a:t>
            </a:r>
            <a:endParaRPr lang="en-US" sz="10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C4CDD8"/>
                </a:solidFill>
              </a:rPr>
              <a:t>• 支持 Vim 模式 (vim/ 目录)</a:t>
            </a:r>
            <a:endParaRPr lang="en-US" sz="10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C4CDD8"/>
                </a:solidFill>
              </a:rPr>
              <a:t>• 权限弹窗直接在终端 UI 显示</a:t>
            </a:r>
            <a:endParaRPr lang="en-US" sz="10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C4CDD8"/>
                </a:solidFill>
              </a:rPr>
              <a:t>• 支持 voice/ 语音交互（实验性）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443984" y="1536192"/>
            <a:ext cx="3602736" cy="4553712"/>
          </a:xfrm>
          <a:prstGeom prst="roundRect">
            <a:avLst>
              <a:gd name="adj" fmla="val 1777"/>
            </a:avLst>
          </a:prstGeom>
          <a:solidFill>
            <a:srgbClr val="162035"/>
          </a:solidFill>
          <a:ln w="12700">
            <a:solidFill>
              <a:srgbClr val="2A3F5F"/>
            </a:solidFill>
            <a:prstDash val="solid"/>
          </a:ln>
          <a:effectLst>
            <a:outerShdw sx="100000" sy="100000" kx="0" ky="0" algn="bl" rotWithShape="0" blurRad="19050" dist="4445" dir="27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626864" y="1664208"/>
            <a:ext cx="323697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78BFA"/>
                </a:solidFill>
              </a:rPr>
              <a:t>Bridge / Remote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443984" y="1536192"/>
            <a:ext cx="3602736" cy="9144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08576" y="1901952"/>
            <a:ext cx="3273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8A9BB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bridge/bridgeMain.ts</a:t>
            </a:r>
            <a:endParaRPr lang="en-US" sz="88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8A9BB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initReplBridge.ts</a:t>
            </a:r>
            <a:endParaRPr lang="en-US" sz="88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8A9BB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bridgeUI.ts</a:t>
            </a:r>
            <a:endParaRPr lang="en-US" sz="880" dirty="0"/>
          </a:p>
        </p:txBody>
      </p:sp>
      <p:sp>
        <p:nvSpPr>
          <p:cNvPr id="21" name="Shape 19"/>
          <p:cNvSpPr/>
          <p:nvPr/>
        </p:nvSpPr>
        <p:spPr>
          <a:xfrm>
            <a:off x="4608576" y="2423160"/>
            <a:ext cx="3273552" cy="9144"/>
          </a:xfrm>
          <a:prstGeom prst="rect">
            <a:avLst/>
          </a:prstGeom>
          <a:solidFill>
            <a:srgbClr val="2A3F5F"/>
          </a:solidFill>
          <a:ln w="12700">
            <a:solidFill>
              <a:srgbClr val="2A3F5F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08576" y="2487168"/>
            <a:ext cx="3273552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C4CDD8"/>
                </a:solidFill>
              </a:rPr>
              <a:t>• 把远端消息重新注入本地消息队列</a:t>
            </a:r>
            <a:endParaRPr lang="en-US" sz="10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C4CDD8"/>
                </a:solidFill>
              </a:rPr>
              <a:t>• replBridge.ts 建立双向通道</a:t>
            </a:r>
            <a:endParaRPr lang="en-US" sz="10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C4CDD8"/>
                </a:solidFill>
              </a:rPr>
              <a:t>• bridgeUI.ts 在 bridge 模式显示 UI</a:t>
            </a:r>
            <a:endParaRPr lang="en-US" sz="10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C4CDD8"/>
                </a:solidFill>
              </a:rPr>
              <a:t>• sessionRunner.ts 管理远程会话生命周期</a:t>
            </a:r>
            <a:endParaRPr lang="en-US" sz="10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C4CDD8"/>
                </a:solidFill>
              </a:rPr>
              <a:t>• trustedDevice.ts 处理远端认证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266176" y="1536192"/>
            <a:ext cx="3602736" cy="4553712"/>
          </a:xfrm>
          <a:prstGeom prst="roundRect">
            <a:avLst>
              <a:gd name="adj" fmla="val 1777"/>
            </a:avLst>
          </a:prstGeom>
          <a:solidFill>
            <a:srgbClr val="162035"/>
          </a:solidFill>
          <a:ln w="12700">
            <a:solidFill>
              <a:srgbClr val="2A3F5F"/>
            </a:solidFill>
            <a:prstDash val="solid"/>
          </a:ln>
          <a:effectLst>
            <a:outerShdw sx="100000" sy="100000" kx="0" ky="0" algn="bl" rotWithShape="0" blurRad="19050" dist="4445" dir="2700000">
              <a:srgbClr val="000000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8449056" y="1664208"/>
            <a:ext cx="323697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4D399"/>
                </a:solidFill>
              </a:rPr>
              <a:t>SDK / Headless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8266176" y="1536192"/>
            <a:ext cx="3602736" cy="9144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430768" y="1901952"/>
            <a:ext cx="3273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8A9BB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QueryEngine.ts SDK 接口</a:t>
            </a:r>
            <a:endParaRPr lang="en-US" sz="88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8A9BB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cli/print.ts 结构化输出</a:t>
            </a:r>
            <a:endParaRPr lang="en-US" sz="88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8A9BB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remote/ 目录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8430768" y="2423160"/>
            <a:ext cx="3273552" cy="9144"/>
          </a:xfrm>
          <a:prstGeom prst="rect">
            <a:avLst/>
          </a:prstGeom>
          <a:solidFill>
            <a:srgbClr val="2A3F5F"/>
          </a:solidFill>
          <a:ln w="12700">
            <a:solidFill>
              <a:srgbClr val="2A3F5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30768" y="2487168"/>
            <a:ext cx="3273552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C4CDD8"/>
                </a:solidFill>
              </a:rPr>
              <a:t>• QueryEngine 对外提供稳定 SDK API</a:t>
            </a:r>
            <a:endParaRPr lang="en-US" sz="10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C4CDD8"/>
                </a:solidFill>
              </a:rPr>
              <a:t>• cli/print.ts 格式化结构化输出</a:t>
            </a:r>
            <a:endParaRPr lang="en-US" sz="10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C4CDD8"/>
                </a:solidFill>
              </a:rPr>
              <a:t>• 可通过环境变量禁用 built-in agents</a:t>
            </a:r>
            <a:endParaRPr lang="en-US" sz="10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C4CDD8"/>
                </a:solidFill>
              </a:rPr>
              <a:t>• sdkMessageAdapter.ts 适配消息格式</a:t>
            </a:r>
            <a:endParaRPr lang="en-US" sz="10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C4CDD8"/>
                </a:solidFill>
              </a:rPr>
              <a:t>• SessionsWebSocket.ts 管理 SDK 会话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9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" y="274320"/>
            <a:ext cx="1065276" cy="201168"/>
          </a:xfrm>
          <a:prstGeom prst="roundRect">
            <a:avLst>
              <a:gd name="adj" fmla="val 18182"/>
            </a:avLst>
          </a:prstGeom>
          <a:solidFill>
            <a:srgbClr val="1E2E4A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288036"/>
            <a:ext cx="3200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4D399"/>
                </a:solidFill>
              </a:rPr>
              <a:t>特色功能 · 01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58368" y="54864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8EDF5"/>
                </a:solidFill>
              </a:rPr>
              <a:t>这些你可能没想到它会有：Voice、Vim、Buddy、KAIROS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58368" y="1115568"/>
            <a:ext cx="10515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B5"/>
                </a:solidFill>
              </a:rPr>
              <a:t>这些不是边角功能——它们暗示了产品对「AI 工作方式」更深远的设想。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94360" y="6254496"/>
            <a:ext cx="11002975" cy="13716"/>
          </a:xfrm>
          <a:prstGeom prst="rect">
            <a:avLst/>
          </a:prstGeom>
          <a:solidFill>
            <a:srgbClr val="2A3F5F"/>
          </a:solidFill>
          <a:ln w="12700">
            <a:solidFill>
              <a:srgbClr val="2A3F5F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6309360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8A9BB5"/>
                </a:solidFill>
              </a:rPr>
              <a:t>Claude Code Sourcemap 源码解读 · 仅供研究</a:t>
            </a:r>
            <a:endParaRPr lang="en-US" sz="780" dirty="0"/>
          </a:p>
        </p:txBody>
      </p:sp>
      <p:sp>
        <p:nvSpPr>
          <p:cNvPr id="9" name="Shape 7"/>
          <p:cNvSpPr/>
          <p:nvPr/>
        </p:nvSpPr>
        <p:spPr>
          <a:xfrm>
            <a:off x="11228832" y="6364224"/>
            <a:ext cx="73152" cy="73152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98480" y="6291072"/>
            <a:ext cx="502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B0BDD0"/>
                </a:solidFill>
              </a:rPr>
              <a:t>24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621792" y="1554480"/>
            <a:ext cx="5559552" cy="2011680"/>
          </a:xfrm>
          <a:prstGeom prst="roundRect">
            <a:avLst>
              <a:gd name="adj" fmla="val 3182"/>
            </a:avLst>
          </a:prstGeom>
          <a:solidFill>
            <a:srgbClr val="162035"/>
          </a:solidFill>
          <a:ln w="12700">
            <a:solidFill>
              <a:srgbClr val="2A3F5F"/>
            </a:solidFill>
            <a:prstDash val="solid"/>
          </a:ln>
          <a:effectLst>
            <a:outerShdw sx="100000" sy="100000" kx="0" ky="0" algn="bl" rotWithShape="0" blurRad="19050" dist="4445" dir="27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04672" y="1682496"/>
            <a:ext cx="51937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D3EE"/>
                </a:solidFill>
              </a:rPr>
              <a:t>Voice 模式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1792" y="1554480"/>
            <a:ext cx="5559552" cy="914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6384" y="2011680"/>
            <a:ext cx="2743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8A9BB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services/voice.ts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8A9BB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services/voiceStreamSTT.ts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639312" y="2011680"/>
            <a:ext cx="237744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C4CDD8"/>
                </a:solidFill>
              </a:rPr>
              <a:t>• 流式语音转文字（STT）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C4CDD8"/>
                </a:solidFill>
              </a:rPr>
              <a:t>• voiceModeEnabled.ts 控制开关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C4CDD8"/>
                </a:solidFill>
              </a:rPr>
              <a:t>• voiceKeyterms.ts 关键词识别优化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C4CDD8"/>
                </a:solidFill>
              </a:rPr>
              <a:t>• 集成进主 UI 交互流程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64224" y="1554480"/>
            <a:ext cx="5559552" cy="2011680"/>
          </a:xfrm>
          <a:prstGeom prst="roundRect">
            <a:avLst>
              <a:gd name="adj" fmla="val 3182"/>
            </a:avLst>
          </a:prstGeom>
          <a:solidFill>
            <a:srgbClr val="162035"/>
          </a:solidFill>
          <a:ln w="12700">
            <a:solidFill>
              <a:srgbClr val="2A3F5F"/>
            </a:solidFill>
            <a:prstDash val="solid"/>
          </a:ln>
          <a:effectLst>
            <a:outerShdw sx="100000" sy="100000" kx="0" ky="0" algn="bl" rotWithShape="0" blurRad="19050" dist="4445" dir="27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547104" y="1682496"/>
            <a:ext cx="51937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4D399"/>
                </a:solidFill>
              </a:rPr>
              <a:t>Vim 模式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364224" y="1554480"/>
            <a:ext cx="5559552" cy="9144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28816" y="2011680"/>
            <a:ext cx="2743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8A9BB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vim/motions.ts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8A9BB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vim/operators.ts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8A9BB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vim/textObjects.ts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9381744" y="2011680"/>
            <a:ext cx="237744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C4CDD8"/>
                </a:solidFill>
              </a:rPr>
              <a:t>• 完整的 Vim 动作系统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C4CDD8"/>
                </a:solidFill>
              </a:rPr>
              <a:t>• motions / operators / textObjects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C4CDD8"/>
                </a:solidFill>
              </a:rPr>
              <a:t>• transitions.ts 管理模式切换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C4CDD8"/>
                </a:solidFill>
              </a:rPr>
              <a:t>• 在终端编辑器内提供 Vim 体验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21792" y="3794760"/>
            <a:ext cx="5559552" cy="2011680"/>
          </a:xfrm>
          <a:prstGeom prst="roundRect">
            <a:avLst>
              <a:gd name="adj" fmla="val 3182"/>
            </a:avLst>
          </a:prstGeom>
          <a:solidFill>
            <a:srgbClr val="162035"/>
          </a:solidFill>
          <a:ln w="12700">
            <a:solidFill>
              <a:srgbClr val="2A3F5F"/>
            </a:solidFill>
            <a:prstDash val="solid"/>
          </a:ln>
          <a:effectLst>
            <a:outerShdw sx="100000" sy="100000" kx="0" ky="0" algn="bl" rotWithShape="0" blurRad="19050" dist="4445" dir="27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04672" y="3922776"/>
            <a:ext cx="51937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78BFA"/>
                </a:solidFill>
              </a:rPr>
              <a:t>AI Buddy（伴侣 UI）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21792" y="3794760"/>
            <a:ext cx="5559552" cy="9144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86384" y="4251960"/>
            <a:ext cx="2743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8A9BB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buddy/companion.ts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8A9BB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buddy/CompanionSprite.tsx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8A9BB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buddy/sprites.ts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639312" y="4251960"/>
            <a:ext cx="237744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C4CDD8"/>
                </a:solidFill>
              </a:rPr>
              <a:t>• 像素风格 AI 伴侣动画精灵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C4CDD8"/>
                </a:solidFill>
              </a:rPr>
              <a:t>• useBuddyNotification 推送通知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C4CDD8"/>
                </a:solidFill>
              </a:rPr>
              <a:t>• companion.ts 管理伴侣状态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C4CDD8"/>
                </a:solidFill>
              </a:rPr>
              <a:t>• 通过精灵动画表达工作状态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364224" y="3794760"/>
            <a:ext cx="5559552" cy="2011680"/>
          </a:xfrm>
          <a:prstGeom prst="roundRect">
            <a:avLst>
              <a:gd name="adj" fmla="val 3182"/>
            </a:avLst>
          </a:prstGeom>
          <a:solidFill>
            <a:srgbClr val="162035"/>
          </a:solidFill>
          <a:ln w="12700">
            <a:solidFill>
              <a:srgbClr val="2A3F5F"/>
            </a:solidFill>
            <a:prstDash val="solid"/>
          </a:ln>
          <a:effectLst>
            <a:outerShdw sx="100000" sy="100000" kx="0" ky="0" algn="bl" rotWithShape="0" blurRad="19050" dist="4445" dir="2700000">
              <a:srgbClr val="000000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547104" y="3922776"/>
            <a:ext cx="51937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A623"/>
                </a:solidFill>
              </a:rPr>
              <a:t>Memory / memdir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364224" y="3794760"/>
            <a:ext cx="5559552" cy="914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28816" y="4251960"/>
            <a:ext cx="2743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8A9BB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memdir/memdir.ts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8A9BB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memdir/findRelevantMemories.ts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8A9BB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services/SessionMemory/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9381744" y="4251960"/>
            <a:ext cx="237744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C4CDD8"/>
                </a:solidFill>
              </a:rPr>
              <a:t>• 结构化记忆文件目录系统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C4CDD8"/>
                </a:solidFill>
              </a:rPr>
              <a:t>• findRelevantMemories 语义搜索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C4CDD8"/>
                </a:solidFill>
              </a:rPr>
              <a:t>• teamMemPrompts 团队共享记忆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C4CDD8"/>
                </a:solidFill>
              </a:rPr>
              <a:t>• 跨会话持久化 agent 经验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9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" y="274320"/>
            <a:ext cx="1065276" cy="201168"/>
          </a:xfrm>
          <a:prstGeom prst="roundRect">
            <a:avLst>
              <a:gd name="adj" fmla="val 18182"/>
            </a:avLst>
          </a:prstGeom>
          <a:solidFill>
            <a:srgbClr val="1E2E4A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288036"/>
            <a:ext cx="3200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2D3EE"/>
                </a:solidFill>
              </a:rPr>
              <a:t>特色功能 · 02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58368" y="54864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8EDF5"/>
                </a:solidFill>
              </a:rPr>
              <a:t>Voice 模式：Push-to-Talk，接入 Anthropic 语音流服务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58368" y="1115568"/>
            <a:ext cx="10515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B5"/>
                </a:solidFill>
              </a:rPr>
              <a:t>不是通用 TTS/STT 库封装——而是直连 claude.ai voice_stream WebSocket，要求 OAuth 登录。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94360" y="6254496"/>
            <a:ext cx="11002975" cy="13716"/>
          </a:xfrm>
          <a:prstGeom prst="rect">
            <a:avLst/>
          </a:prstGeom>
          <a:solidFill>
            <a:srgbClr val="2A3F5F"/>
          </a:solidFill>
          <a:ln w="12700">
            <a:solidFill>
              <a:srgbClr val="2A3F5F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6309360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8A9BB5"/>
                </a:solidFill>
              </a:rPr>
              <a:t>Claude Code Sourcemap 源码解读 · 仅供研究</a:t>
            </a:r>
            <a:endParaRPr lang="en-US" sz="780" dirty="0"/>
          </a:p>
        </p:txBody>
      </p:sp>
      <p:sp>
        <p:nvSpPr>
          <p:cNvPr id="9" name="Shape 7"/>
          <p:cNvSpPr/>
          <p:nvPr/>
        </p:nvSpPr>
        <p:spPr>
          <a:xfrm>
            <a:off x="11228832" y="6364224"/>
            <a:ext cx="73152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98480" y="6291072"/>
            <a:ext cx="502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B0BDD0"/>
                </a:solidFill>
              </a:rPr>
              <a:t>25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621792" y="1536192"/>
            <a:ext cx="5230368" cy="4462272"/>
          </a:xfrm>
          <a:prstGeom prst="roundRect">
            <a:avLst>
              <a:gd name="adj" fmla="val 1434"/>
            </a:avLst>
          </a:prstGeom>
          <a:solidFill>
            <a:srgbClr val="162035"/>
          </a:solidFill>
          <a:ln w="12700">
            <a:solidFill>
              <a:srgbClr val="2A3F5F"/>
            </a:solidFill>
            <a:prstDash val="solid"/>
          </a:ln>
          <a:effectLst>
            <a:outerShdw sx="100000" sy="100000" kx="0" ky="0" algn="bl" rotWithShape="0" blurRad="19050" dist="4445" dir="27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04672" y="1664208"/>
            <a:ext cx="486460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D3EE"/>
                </a:solidFill>
              </a:rPr>
              <a:t>实现架构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04672" y="1956816"/>
            <a:ext cx="4864608" cy="3950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C4CDD8"/>
                </a:solidFill>
              </a:rPr>
              <a:t>• services/voice.ts — 音频录制主服务（525 行）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4CDD8"/>
                </a:solidFill>
              </a:rPr>
              <a:t>•   原生 audio-capture-napi（CoreAudio / ALSA）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4CDD8"/>
                </a:solidFill>
              </a:rPr>
              <a:t>•   fallback：SoX rec 或 arecord (Linux)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4CDD8"/>
                </a:solidFill>
              </a:rPr>
              <a:t>•   dlopen 懒加载——首次按键触发，避免启动卡顿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4CDD8"/>
                </a:solidFill>
              </a:rPr>
              <a:t>• 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4CDD8"/>
                </a:solidFill>
              </a:rPr>
              <a:t>• services/voiceStreamSTT.ts — 流式 STT（544 行）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4CDD8"/>
                </a:solidFill>
              </a:rPr>
              <a:t>•   WebSocket 连接 /api/ws/speech_to_text/voice_stream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4CDD8"/>
                </a:solidFill>
              </a:rPr>
              <a:t>•   协议：JSON 控制帧 + 二进制音频帧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4CDD8"/>
                </a:solidFill>
              </a:rPr>
              <a:t>•   服务端响应 TranscriptText / TranscriptEndpoint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4CDD8"/>
                </a:solidFill>
              </a:rPr>
              <a:t>•   8s KeepAlive 保活，5s safety timeout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4CDD8"/>
                </a:solidFill>
              </a:rPr>
              <a:t>• 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4CDD8"/>
                </a:solidFill>
              </a:rPr>
              <a:t>• services/voiceKeyterms.ts — 关键词识别优化（106 行）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4CDD8"/>
                </a:solidFill>
              </a:rPr>
              <a:t>•   voice/voiceModeEnabled.ts — GrowthBook 开关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998464" y="1536192"/>
            <a:ext cx="5577840" cy="2048256"/>
          </a:xfrm>
          <a:prstGeom prst="roundRect">
            <a:avLst>
              <a:gd name="adj" fmla="val 3125"/>
            </a:avLst>
          </a:prstGeom>
          <a:solidFill>
            <a:srgbClr val="1A2640"/>
          </a:solidFill>
          <a:ln w="12700">
            <a:solidFill>
              <a:srgbClr val="2A3F5F"/>
            </a:solidFill>
            <a:prstDash val="solid"/>
          </a:ln>
          <a:effectLst>
            <a:outerShdw sx="100000" sy="100000" kx="0" ky="0" algn="bl" rotWithShape="0" blurRad="19050" dist="4445" dir="27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181344" y="1664208"/>
            <a:ext cx="5212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B8EF5"/>
                </a:solidFill>
              </a:rPr>
              <a:t>Push-to-Talk 工作方式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181344" y="1956816"/>
            <a:ext cx="521208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4CDD8"/>
                </a:solidFill>
              </a:rPr>
              <a:t>• 按住快捷键 → 开始录音（16kHz 单声道）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4CDD8"/>
                </a:solidFill>
              </a:rPr>
              <a:t>• 松开 → 发送 CloseStream，等待 finalize()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4CDD8"/>
                </a:solidFill>
              </a:rPr>
              <a:t>• 沉默检测：SoX 2s / 3% 阈值（自动停止模式）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4CDD8"/>
                </a:solidFill>
              </a:rPr>
              <a:t>• 连接音频帧流式推送，边录边传，降低延迟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998464" y="3730752"/>
            <a:ext cx="5577840" cy="2267712"/>
          </a:xfrm>
          <a:prstGeom prst="roundRect">
            <a:avLst>
              <a:gd name="adj" fmla="val 2823"/>
            </a:avLst>
          </a:prstGeom>
          <a:solidFill>
            <a:srgbClr val="162035"/>
          </a:solidFill>
          <a:ln w="12700">
            <a:solidFill>
              <a:srgbClr val="2A3F5F"/>
            </a:solidFill>
            <a:prstDash val="solid"/>
          </a:ln>
          <a:effectLst>
            <a:outerShdw sx="100000" sy="100000" kx="0" ky="0" algn="bl" rotWithShape="0" blurRad="19050" dist="4445" dir="27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181344" y="3858768"/>
            <a:ext cx="5212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A623"/>
                </a:solidFill>
              </a:rPr>
              <a:t>权限与限制（源码直接说明）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181344" y="4151376"/>
            <a:ext cx="5212080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4CDD8"/>
                </a:solidFill>
              </a:rPr>
              <a:t>• 必须 Anthropic OAuth 登录——API key 不支持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4CDD8"/>
                </a:solidFill>
              </a:rPr>
              <a:t>• Bedrock / Vertex / Foundry 均不可用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4CDD8"/>
                </a:solidFill>
              </a:rPr>
              <a:t>• tengu_amber_quartz_disabled GrowthBook 紧急关闭开关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4CDD8"/>
                </a:solidFill>
              </a:rPr>
              <a:t>• WSL1 / headless Linux：arecord 需 ALSA/PulseAudio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4CDD8"/>
                </a:solidFill>
              </a:rPr>
              <a:t>• WSL2+WSLg（Win11）通过 RDP pipes 支持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4CDD8"/>
                </a:solidFill>
              </a:rPr>
              <a:t>• 冷启动 dlopen 可能阻塞事件循环 1–8s（已有注释说明）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9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" y="274320"/>
            <a:ext cx="1065276" cy="201168"/>
          </a:xfrm>
          <a:prstGeom prst="roundRect">
            <a:avLst>
              <a:gd name="adj" fmla="val 18182"/>
            </a:avLst>
          </a:prstGeom>
          <a:solidFill>
            <a:srgbClr val="1E2E4A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288036"/>
            <a:ext cx="3200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4D399"/>
                </a:solidFill>
              </a:rPr>
              <a:t>特色功能 · 03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58368" y="54864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8EDF5"/>
                </a:solidFill>
              </a:rPr>
              <a:t>Vim 模式：1,513 行的完整终端编辑器状态机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58368" y="1115568"/>
            <a:ext cx="10515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B5"/>
                </a:solidFill>
              </a:rPr>
              <a:t>不是「支持几个快捷键」——而是严格的 INSERT / NORMAL 双模式状态机，含 dot-repeat 和 text objects。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94360" y="6254496"/>
            <a:ext cx="11002975" cy="13716"/>
          </a:xfrm>
          <a:prstGeom prst="rect">
            <a:avLst/>
          </a:prstGeom>
          <a:solidFill>
            <a:srgbClr val="2A3F5F"/>
          </a:solidFill>
          <a:ln w="12700">
            <a:solidFill>
              <a:srgbClr val="2A3F5F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6309360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8A9BB5"/>
                </a:solidFill>
              </a:rPr>
              <a:t>Claude Code Sourcemap 源码解读 · 仅供研究</a:t>
            </a:r>
            <a:endParaRPr lang="en-US" sz="780" dirty="0"/>
          </a:p>
        </p:txBody>
      </p:sp>
      <p:sp>
        <p:nvSpPr>
          <p:cNvPr id="9" name="Shape 7"/>
          <p:cNvSpPr/>
          <p:nvPr/>
        </p:nvSpPr>
        <p:spPr>
          <a:xfrm>
            <a:off x="11228832" y="6364224"/>
            <a:ext cx="73152" cy="73152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98480" y="6291072"/>
            <a:ext cx="502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B0BDD0"/>
                </a:solidFill>
              </a:rPr>
              <a:t>26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621792" y="1536192"/>
            <a:ext cx="5230368" cy="4462272"/>
          </a:xfrm>
          <a:prstGeom prst="roundRect">
            <a:avLst>
              <a:gd name="adj" fmla="val 1434"/>
            </a:avLst>
          </a:prstGeom>
          <a:solidFill>
            <a:srgbClr val="162035"/>
          </a:solidFill>
          <a:ln w="12700">
            <a:solidFill>
              <a:srgbClr val="2A3F5F"/>
            </a:solidFill>
            <a:prstDash val="solid"/>
          </a:ln>
          <a:effectLst>
            <a:outerShdw sx="100000" sy="100000" kx="0" ky="0" algn="bl" rotWithShape="0" blurRad="19050" dist="4445" dir="27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04672" y="1664208"/>
            <a:ext cx="486460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4D399"/>
                </a:solidFill>
              </a:rPr>
              <a:t>状态机设计（types.ts 注释原文）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04672" y="1956816"/>
            <a:ext cx="4864608" cy="39136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VimState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INSERT  (tracks insertedText)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NORMAL  — CommandState 子状态机</a:t>
            </a:r>
            <a:endParaRPr lang="en-US" sz="980" dirty="0"/>
          </a:p>
          <a:p>
            <a:pPr indent="0" marL="0">
              <a:buNone/>
            </a:pP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idle ──┬─[d/c/y]──► operator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    ├─[1-9]────► count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    ├─[fFtT]───► find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    ├─[g]──────► g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    ├─[r]──────► replace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    └─[&gt;&lt;]─────► indent</a:t>
            </a:r>
            <a:endParaRPr lang="en-US" sz="980" dirty="0"/>
          </a:p>
          <a:p>
            <a:pPr indent="0" marL="0">
              <a:buNone/>
            </a:pP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operator ─┬─[motion]──► execute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       ├─[0-9]────► operatorCount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       ├─[ia]─────► operatorTextObj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       └─[fFtT]───► operatorFind</a:t>
            </a:r>
            <a:endParaRPr lang="en-US" sz="980" dirty="0"/>
          </a:p>
        </p:txBody>
      </p:sp>
      <p:sp>
        <p:nvSpPr>
          <p:cNvPr id="14" name="Shape 12"/>
          <p:cNvSpPr/>
          <p:nvPr/>
        </p:nvSpPr>
        <p:spPr>
          <a:xfrm>
            <a:off x="5998464" y="1536192"/>
            <a:ext cx="5577840" cy="2048256"/>
          </a:xfrm>
          <a:prstGeom prst="roundRect">
            <a:avLst>
              <a:gd name="adj" fmla="val 3125"/>
            </a:avLst>
          </a:prstGeom>
          <a:solidFill>
            <a:srgbClr val="1A2640"/>
          </a:solidFill>
          <a:ln w="12700">
            <a:solidFill>
              <a:srgbClr val="2A3F5F"/>
            </a:solidFill>
            <a:prstDash val="solid"/>
          </a:ln>
          <a:effectLst>
            <a:outerShdw sx="100000" sy="100000" kx="0" ky="0" algn="bl" rotWithShape="0" blurRad="19050" dist="4445" dir="27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181344" y="1664208"/>
            <a:ext cx="5212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4D399"/>
                </a:solidFill>
              </a:rPr>
              <a:t>实现文件（1,513 行）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181344" y="1956816"/>
            <a:ext cx="521208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4CDD8"/>
                </a:solidFill>
              </a:rPr>
              <a:t>• types.ts（199 行）——状态机类型即文档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4CDD8"/>
                </a:solidFill>
              </a:rPr>
              <a:t>• transitions.ts（490 行）——状态转移核心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4CDD8"/>
                </a:solidFill>
              </a:rPr>
              <a:t>• operators.ts（556 行）——delete / change / yank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4CDD8"/>
                </a:solidFill>
              </a:rPr>
              <a:t>• textObjects.ts（186 行）——w W ( [ { &lt; " ' ` …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4CDD8"/>
                </a:solidFill>
              </a:rPr>
              <a:t>• motions.ts（82 行）——h j k l w b e ^ $ …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998464" y="3730752"/>
            <a:ext cx="5577840" cy="2267712"/>
          </a:xfrm>
          <a:prstGeom prst="roundRect">
            <a:avLst>
              <a:gd name="adj" fmla="val 2823"/>
            </a:avLst>
          </a:prstGeom>
          <a:solidFill>
            <a:srgbClr val="162035"/>
          </a:solidFill>
          <a:ln w="12700">
            <a:solidFill>
              <a:srgbClr val="2A3F5F"/>
            </a:solidFill>
            <a:prstDash val="solid"/>
          </a:ln>
          <a:effectLst>
            <a:outerShdw sx="100000" sy="100000" kx="0" ky="0" algn="bl" rotWithShape="0" blurRad="19050" dist="4445" dir="27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181344" y="3858768"/>
            <a:ext cx="5212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D3EE"/>
                </a:solidFill>
              </a:rPr>
              <a:t>支持特性（源码验证）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181344" y="4151376"/>
            <a:ext cx="5212080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4CDD8"/>
                </a:solidFill>
              </a:rPr>
              <a:t>• 完整 operators：delete(d) / change(c) / yank(y)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4CDD8"/>
                </a:solidFill>
              </a:rPr>
              <a:t>• Text objects：word / WORD / 括号 / 引号 / 花括号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4CDD8"/>
                </a:solidFill>
              </a:rPr>
              <a:t>• Find motions：f F t T（含反向）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4CDD8"/>
                </a:solidFill>
              </a:rPr>
              <a:t>• Count prefix：3dw / 2dd / 5j 等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4CDD8"/>
                </a:solidFill>
              </a:rPr>
              <a:t>• Dot-repeat（.）：RecordedChange 记录完整重放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4CDD8"/>
                </a:solidFill>
              </a:rPr>
              <a:t>• Register：yank/paste 寄存器 + linewise 标记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4CDD8"/>
                </a:solidFill>
              </a:rPr>
              <a:t>• MAX_VIM_COUNT = 10000（防止卡死）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9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" y="274320"/>
            <a:ext cx="1065276" cy="201168"/>
          </a:xfrm>
          <a:prstGeom prst="roundRect">
            <a:avLst>
              <a:gd name="adj" fmla="val 18182"/>
            </a:avLst>
          </a:prstGeom>
          <a:solidFill>
            <a:srgbClr val="1E2E4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288036"/>
            <a:ext cx="3200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A78BFA"/>
                </a:solidFill>
              </a:rPr>
              <a:t>特色功能 · 04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58368" y="54864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8EDF5"/>
                </a:solidFill>
              </a:rPr>
              <a:t>Buddy：你的 AI 伴侣——18 个物种、5 个稀有度、确定性孵化算法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58368" y="1115568"/>
            <a:ext cx="10515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B5"/>
                </a:solidFill>
              </a:rPr>
              <a:t>源码里的隐藏彩蛋：2026 年 4 月 1 日 Teaser 窗口，基于 userId hash 生成唯一伴侣。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94360" y="6254496"/>
            <a:ext cx="11002975" cy="13716"/>
          </a:xfrm>
          <a:prstGeom prst="rect">
            <a:avLst/>
          </a:prstGeom>
          <a:solidFill>
            <a:srgbClr val="2A3F5F"/>
          </a:solidFill>
          <a:ln w="12700">
            <a:solidFill>
              <a:srgbClr val="2A3F5F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6309360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8A9BB5"/>
                </a:solidFill>
              </a:rPr>
              <a:t>Claude Code Sourcemap 源码解读 · 仅供研究</a:t>
            </a:r>
            <a:endParaRPr lang="en-US" sz="780" dirty="0"/>
          </a:p>
        </p:txBody>
      </p:sp>
      <p:sp>
        <p:nvSpPr>
          <p:cNvPr id="9" name="Shape 7"/>
          <p:cNvSpPr/>
          <p:nvPr/>
        </p:nvSpPr>
        <p:spPr>
          <a:xfrm>
            <a:off x="11228832" y="6364224"/>
            <a:ext cx="73152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98480" y="6291072"/>
            <a:ext cx="502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B0BDD0"/>
                </a:solidFill>
              </a:rPr>
              <a:t>27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621792" y="1536192"/>
            <a:ext cx="5230368" cy="4462272"/>
          </a:xfrm>
          <a:prstGeom prst="roundRect">
            <a:avLst>
              <a:gd name="adj" fmla="val 1434"/>
            </a:avLst>
          </a:prstGeom>
          <a:solidFill>
            <a:srgbClr val="162035"/>
          </a:solidFill>
          <a:ln w="12700">
            <a:solidFill>
              <a:srgbClr val="2A3F5F"/>
            </a:solidFill>
            <a:prstDash val="solid"/>
          </a:ln>
          <a:effectLst>
            <a:outerShdw sx="100000" sy="100000" kx="0" ky="0" algn="bl" rotWithShape="0" blurRad="19050" dist="4445" dir="27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04672" y="1664208"/>
            <a:ext cx="486460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78BFA"/>
                </a:solidFill>
              </a:rPr>
              <a:t>角色生成系统（1,298 行）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04672" y="1956816"/>
            <a:ext cx="4864608" cy="3950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C4CDD8"/>
                </a:solidFill>
              </a:rPr>
              <a:t>• 18 种物种：duck / goose / cat / dragon / octopus /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4CDD8"/>
                </a:solidFill>
              </a:rPr>
              <a:t>•   owl / penguin / turtle / snail / ghost / axolotl /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4CDD8"/>
                </a:solidFill>
              </a:rPr>
              <a:t>•   capybara / cactus / robot / rabbit / mushroom / chonk / blob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4CDD8"/>
                </a:solidFill>
              </a:rPr>
              <a:t>• 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4CDD8"/>
                </a:solidFill>
              </a:rPr>
              <a:t>• 5 个稀有度（按权重）：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4CDD8"/>
                </a:solidFill>
              </a:rPr>
              <a:t>•   common 60% / uncommon 25% / rare 10%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4CDD8"/>
                </a:solidFill>
              </a:rPr>
              <a:t>•   epic 4% / legendary 1%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4CDD8"/>
                </a:solidFill>
              </a:rPr>
              <a:t>• 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4CDD8"/>
                </a:solidFill>
              </a:rPr>
              <a:t>• 6 种眼睛：· ✦ × ◉ @ 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4CDD8"/>
                </a:solidFill>
              </a:rPr>
              <a:t>• 8 种帽子：crown / tophat / propeller / halo /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4CDD8"/>
                </a:solidFill>
              </a:rPr>
              <a:t>•   wizard / beanie / tinyduck（common 无帽子）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4CDD8"/>
                </a:solidFill>
              </a:rPr>
              <a:t>• Shiny 概率：1%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4CDD8"/>
                </a:solidFill>
              </a:rPr>
              <a:t>• 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4CDD8"/>
                </a:solidFill>
              </a:rPr>
              <a:t>• 5 维属性：DEBUGGING / PATIENCE / CHAOS / WISDOM / SNARK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998464" y="1536192"/>
            <a:ext cx="5577840" cy="2331720"/>
          </a:xfrm>
          <a:prstGeom prst="roundRect">
            <a:avLst>
              <a:gd name="adj" fmla="val 2745"/>
            </a:avLst>
          </a:prstGeom>
          <a:solidFill>
            <a:srgbClr val="1A2640"/>
          </a:solidFill>
          <a:ln w="12700">
            <a:solidFill>
              <a:srgbClr val="2A3F5F"/>
            </a:solidFill>
            <a:prstDash val="solid"/>
          </a:ln>
          <a:effectLst>
            <a:outerShdw sx="100000" sy="100000" kx="0" ky="0" algn="bl" rotWithShape="0" blurRad="19050" dist="4445" dir="27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181344" y="1664208"/>
            <a:ext cx="5212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A623"/>
                </a:solidFill>
              </a:rPr>
              <a:t>确定性孵化算法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181344" y="1956816"/>
            <a:ext cx="5212080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C4CDD8"/>
                </a:solidFill>
              </a:rPr>
              <a:t>• mulberry32（seeded PRNG）+ hashString(userId + SALT)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4CDD8"/>
                </a:solidFill>
              </a:rPr>
              <a:t>• SALT = 'friend-2026-401'（固定种子）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4CDD8"/>
                </a:solidFill>
              </a:rPr>
              <a:t>• 同一 userId 永远孵化同一只伴侣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4CDD8"/>
                </a:solidFill>
              </a:rPr>
              <a:t>• Bones 每次从 hash 重新生成，不持久化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4CDD8"/>
                </a:solidFill>
              </a:rPr>
              <a:t>•   — 防止用户编辑 config 作弊稀有度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4CDD8"/>
                </a:solidFill>
              </a:rPr>
              <a:t>• Soul（name + personality）由模型生成，持久化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4CDD8"/>
                </a:solidFill>
              </a:rPr>
              <a:t>• Bun.hash 加速（Bun 环境下用原生 hash）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98464" y="4005072"/>
            <a:ext cx="5577840" cy="1993392"/>
          </a:xfrm>
          <a:prstGeom prst="roundRect">
            <a:avLst>
              <a:gd name="adj" fmla="val 3211"/>
            </a:avLst>
          </a:prstGeom>
          <a:solidFill>
            <a:srgbClr val="162035"/>
          </a:solidFill>
          <a:ln w="12700">
            <a:solidFill>
              <a:srgbClr val="2A3F5F"/>
            </a:solidFill>
            <a:prstDash val="solid"/>
          </a:ln>
          <a:effectLst>
            <a:outerShdw sx="100000" sy="100000" kx="0" ky="0" algn="bl" rotWithShape="0" blurRad="19050" dist="4445" dir="27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181344" y="4133088"/>
            <a:ext cx="5212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D3EE"/>
                </a:solidFill>
              </a:rPr>
              <a:t>发布窗口（源码硬编码）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181344" y="4425696"/>
            <a:ext cx="52120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4CDD8"/>
                </a:solidFill>
              </a:rPr>
              <a:t>• Teaser 窗口：2026-04-01 ~ 04-07（本地时区）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4CDD8"/>
                </a:solidFill>
              </a:rPr>
              <a:t>•   — 跨时区滚动，避免 UTC 午夜流量峰值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4CDD8"/>
                </a:solidFill>
              </a:rPr>
              <a:t>• 功能永久上线：2026 年 4 月之后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4CDD8"/>
                </a:solidFill>
              </a:rPr>
              <a:t>• feature('BUDDY') gate 控制全局可见性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4CDD8"/>
                </a:solidFill>
              </a:rPr>
              <a:t>• companion.ts 注释：'good enough for picking ducks'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9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" y="274320"/>
            <a:ext cx="1065276" cy="201168"/>
          </a:xfrm>
          <a:prstGeom prst="roundRect">
            <a:avLst>
              <a:gd name="adj" fmla="val 18182"/>
            </a:avLst>
          </a:prstGeom>
          <a:solidFill>
            <a:srgbClr val="1E2E4A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288036"/>
            <a:ext cx="3200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A623"/>
                </a:solidFill>
              </a:rPr>
              <a:t>特色功能 · 05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58368" y="54864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8EDF5"/>
                </a:solidFill>
              </a:rPr>
              <a:t>KAIROS：隐藏在 feature gate 背后的 Assistant 模式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58368" y="1115568"/>
            <a:ext cx="10515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B5"/>
                </a:solidFill>
              </a:rPr>
              <a:t>代码里出现 20+ 次 feature('KAIROS')——这是一套与 coding agent 并列的 AI 助手运行模式。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94360" y="6254496"/>
            <a:ext cx="11002975" cy="13716"/>
          </a:xfrm>
          <a:prstGeom prst="rect">
            <a:avLst/>
          </a:prstGeom>
          <a:solidFill>
            <a:srgbClr val="2A3F5F"/>
          </a:solidFill>
          <a:ln w="12700">
            <a:solidFill>
              <a:srgbClr val="2A3F5F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6309360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8A9BB5"/>
                </a:solidFill>
              </a:rPr>
              <a:t>Claude Code Sourcemap 源码解读 · 仅供研究</a:t>
            </a:r>
            <a:endParaRPr lang="en-US" sz="780" dirty="0"/>
          </a:p>
        </p:txBody>
      </p:sp>
      <p:sp>
        <p:nvSpPr>
          <p:cNvPr id="9" name="Shape 7"/>
          <p:cNvSpPr/>
          <p:nvPr/>
        </p:nvSpPr>
        <p:spPr>
          <a:xfrm>
            <a:off x="11228832" y="6364224"/>
            <a:ext cx="73152" cy="7315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98480" y="6291072"/>
            <a:ext cx="502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B0BDD0"/>
                </a:solidFill>
              </a:rPr>
              <a:t>28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621792" y="1536192"/>
            <a:ext cx="5230368" cy="2139696"/>
          </a:xfrm>
          <a:prstGeom prst="roundRect">
            <a:avLst>
              <a:gd name="adj" fmla="val 2991"/>
            </a:avLst>
          </a:prstGeom>
          <a:solidFill>
            <a:srgbClr val="162035"/>
          </a:solidFill>
          <a:ln w="12700">
            <a:solidFill>
              <a:srgbClr val="2A3F5F"/>
            </a:solidFill>
            <a:prstDash val="solid"/>
          </a:ln>
          <a:effectLst>
            <a:outerShdw sx="100000" sy="100000" kx="0" ky="0" algn="bl" rotWithShape="0" blurRad="19050" dist="4445" dir="27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04672" y="1664208"/>
            <a:ext cx="486460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A623"/>
                </a:solidFill>
              </a:rPr>
              <a:t>KAIROS 是什么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04672" y="1956816"/>
            <a:ext cx="4864608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4CDD8"/>
                </a:solidFill>
              </a:rPr>
              <a:t>• assistant/ 目录下的独立运行模块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4CDD8"/>
                </a:solidFill>
              </a:rPr>
              <a:t>• assistant/index.js：isAssistantMode() / initializeAssistantTeam()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4CDD8"/>
                </a:solidFill>
              </a:rPr>
              <a:t>• assistant/gate.js：isKairosEnabled()——GrowthBook 动态开关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4CDD8"/>
                </a:solidFill>
              </a:rPr>
              <a:t>• assistant/sessionHistory.ts：会话历史翻页 API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4CDD8"/>
                </a:solidFill>
              </a:rPr>
              <a:t>• 通过 --assistant 命令行参数强制启用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4CDD8"/>
                </a:solidFill>
              </a:rPr>
              <a:t>• defaultView: 'chat' 时触发 brief-only 模式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1792" y="3822192"/>
            <a:ext cx="5230368" cy="2176272"/>
          </a:xfrm>
          <a:prstGeom prst="roundRect">
            <a:avLst>
              <a:gd name="adj" fmla="val 2941"/>
            </a:avLst>
          </a:prstGeom>
          <a:solidFill>
            <a:srgbClr val="162035"/>
          </a:solidFill>
          <a:ln w="12700">
            <a:solidFill>
              <a:srgbClr val="2A3F5F"/>
            </a:solidFill>
            <a:prstDash val="solid"/>
          </a:ln>
          <a:effectLst>
            <a:outerShdw sx="100000" sy="100000" kx="0" ky="0" algn="bl" rotWithShape="0" blurRad="19050" dist="4445" dir="27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04672" y="3950208"/>
            <a:ext cx="486460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87171"/>
                </a:solidFill>
              </a:rPr>
              <a:t>与 Coding Agent 模式的差异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04672" y="4242816"/>
            <a:ext cx="4864608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4CDD8"/>
                </a:solidFill>
              </a:rPr>
              <a:t>• 独立 assistantTeamContext——不共用 coding agent team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4CDD8"/>
                </a:solidFill>
              </a:rPr>
              <a:t>• 有 pendingAssistantChat（session discover 逻辑）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4CDD8"/>
                </a:solidFill>
              </a:rPr>
              <a:t>• assistantActivationPath 影响工具可见性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4CDD8"/>
                </a:solidFill>
              </a:rPr>
              <a:t>• getUserMsgOptIn() 控制 brief-only 初始状态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4CDD8"/>
                </a:solidFill>
              </a:rPr>
              <a:t>• KAIROS_BRIEF / KAIROS_CHANNELS 是子特性开关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998464" y="1536192"/>
            <a:ext cx="5577840" cy="1389888"/>
          </a:xfrm>
          <a:prstGeom prst="roundRect">
            <a:avLst>
              <a:gd name="adj" fmla="val 4605"/>
            </a:avLst>
          </a:prstGeom>
          <a:solidFill>
            <a:srgbClr val="1A2640"/>
          </a:solidFill>
          <a:ln w="12700">
            <a:solidFill>
              <a:srgbClr val="2A3F5F"/>
            </a:solidFill>
            <a:prstDash val="solid"/>
          </a:ln>
          <a:effectLst>
            <a:outerShdw sx="100000" sy="100000" kx="0" ky="0" algn="bl" rotWithShape="0" blurRad="19050" dist="4445" dir="27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181344" y="1664208"/>
            <a:ext cx="5212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78BFA"/>
                </a:solidFill>
              </a:rPr>
              <a:t>关联子特性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181344" y="1956816"/>
            <a:ext cx="52120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4CDD8"/>
                </a:solidFill>
              </a:rPr>
              <a:t>• KAIROS_BRIEF — BriefTool 可见性（检查点汇报）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4CDD8"/>
                </a:solidFill>
              </a:rPr>
              <a:t>• KAIROS_CHANNELS — 允许 --channels / --dangerously-load-development-channels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4CDD8"/>
                </a:solidFill>
              </a:rPr>
              <a:t>• PROACTIVE — 主动触发，与 KAIROS 部分逻辑共享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98464" y="3072384"/>
            <a:ext cx="5577840" cy="1426464"/>
          </a:xfrm>
          <a:prstGeom prst="roundRect">
            <a:avLst>
              <a:gd name="adj" fmla="val 4487"/>
            </a:avLst>
          </a:prstGeom>
          <a:solidFill>
            <a:srgbClr val="162035"/>
          </a:solidFill>
          <a:ln w="12700">
            <a:solidFill>
              <a:srgbClr val="2A3F5F"/>
            </a:solidFill>
            <a:prstDash val="solid"/>
          </a:ln>
          <a:effectLst>
            <a:outerShdw sx="100000" sy="100000" kx="0" ky="0" algn="bl" rotWithShape="0" blurRad="19050" dist="4445" dir="27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181344" y="3200400"/>
            <a:ext cx="5212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D3EE"/>
                </a:solidFill>
              </a:rPr>
              <a:t>源码直接可见的信号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181344" y="3493008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4CDD8"/>
                </a:solidFill>
              </a:rPr>
              <a:t>• main.tsx 78 行：Dead code elimination 注释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4CDD8"/>
                </a:solidFill>
              </a:rPr>
              <a:t>•   — 说明 KAIROS 模块在外部构建中被剔除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4CDD8"/>
                </a:solidFill>
              </a:rPr>
              <a:t>• tengu_kairos GrowthBook 标志控制实际启用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4CDD8"/>
                </a:solidFill>
              </a:rPr>
              <a:t>• session history 使用 ccr-byoc-2025-07-29 beta 头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998464" y="4645152"/>
            <a:ext cx="5577840" cy="1353312"/>
          </a:xfrm>
          <a:prstGeom prst="roundRect">
            <a:avLst>
              <a:gd name="adj" fmla="val 4730"/>
            </a:avLst>
          </a:prstGeom>
          <a:solidFill>
            <a:srgbClr val="1A2640"/>
          </a:solidFill>
          <a:ln w="12700">
            <a:solidFill>
              <a:srgbClr val="2A3F5F"/>
            </a:solidFill>
            <a:prstDash val="solid"/>
          </a:ln>
          <a:effectLst>
            <a:outerShdw sx="100000" sy="100000" kx="0" ky="0" algn="bl" rotWithShape="0" blurRad="19050" dist="4445" dir="2700000">
              <a:srgbClr val="000000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181344" y="4773168"/>
            <a:ext cx="5212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A623"/>
                </a:solidFill>
              </a:rPr>
              <a:t>可以合理推断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181344" y="5065776"/>
            <a:ext cx="5212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4CDD8"/>
                </a:solidFill>
              </a:rPr>
              <a:t>• KAIROS 是 Claude.ai 对话能力接入 Claude Code 的通道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4CDD8"/>
                </a:solidFill>
              </a:rPr>
              <a:t>• 与 Bridge/Remote 共同构成多 surface 战略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4CDD8"/>
                </a:solidFill>
              </a:rPr>
              <a:t>• 目前仅对内部或白名单用户开放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9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B8EF5"/>
          </a:solidFill>
          <a:ln w="12700">
            <a:solidFill>
              <a:srgbClr val="4B8EF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" y="274320"/>
            <a:ext cx="909828" cy="201168"/>
          </a:xfrm>
          <a:prstGeom prst="roundRect">
            <a:avLst>
              <a:gd name="adj" fmla="val 18182"/>
            </a:avLst>
          </a:prstGeom>
          <a:solidFill>
            <a:srgbClr val="1E2E4A"/>
          </a:solidFill>
          <a:ln w="12700">
            <a:solidFill>
              <a:srgbClr val="4B8EF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288036"/>
            <a:ext cx="3200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B8EF5"/>
                </a:solidFill>
              </a:rPr>
              <a:t>总结 · 01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58368" y="54864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8EDF5"/>
                </a:solidFill>
              </a:rPr>
              <a:t>如何继续阅读源码：建议按这条顺序推进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58368" y="1115568"/>
            <a:ext cx="10515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B5"/>
                </a:solidFill>
              </a:rPr>
              <a:t>先建立全局模型，再逐层下钻——避免在细节里迷失。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94360" y="6254496"/>
            <a:ext cx="11002975" cy="13716"/>
          </a:xfrm>
          <a:prstGeom prst="rect">
            <a:avLst/>
          </a:prstGeom>
          <a:solidFill>
            <a:srgbClr val="2A3F5F"/>
          </a:solidFill>
          <a:ln w="12700">
            <a:solidFill>
              <a:srgbClr val="2A3F5F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6309360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8A9BB5"/>
                </a:solidFill>
              </a:rPr>
              <a:t>Claude Code Sourcemap 源码解读 · 仅供研究</a:t>
            </a:r>
            <a:endParaRPr lang="en-US" sz="780" dirty="0"/>
          </a:p>
        </p:txBody>
      </p:sp>
      <p:sp>
        <p:nvSpPr>
          <p:cNvPr id="9" name="Shape 7"/>
          <p:cNvSpPr/>
          <p:nvPr/>
        </p:nvSpPr>
        <p:spPr>
          <a:xfrm>
            <a:off x="11228832" y="6364224"/>
            <a:ext cx="73152" cy="73152"/>
          </a:xfrm>
          <a:prstGeom prst="rect">
            <a:avLst/>
          </a:prstGeom>
          <a:solidFill>
            <a:srgbClr val="4B8EF5"/>
          </a:solidFill>
          <a:ln w="12700">
            <a:solidFill>
              <a:srgbClr val="4B8EF5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98480" y="6291072"/>
            <a:ext cx="502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B0BDD0"/>
                </a:solidFill>
              </a:rPr>
              <a:t>29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621792" y="1536192"/>
            <a:ext cx="5623560" cy="4480560"/>
          </a:xfrm>
          <a:prstGeom prst="roundRect">
            <a:avLst>
              <a:gd name="adj" fmla="val 1633"/>
            </a:avLst>
          </a:prstGeom>
          <a:solidFill>
            <a:srgbClr val="162035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4672" y="1664208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A623"/>
                </a:solidFill>
              </a:rPr>
              <a:t>第一轮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04672" y="1956816"/>
            <a:ext cx="5257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BB5"/>
                </a:solidFill>
              </a:rPr>
              <a:t>建立系统大图（理解 70% 行为）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4672" y="2249424"/>
            <a:ext cx="5257800" cy="9144"/>
          </a:xfrm>
          <a:prstGeom prst="rect">
            <a:avLst/>
          </a:prstGeom>
          <a:solidFill>
            <a:srgbClr val="2A3F5F"/>
          </a:solidFill>
          <a:ln w="12700">
            <a:solidFill>
              <a:srgbClr val="2A3F5F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2340864"/>
            <a:ext cx="5212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F5A62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entrypoints/cli.tsx</a:t>
            </a:r>
            <a:endParaRPr lang="en-US" sz="1020" dirty="0"/>
          </a:p>
        </p:txBody>
      </p:sp>
      <p:sp>
        <p:nvSpPr>
          <p:cNvPr id="16" name="Text 14"/>
          <p:cNvSpPr/>
          <p:nvPr/>
        </p:nvSpPr>
        <p:spPr>
          <a:xfrm>
            <a:off x="822960" y="2569464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C4CDD8"/>
                </a:solidFill>
              </a:rPr>
              <a:t>入口分流逻辑与启动策略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822960" y="3054096"/>
            <a:ext cx="5212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F5A62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main.tsx</a:t>
            </a:r>
            <a:endParaRPr lang="en-US" sz="1020" dirty="0"/>
          </a:p>
        </p:txBody>
      </p:sp>
      <p:sp>
        <p:nvSpPr>
          <p:cNvPr id="18" name="Text 16"/>
          <p:cNvSpPr/>
          <p:nvPr/>
        </p:nvSpPr>
        <p:spPr>
          <a:xfrm>
            <a:off x="822960" y="3282696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C4CDD8"/>
                </a:solidFill>
              </a:rPr>
              <a:t>startup 编排全景（4,683 行，建议用 outline view）</a:t>
            </a:r>
            <a:endParaRPr lang="en-US" sz="980" dirty="0"/>
          </a:p>
        </p:txBody>
      </p:sp>
      <p:sp>
        <p:nvSpPr>
          <p:cNvPr id="19" name="Text 17"/>
          <p:cNvSpPr/>
          <p:nvPr/>
        </p:nvSpPr>
        <p:spPr>
          <a:xfrm>
            <a:off x="822960" y="3767328"/>
            <a:ext cx="5212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F5A62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QueryEngine.ts</a:t>
            </a:r>
            <a:endParaRPr lang="en-US" sz="1020" dirty="0"/>
          </a:p>
        </p:txBody>
      </p:sp>
      <p:sp>
        <p:nvSpPr>
          <p:cNvPr id="20" name="Text 18"/>
          <p:cNvSpPr/>
          <p:nvPr/>
        </p:nvSpPr>
        <p:spPr>
          <a:xfrm>
            <a:off x="822960" y="3995928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C4CDD8"/>
                </a:solidFill>
              </a:rPr>
              <a:t>会话对象设计与 SDK 接口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822960" y="4480560"/>
            <a:ext cx="5212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F5A62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query.ts</a:t>
            </a:r>
            <a:endParaRPr lang="en-US" sz="1020" dirty="0"/>
          </a:p>
        </p:txBody>
      </p:sp>
      <p:sp>
        <p:nvSpPr>
          <p:cNvPr id="22" name="Text 20"/>
          <p:cNvSpPr/>
          <p:nvPr/>
        </p:nvSpPr>
        <p:spPr>
          <a:xfrm>
            <a:off x="822960" y="470916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C4CDD8"/>
                </a:solidFill>
              </a:rPr>
              <a:t>agent loop 的真正核心，递归状态机</a:t>
            </a:r>
            <a:endParaRPr lang="en-US" sz="980" dirty="0"/>
          </a:p>
        </p:txBody>
      </p:sp>
      <p:sp>
        <p:nvSpPr>
          <p:cNvPr id="23" name="Text 21"/>
          <p:cNvSpPr/>
          <p:nvPr/>
        </p:nvSpPr>
        <p:spPr>
          <a:xfrm>
            <a:off x="822960" y="5193792"/>
            <a:ext cx="5212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F5A62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Tool.ts + tools.ts</a:t>
            </a:r>
            <a:endParaRPr lang="en-US" sz="1020" dirty="0"/>
          </a:p>
        </p:txBody>
      </p:sp>
      <p:sp>
        <p:nvSpPr>
          <p:cNvPr id="24" name="Text 22"/>
          <p:cNvSpPr/>
          <p:nvPr/>
        </p:nvSpPr>
        <p:spPr>
          <a:xfrm>
            <a:off x="822960" y="5422392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C4CDD8"/>
                </a:solidFill>
              </a:rPr>
              <a:t>tool 抽象模型与 registry</a:t>
            </a:r>
            <a:endParaRPr lang="en-US" sz="980" dirty="0"/>
          </a:p>
        </p:txBody>
      </p:sp>
      <p:sp>
        <p:nvSpPr>
          <p:cNvPr id="25" name="Shape 23"/>
          <p:cNvSpPr/>
          <p:nvPr/>
        </p:nvSpPr>
        <p:spPr>
          <a:xfrm>
            <a:off x="6492240" y="1536192"/>
            <a:ext cx="5623560" cy="4480560"/>
          </a:xfrm>
          <a:prstGeom prst="roundRect">
            <a:avLst>
              <a:gd name="adj" fmla="val 1633"/>
            </a:avLst>
          </a:prstGeom>
          <a:solidFill>
            <a:srgbClr val="162035"/>
          </a:solidFill>
          <a:ln w="12700">
            <a:solidFill>
              <a:srgbClr val="4B8EF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75120" y="1664208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B8EF5"/>
                </a:solidFill>
              </a:rPr>
              <a:t>第二轮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675120" y="1956816"/>
            <a:ext cx="5257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BB5"/>
                </a:solidFill>
              </a:rPr>
              <a:t>攻克执行与扩展层（理解剩余 30%）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675120" y="2249424"/>
            <a:ext cx="5257800" cy="9144"/>
          </a:xfrm>
          <a:prstGeom prst="rect">
            <a:avLst/>
          </a:prstGeom>
          <a:solidFill>
            <a:srgbClr val="2A3F5F"/>
          </a:solidFill>
          <a:ln w="12700">
            <a:solidFill>
              <a:srgbClr val="2A3F5F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693408" y="2340864"/>
            <a:ext cx="5212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4B8EF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services/tools/toolExecution.ts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6693408" y="2569464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C4CDD8"/>
                </a:solidFill>
              </a:rPr>
              <a:t>工具执行主路径与 hook 编排</a:t>
            </a:r>
            <a:endParaRPr lang="en-US" sz="980" dirty="0"/>
          </a:p>
        </p:txBody>
      </p:sp>
      <p:sp>
        <p:nvSpPr>
          <p:cNvPr id="31" name="Text 29"/>
          <p:cNvSpPr/>
          <p:nvPr/>
        </p:nvSpPr>
        <p:spPr>
          <a:xfrm>
            <a:off x="6693408" y="3054096"/>
            <a:ext cx="5212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4B8EF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services/tools/toolHooks.ts</a:t>
            </a:r>
            <a:endParaRPr lang="en-US" sz="1020" dirty="0"/>
          </a:p>
        </p:txBody>
      </p:sp>
      <p:sp>
        <p:nvSpPr>
          <p:cNvPr id="32" name="Text 30"/>
          <p:cNvSpPr/>
          <p:nvPr/>
        </p:nvSpPr>
        <p:spPr>
          <a:xfrm>
            <a:off x="6693408" y="3282696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C4CDD8"/>
                </a:solidFill>
              </a:rPr>
              <a:t>Pre/Post hook 协议细节</a:t>
            </a:r>
            <a:endParaRPr lang="en-US" sz="980" dirty="0"/>
          </a:p>
        </p:txBody>
      </p:sp>
      <p:sp>
        <p:nvSpPr>
          <p:cNvPr id="33" name="Text 31"/>
          <p:cNvSpPr/>
          <p:nvPr/>
        </p:nvSpPr>
        <p:spPr>
          <a:xfrm>
            <a:off x="6693408" y="3767328"/>
            <a:ext cx="5212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4B8EF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tools/AgentTool/ + utils/swarm/</a:t>
            </a:r>
            <a:endParaRPr lang="en-US" sz="1020" dirty="0"/>
          </a:p>
        </p:txBody>
      </p:sp>
      <p:sp>
        <p:nvSpPr>
          <p:cNvPr id="34" name="Text 32"/>
          <p:cNvSpPr/>
          <p:nvPr/>
        </p:nvSpPr>
        <p:spPr>
          <a:xfrm>
            <a:off x="6693408" y="3995928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C4CDD8"/>
                </a:solidFill>
              </a:rPr>
              <a:t>多 Agent 运行时</a:t>
            </a:r>
            <a:endParaRPr lang="en-US" sz="980" dirty="0"/>
          </a:p>
        </p:txBody>
      </p:sp>
      <p:sp>
        <p:nvSpPr>
          <p:cNvPr id="35" name="Text 33"/>
          <p:cNvSpPr/>
          <p:nvPr/>
        </p:nvSpPr>
        <p:spPr>
          <a:xfrm>
            <a:off x="6693408" y="4480560"/>
            <a:ext cx="5212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4B8EF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services/mcp/client.ts</a:t>
            </a:r>
            <a:endParaRPr lang="en-US" sz="1020" dirty="0"/>
          </a:p>
        </p:txBody>
      </p:sp>
      <p:sp>
        <p:nvSpPr>
          <p:cNvPr id="36" name="Text 34"/>
          <p:cNvSpPr/>
          <p:nvPr/>
        </p:nvSpPr>
        <p:spPr>
          <a:xfrm>
            <a:off x="6693408" y="470916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C4CDD8"/>
                </a:solidFill>
              </a:rPr>
              <a:t>外部能力接入协议</a:t>
            </a:r>
            <a:endParaRPr lang="en-US" sz="980" dirty="0"/>
          </a:p>
        </p:txBody>
      </p:sp>
      <p:sp>
        <p:nvSpPr>
          <p:cNvPr id="37" name="Text 35"/>
          <p:cNvSpPr/>
          <p:nvPr/>
        </p:nvSpPr>
        <p:spPr>
          <a:xfrm>
            <a:off x="6693408" y="5193792"/>
            <a:ext cx="5212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4B8EF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utils/permissions/</a:t>
            </a:r>
            <a:endParaRPr lang="en-US" sz="1020" dirty="0"/>
          </a:p>
        </p:txBody>
      </p:sp>
      <p:sp>
        <p:nvSpPr>
          <p:cNvPr id="38" name="Text 36"/>
          <p:cNvSpPr/>
          <p:nvPr/>
        </p:nvSpPr>
        <p:spPr>
          <a:xfrm>
            <a:off x="6693408" y="5422392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C4CDD8"/>
                </a:solidFill>
              </a:rPr>
              <a:t>权限系统全景</a:t>
            </a:r>
            <a:endParaRPr lang="en-US" sz="98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9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" y="274320"/>
            <a:ext cx="909828" cy="201168"/>
          </a:xfrm>
          <a:prstGeom prst="roundRect">
            <a:avLst>
              <a:gd name="adj" fmla="val 18182"/>
            </a:avLst>
          </a:prstGeom>
          <a:solidFill>
            <a:srgbClr val="1E2E4A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288036"/>
            <a:ext cx="3200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A623"/>
                </a:solidFill>
              </a:rPr>
              <a:t>总结 · 02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58368" y="54864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8EDF5"/>
                </a:solidFill>
              </a:rPr>
              <a:t>三个可以直接带走的结论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58368" y="1115568"/>
            <a:ext cx="10515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B5"/>
                </a:solidFill>
              </a:rPr>
              <a:t>这些结论由源码事实支撑，不是主观评价。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94360" y="6254496"/>
            <a:ext cx="11002975" cy="13716"/>
          </a:xfrm>
          <a:prstGeom prst="rect">
            <a:avLst/>
          </a:prstGeom>
          <a:solidFill>
            <a:srgbClr val="2A3F5F"/>
          </a:solidFill>
          <a:ln w="12700">
            <a:solidFill>
              <a:srgbClr val="2A3F5F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6309360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8A9BB5"/>
                </a:solidFill>
              </a:rPr>
              <a:t>Claude Code Sourcemap 源码解读 · 仅供研究</a:t>
            </a:r>
            <a:endParaRPr lang="en-US" sz="780" dirty="0"/>
          </a:p>
        </p:txBody>
      </p:sp>
      <p:sp>
        <p:nvSpPr>
          <p:cNvPr id="9" name="Shape 7"/>
          <p:cNvSpPr/>
          <p:nvPr/>
        </p:nvSpPr>
        <p:spPr>
          <a:xfrm>
            <a:off x="11228832" y="6364224"/>
            <a:ext cx="73152" cy="7315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98480" y="6291072"/>
            <a:ext cx="502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B0BDD0"/>
                </a:solidFill>
              </a:rPr>
              <a:t>30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621792" y="1554480"/>
            <a:ext cx="10954512" cy="1389888"/>
          </a:xfrm>
          <a:prstGeom prst="roundRect">
            <a:avLst>
              <a:gd name="adj" fmla="val 4605"/>
            </a:avLst>
          </a:prstGeom>
          <a:solidFill>
            <a:srgbClr val="162035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1554480"/>
            <a:ext cx="804672" cy="1389888"/>
          </a:xfrm>
          <a:prstGeom prst="roundRect">
            <a:avLst>
              <a:gd name="adj" fmla="val 7955"/>
            </a:avLst>
          </a:prstGeom>
          <a:solidFill>
            <a:srgbClr val="F5A623"/>
          </a:solidFill>
          <a:ln w="12700">
            <a:solidFill>
              <a:srgbClr val="F5A623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" y="2029968"/>
            <a:ext cx="804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9111F"/>
                </a:solidFill>
              </a:rPr>
              <a:t>01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572768" y="1664208"/>
            <a:ext cx="9784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5A623"/>
                </a:solidFill>
              </a:rPr>
              <a:t>它是 Terminal Agent Runtime，不是「聊天 CLI」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572768" y="1993392"/>
            <a:ext cx="969264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C4CDD8"/>
                </a:solidFill>
              </a:rPr>
              <a:t>系统中心是 QueryEngine / query.ts 构成的递归 Agent Loop，而不是终端 UI 本身。UI、Bridge、SDK 只是不同的 surface，共享同一套推理内核。4,683 行的 main.tsx 启动编排直接说明了这是平台级产品。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1792" y="3108960"/>
            <a:ext cx="10954512" cy="1389888"/>
          </a:xfrm>
          <a:prstGeom prst="roundRect">
            <a:avLst>
              <a:gd name="adj" fmla="val 4605"/>
            </a:avLst>
          </a:prstGeom>
          <a:solidFill>
            <a:srgbClr val="162035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1792" y="3108960"/>
            <a:ext cx="804672" cy="1389888"/>
          </a:xfrm>
          <a:prstGeom prst="roundRect">
            <a:avLst>
              <a:gd name="adj" fmla="val 7955"/>
            </a:avLst>
          </a:prstGeom>
          <a:solidFill>
            <a:srgbClr val="FB923C"/>
          </a:solidFill>
          <a:ln w="12700">
            <a:solidFill>
              <a:srgbClr val="FB923C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1792" y="3584448"/>
            <a:ext cx="804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9111F"/>
                </a:solidFill>
              </a:rPr>
              <a:t>02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572768" y="3218688"/>
            <a:ext cx="9784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B923C"/>
                </a:solidFill>
              </a:rPr>
              <a:t>权限系统是架构必需品，不是后期添加的防护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572768" y="3547872"/>
            <a:ext cx="969264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C4CDD8"/>
                </a:solidFill>
              </a:rPr>
              <a:t>Hook + Rules + Classifier + Mode 四层构成的权限决策树，位于工具执行的主路径上，不是可绕过的 middleware。这使它能同时服务本地开发者、企业策略和 headless 自动化场景。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1792" y="4663440"/>
            <a:ext cx="10954512" cy="1389888"/>
          </a:xfrm>
          <a:prstGeom prst="roundRect">
            <a:avLst>
              <a:gd name="adj" fmla="val 4605"/>
            </a:avLst>
          </a:prstGeom>
          <a:solidFill>
            <a:srgbClr val="162035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1792" y="4663440"/>
            <a:ext cx="804672" cy="1389888"/>
          </a:xfrm>
          <a:prstGeom prst="roundRect">
            <a:avLst>
              <a:gd name="adj" fmla="val 7955"/>
            </a:avLst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1792" y="5138928"/>
            <a:ext cx="804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9111F"/>
                </a:solidFill>
              </a:rPr>
              <a:t>03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572768" y="4773168"/>
            <a:ext cx="9784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78BFA"/>
                </a:solidFill>
              </a:rPr>
              <a:t>多 Agent 是可治理的 Actor 系统，不是并发调用模型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1572768" y="5102352"/>
            <a:ext cx="969264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C4CDD8"/>
                </a:solidFill>
              </a:rPr>
              <a:t>inProcessRunner 的 Actor 模型（mailbox + task claim + idle loop）+ 权限 bridge 机制，让子代理在不绕开任何治理的情况下真正协作。这才是「multi-agent」从概念变成工程的关键。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9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772400" cy="6858000"/>
          </a:xfrm>
          <a:prstGeom prst="rect">
            <a:avLst/>
          </a:prstGeom>
          <a:solidFill>
            <a:srgbClr val="0D1829"/>
          </a:solidFill>
          <a:ln w="12700">
            <a:solidFill>
              <a:srgbClr val="0D1829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371600"/>
            <a:ext cx="5943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5A623"/>
                </a:solidFill>
              </a:rPr>
              <a:t>Thanks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822960" y="251460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EDF5"/>
                </a:solidFill>
              </a:rPr>
              <a:t>Claude Code Sourcemap 源码解读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999232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A9BB5"/>
                </a:solidFill>
              </a:rPr>
              <a:t>基于 @anthropic-ai/claude-code v2.1.88 source map 还原分析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A9BB5"/>
                </a:solidFill>
              </a:rPr>
              <a:t>仅供研究与学习目的，版权归 Anthropic 所有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373075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A623"/>
                </a:solidFill>
              </a:rPr>
              <a:t>关键文件索引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4041648"/>
            <a:ext cx="62179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020" dirty="0">
                <a:solidFill>
                  <a:srgbClr val="C4CDD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QueryEngine.ts + query.ts → Agent Loop</a:t>
            </a:r>
            <a:endParaRPr lang="en-US" sz="102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020" dirty="0">
                <a:solidFill>
                  <a:srgbClr val="C4CDD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main.tsx → startup orchestration</a:t>
            </a:r>
            <a:endParaRPr lang="en-US" sz="102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020" dirty="0">
                <a:solidFill>
                  <a:srgbClr val="C4CDD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services/tools/toolExecution.ts → Tool Runtime</a:t>
            </a:r>
            <a:endParaRPr lang="en-US" sz="102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020" dirty="0">
                <a:solidFill>
                  <a:srgbClr val="C4CDD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tools/AgentTool/ + utils/swarm/ → Multi-Agent</a:t>
            </a:r>
            <a:endParaRPr lang="en-US" sz="102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020" dirty="0">
                <a:solidFill>
                  <a:srgbClr val="C4CDD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utils/permissions/ → Permission System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8321040" y="1645920"/>
            <a:ext cx="2743200" cy="3200400"/>
          </a:xfrm>
          <a:prstGeom prst="roundRect">
            <a:avLst>
              <a:gd name="adj" fmla="val 2667"/>
            </a:avLst>
          </a:prstGeom>
          <a:solidFill>
            <a:srgbClr val="162035"/>
          </a:solidFill>
          <a:ln w="12700">
            <a:solidFill>
              <a:srgbClr val="2A3F5F"/>
            </a:solidFill>
            <a:prstDash val="solid"/>
          </a:ln>
        </p:spPr>
      </p:sp>
      <p:pic>
        <p:nvPicPr>
          <p:cNvPr id="10" name="Image 0" descr="/Users/phodal/Downloads/claude-code-sourcemap-main/artifacts/qrcode_for_gh_2afe73fc7b4a_25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828800"/>
            <a:ext cx="2377440" cy="237744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321040" y="431596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A623"/>
                </a:solidFill>
              </a:rPr>
              <a:t>关注公众号 · 持续更新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321040" y="4608576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BB5"/>
                </a:solidFill>
              </a:rPr>
              <a:t>phodal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94360" y="6254496"/>
            <a:ext cx="11002975" cy="13716"/>
          </a:xfrm>
          <a:prstGeom prst="rect">
            <a:avLst/>
          </a:prstGeom>
          <a:solidFill>
            <a:srgbClr val="2A3F5F"/>
          </a:solidFill>
          <a:ln w="12700">
            <a:solidFill>
              <a:srgbClr val="2A3F5F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58368" y="6309360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8A9BB5"/>
                </a:solidFill>
              </a:rPr>
              <a:t>Claude Code Sourcemap 源码解读 · 仅供研究</a:t>
            </a:r>
            <a:endParaRPr lang="en-US" sz="780" dirty="0"/>
          </a:p>
        </p:txBody>
      </p:sp>
      <p:sp>
        <p:nvSpPr>
          <p:cNvPr id="15" name="Shape 12"/>
          <p:cNvSpPr/>
          <p:nvPr/>
        </p:nvSpPr>
        <p:spPr>
          <a:xfrm>
            <a:off x="11228832" y="6364224"/>
            <a:ext cx="73152" cy="7315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698480" y="6291072"/>
            <a:ext cx="502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B0BDD0"/>
                </a:solidFill>
              </a:rPr>
              <a:t>31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Analysis Report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Claude Code：从 Source Map 看一个 Terminal Agent Runtime 的内部构造</dc:title>
  <dc:subject>Claude Code Sourcemap 源码深度解读</dc:subject>
  <dc:creator>Phodal</dc:creator>
  <cp:lastModifiedBy>Phodal</cp:lastModifiedBy>
  <cp:revision>1</cp:revision>
  <dcterms:created xsi:type="dcterms:W3CDTF">2026-04-01T00:15:49Z</dcterms:created>
  <dcterms:modified xsi:type="dcterms:W3CDTF">2026-04-01T00:15:49Z</dcterms:modified>
</cp:coreProperties>
</file>